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5"/>
  </p:notesMasterIdLst>
  <p:sldIdLst>
    <p:sldId id="293" r:id="rId2"/>
    <p:sldId id="618" r:id="rId3"/>
    <p:sldId id="620" r:id="rId4"/>
    <p:sldId id="622" r:id="rId5"/>
    <p:sldId id="623" r:id="rId6"/>
    <p:sldId id="703" r:id="rId7"/>
    <p:sldId id="624" r:id="rId8"/>
    <p:sldId id="625" r:id="rId9"/>
    <p:sldId id="627" r:id="rId10"/>
    <p:sldId id="628" r:id="rId11"/>
    <p:sldId id="729" r:id="rId12"/>
    <p:sldId id="730" r:id="rId13"/>
    <p:sldId id="731" r:id="rId14"/>
    <p:sldId id="732" r:id="rId15"/>
    <p:sldId id="733" r:id="rId16"/>
    <p:sldId id="734" r:id="rId17"/>
    <p:sldId id="694" r:id="rId18"/>
    <p:sldId id="695" r:id="rId19"/>
    <p:sldId id="696" r:id="rId20"/>
    <p:sldId id="631" r:id="rId21"/>
    <p:sldId id="633" r:id="rId22"/>
    <p:sldId id="636" r:id="rId23"/>
    <p:sldId id="665" r:id="rId24"/>
    <p:sldId id="638" r:id="rId25"/>
    <p:sldId id="639" r:id="rId26"/>
    <p:sldId id="640" r:id="rId27"/>
    <p:sldId id="641" r:id="rId28"/>
    <p:sldId id="642" r:id="rId29"/>
    <p:sldId id="725" r:id="rId30"/>
    <p:sldId id="728" r:id="rId31"/>
    <p:sldId id="726" r:id="rId32"/>
    <p:sldId id="643" r:id="rId33"/>
    <p:sldId id="632" r:id="rId34"/>
    <p:sldId id="647" r:id="rId35"/>
    <p:sldId id="649" r:id="rId36"/>
    <p:sldId id="650" r:id="rId37"/>
    <p:sldId id="651" r:id="rId38"/>
    <p:sldId id="654" r:id="rId39"/>
    <p:sldId id="717" r:id="rId40"/>
    <p:sldId id="714" r:id="rId41"/>
    <p:sldId id="735" r:id="rId42"/>
    <p:sldId id="716" r:id="rId43"/>
    <p:sldId id="282" r:id="rId44"/>
  </p:sldIdLst>
  <p:sldSz cx="9144000" cy="6858000" type="screen4x3"/>
  <p:notesSz cx="7010400" cy="92964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0066"/>
    <a:srgbClr val="D60093"/>
    <a:srgbClr val="33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07A9F3C-159F-46D8-BEAA-8B748DC128E7}" v="1" dt="2026-03-05T23:14:10.69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2623" autoAdjust="0"/>
    <p:restoredTop sz="94660"/>
  </p:normalViewPr>
  <p:slideViewPr>
    <p:cSldViewPr>
      <p:cViewPr varScale="1">
        <p:scale>
          <a:sx n="48" d="100"/>
          <a:sy n="48" d="100"/>
        </p:scale>
        <p:origin x="40" y="66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50" Type="http://schemas.microsoft.com/office/2016/11/relationships/changesInfo" Target="changesInfos/changesInfo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microsoft.com/office/2015/10/relationships/revisionInfo" Target="revisionInfo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izethe Pérez Fuertes" userId="4ae9ef87-2a7d-42f8-8dfa-0a501a9e2ff4" providerId="ADAL" clId="{FDDD45CB-1330-4033-A842-3D2746AFF7C7}"/>
    <pc:docChg chg="modSld modNotesMaster">
      <pc:chgData name="Lizethe Pérez Fuertes" userId="4ae9ef87-2a7d-42f8-8dfa-0a501a9e2ff4" providerId="ADAL" clId="{FDDD45CB-1330-4033-A842-3D2746AFF7C7}" dt="2026-03-06T00:00:35.730" v="20" actId="1036"/>
      <pc:docMkLst>
        <pc:docMk/>
      </pc:docMkLst>
      <pc:sldChg chg="modSp mod">
        <pc:chgData name="Lizethe Pérez Fuertes" userId="4ae9ef87-2a7d-42f8-8dfa-0a501a9e2ff4" providerId="ADAL" clId="{FDDD45CB-1330-4033-A842-3D2746AFF7C7}" dt="2026-03-06T00:00:35.730" v="20" actId="1036"/>
        <pc:sldMkLst>
          <pc:docMk/>
          <pc:sldMk cId="1451682629" sldId="624"/>
        </pc:sldMkLst>
        <pc:picChg chg="mod">
          <ac:chgData name="Lizethe Pérez Fuertes" userId="4ae9ef87-2a7d-42f8-8dfa-0a501a9e2ff4" providerId="ADAL" clId="{FDDD45CB-1330-4033-A842-3D2746AFF7C7}" dt="2026-03-06T00:00:35.730" v="20" actId="1036"/>
          <ac:picMkLst>
            <pc:docMk/>
            <pc:sldMk cId="1451682629" sldId="624"/>
            <ac:picMk id="3" creationId="{DCE94D24-C568-47E6-B6AA-854690DA14B5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s-MX" dirty="0"/>
          </a:p>
        </p:txBody>
      </p:sp>
      <p:sp>
        <p:nvSpPr>
          <p:cNvPr id="3" name="2 Marcador de fecha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DDE721D5-655F-45D2-B717-3C4CD78C8568}" type="datetimeFigureOut">
              <a:rPr lang="es-MX" smtClean="0"/>
              <a:t>05/03/2026</a:t>
            </a:fld>
            <a:endParaRPr lang="es-MX" dirty="0"/>
          </a:p>
        </p:txBody>
      </p:sp>
      <p:sp>
        <p:nvSpPr>
          <p:cNvPr id="4" name="3 Marcador de imagen de diapositiva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es-MX" dirty="0"/>
          </a:p>
        </p:txBody>
      </p:sp>
      <p:sp>
        <p:nvSpPr>
          <p:cNvPr id="5" name="4 Marcador de notas"/>
          <p:cNvSpPr>
            <a:spLocks noGrp="1"/>
          </p:cNvSpPr>
          <p:nvPr>
            <p:ph type="body" sz="quarter" idx="3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vert="horz" lIns="93177" tIns="46589" rIns="93177" bIns="46589" rtlCol="0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s-MX" dirty="0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5"/>
          </p:nvPr>
        </p:nvSpPr>
        <p:spPr>
          <a:xfrm>
            <a:off x="3970938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6BAB4312-99A1-4CE9-ACE7-4C62E9FD90EE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0059651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AB4312-99A1-4CE9-ACE7-4C62E9FD90EE}" type="slidenum">
              <a:rPr lang="es-MX" smtClean="0"/>
              <a:t>2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26118034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AB4312-99A1-4CE9-ACE7-4C62E9FD90EE}" type="slidenum">
              <a:rPr lang="es-MX" smtClean="0"/>
              <a:t>3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98306768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AB4312-99A1-4CE9-ACE7-4C62E9FD90EE}" type="slidenum">
              <a:rPr lang="es-MX" smtClean="0"/>
              <a:t>4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74436723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AB4312-99A1-4CE9-ACE7-4C62E9FD90EE}" type="slidenum">
              <a:rPr lang="es-MX" smtClean="0"/>
              <a:t>5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411898439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AB4312-99A1-4CE9-ACE7-4C62E9FD90EE}" type="slidenum">
              <a:rPr lang="es-MX" smtClean="0"/>
              <a:t>6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40961426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AB4312-99A1-4CE9-ACE7-4C62E9FD90EE}" type="slidenum">
              <a:rPr lang="es-MX" smtClean="0"/>
              <a:t>7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31452032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AB4312-99A1-4CE9-ACE7-4C62E9FD90EE}" type="slidenum">
              <a:rPr lang="es-MX" smtClean="0"/>
              <a:t>8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06449596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AB4312-99A1-4CE9-ACE7-4C62E9FD90EE}" type="slidenum">
              <a:rPr lang="es-MX" smtClean="0"/>
              <a:t>9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42824252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AB4312-99A1-4CE9-ACE7-4C62E9FD90EE}" type="slidenum">
              <a:rPr lang="es-MX" smtClean="0"/>
              <a:t>10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7764353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AB4312-99A1-4CE9-ACE7-4C62E9FD90EE}" type="slidenum">
              <a:rPr lang="es-MX" smtClean="0"/>
              <a:t>11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19237670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AB4312-99A1-4CE9-ACE7-4C62E9FD90EE}" type="slidenum">
              <a:rPr lang="es-MX" smtClean="0"/>
              <a:t>12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67520018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AB4312-99A1-4CE9-ACE7-4C62E9FD90EE}" type="slidenum">
              <a:rPr lang="es-MX" smtClean="0"/>
              <a:t>13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72152746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AB4312-99A1-4CE9-ACE7-4C62E9FD90EE}" type="slidenum">
              <a:rPr lang="es-MX" smtClean="0"/>
              <a:t>14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61751966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AB4312-99A1-4CE9-ACE7-4C62E9FD90EE}" type="slidenum">
              <a:rPr lang="es-MX" smtClean="0"/>
              <a:t>15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31352589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AB4312-99A1-4CE9-ACE7-4C62E9FD90EE}" type="slidenum">
              <a:rPr lang="es-MX" smtClean="0"/>
              <a:t>16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98242616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AB4312-99A1-4CE9-ACE7-4C62E9FD90EE}" type="slidenum">
              <a:rPr lang="es-MX" smtClean="0"/>
              <a:t>17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96084994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AB4312-99A1-4CE9-ACE7-4C62E9FD90EE}" type="slidenum">
              <a:rPr lang="es-MX" smtClean="0"/>
              <a:t>18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34492408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AB4312-99A1-4CE9-ACE7-4C62E9FD90EE}" type="slidenum">
              <a:rPr lang="es-MX" smtClean="0"/>
              <a:t>19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73339065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AB4312-99A1-4CE9-ACE7-4C62E9FD90EE}" type="slidenum">
              <a:rPr lang="es-MX" smtClean="0"/>
              <a:t>20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10866607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AB4312-99A1-4CE9-ACE7-4C62E9FD90EE}" type="slidenum">
              <a:rPr lang="es-MX" smtClean="0"/>
              <a:t>21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26415727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AB4312-99A1-4CE9-ACE7-4C62E9FD90EE}" type="slidenum">
              <a:rPr lang="es-MX" smtClean="0"/>
              <a:t>22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84893371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AB4312-99A1-4CE9-ACE7-4C62E9FD90EE}" type="slidenum">
              <a:rPr lang="es-MX" smtClean="0"/>
              <a:t>23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14911145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AB4312-99A1-4CE9-ACE7-4C62E9FD90EE}" type="slidenum">
              <a:rPr lang="es-MX" smtClean="0"/>
              <a:t>24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96177584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AB4312-99A1-4CE9-ACE7-4C62E9FD90EE}" type="slidenum">
              <a:rPr lang="es-MX" smtClean="0"/>
              <a:t>25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06640134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AB4312-99A1-4CE9-ACE7-4C62E9FD90EE}" type="slidenum">
              <a:rPr lang="es-MX" smtClean="0"/>
              <a:t>26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23400011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AB4312-99A1-4CE9-ACE7-4C62E9FD90EE}" type="slidenum">
              <a:rPr lang="es-MX" smtClean="0"/>
              <a:t>27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31937998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AB4312-99A1-4CE9-ACE7-4C62E9FD90EE}" type="slidenum">
              <a:rPr lang="es-MX" smtClean="0"/>
              <a:t>28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391905952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AB4312-99A1-4CE9-ACE7-4C62E9FD90EE}" type="slidenum">
              <a:rPr lang="es-MX" smtClean="0"/>
              <a:t>29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93052435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AB4312-99A1-4CE9-ACE7-4C62E9FD90EE}" type="slidenum">
              <a:rPr lang="es-MX" smtClean="0"/>
              <a:t>30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281202480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AB4312-99A1-4CE9-ACE7-4C62E9FD90EE}" type="slidenum">
              <a:rPr lang="es-MX" smtClean="0"/>
              <a:t>31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640752000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AB4312-99A1-4CE9-ACE7-4C62E9FD90EE}" type="slidenum">
              <a:rPr lang="es-MX" smtClean="0"/>
              <a:t>32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401995659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AB4312-99A1-4CE9-ACE7-4C62E9FD90EE}" type="slidenum">
              <a:rPr lang="es-MX" smtClean="0"/>
              <a:t>33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378240649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AB4312-99A1-4CE9-ACE7-4C62E9FD90EE}" type="slidenum">
              <a:rPr lang="es-MX" smtClean="0"/>
              <a:t>34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9740012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AB4312-99A1-4CE9-ACE7-4C62E9FD90EE}" type="slidenum">
              <a:rPr lang="es-MX" smtClean="0"/>
              <a:t>35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41931527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AB4312-99A1-4CE9-ACE7-4C62E9FD90EE}" type="slidenum">
              <a:rPr lang="es-MX" smtClean="0"/>
              <a:t>36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044791637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AB4312-99A1-4CE9-ACE7-4C62E9FD90EE}" type="slidenum">
              <a:rPr lang="es-MX" smtClean="0"/>
              <a:t>37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879985340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AB4312-99A1-4CE9-ACE7-4C62E9FD90EE}" type="slidenum">
              <a:rPr lang="es-MX" smtClean="0"/>
              <a:t>38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494011694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AB4312-99A1-4CE9-ACE7-4C62E9FD90EE}" type="slidenum">
              <a:rPr lang="es-MX" smtClean="0"/>
              <a:t>39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522272885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AB4312-99A1-4CE9-ACE7-4C62E9FD90EE}" type="slidenum">
              <a:rPr lang="es-MX" smtClean="0"/>
              <a:t>40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809932223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AB4312-99A1-4CE9-ACE7-4C62E9FD90EE}" type="slidenum">
              <a:rPr lang="es-MX" smtClean="0"/>
              <a:t>41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4144349373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AB4312-99A1-4CE9-ACE7-4C62E9FD90EE}" type="slidenum">
              <a:rPr lang="es-MX" smtClean="0"/>
              <a:t>42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7664258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s-MX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F3E716-CACC-4490-AD07-F24B6A68DE47}" type="datetimeFigureOut">
              <a:rPr lang="es-MX" smtClean="0"/>
              <a:t>05/03/2026</a:t>
            </a:fld>
            <a:endParaRPr lang="es-MX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A58D3C-5A37-463D-B2C9-8DF65AE0B01C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4216482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F3E716-CACC-4490-AD07-F24B6A68DE47}" type="datetimeFigureOut">
              <a:rPr lang="es-MX" smtClean="0"/>
              <a:t>05/03/2026</a:t>
            </a:fld>
            <a:endParaRPr lang="es-MX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A58D3C-5A37-463D-B2C9-8DF65AE0B01C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3018036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F3E716-CACC-4490-AD07-F24B6A68DE47}" type="datetimeFigureOut">
              <a:rPr lang="es-MX" smtClean="0"/>
              <a:t>05/03/2026</a:t>
            </a:fld>
            <a:endParaRPr lang="es-MX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A58D3C-5A37-463D-B2C9-8DF65AE0B01C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6557173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F3E716-CACC-4490-AD07-F24B6A68DE47}" type="datetimeFigureOut">
              <a:rPr lang="es-MX" smtClean="0"/>
              <a:t>05/03/2026</a:t>
            </a:fld>
            <a:endParaRPr lang="es-MX" dirty="0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A58D3C-5A37-463D-B2C9-8DF65AE0B01C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2535463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F3E716-CACC-4490-AD07-F24B6A68DE47}" type="datetimeFigureOut">
              <a:rPr lang="es-MX" smtClean="0"/>
              <a:t>05/03/2026</a:t>
            </a:fld>
            <a:endParaRPr lang="es-MX" dirty="0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A58D3C-5A37-463D-B2C9-8DF65AE0B01C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587212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F3E716-CACC-4490-AD07-F24B6A68DE47}" type="datetimeFigureOut">
              <a:rPr lang="es-MX" smtClean="0"/>
              <a:t>05/03/2026</a:t>
            </a:fld>
            <a:endParaRPr lang="es-MX" dirty="0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A58D3C-5A37-463D-B2C9-8DF65AE0B01C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42012382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F3E716-CACC-4490-AD07-F24B6A68DE47}" type="datetimeFigureOut">
              <a:rPr lang="es-MX" smtClean="0"/>
              <a:t>05/03/2026</a:t>
            </a:fld>
            <a:endParaRPr lang="es-MX" dirty="0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A58D3C-5A37-463D-B2C9-8DF65AE0B01C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7472278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F3E716-CACC-4490-AD07-F24B6A68DE47}" type="datetimeFigureOut">
              <a:rPr lang="es-MX" smtClean="0"/>
              <a:t>05/03/2026</a:t>
            </a:fld>
            <a:endParaRPr lang="es-MX" dirty="0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A58D3C-5A37-463D-B2C9-8DF65AE0B01C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487922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 dirty="0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F3E716-CACC-4490-AD07-F24B6A68DE47}" type="datetimeFigureOut">
              <a:rPr lang="es-MX" smtClean="0"/>
              <a:t>05/03/2026</a:t>
            </a:fld>
            <a:endParaRPr lang="es-MX" dirty="0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A58D3C-5A37-463D-B2C9-8DF65AE0B01C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2416429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F3E716-CACC-4490-AD07-F24B6A68DE47}" type="datetimeFigureOut">
              <a:rPr lang="es-MX" smtClean="0"/>
              <a:t>05/03/2026</a:t>
            </a:fld>
            <a:endParaRPr lang="es-MX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A58D3C-5A37-463D-B2C9-8DF65AE0B01C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7509516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F3E716-CACC-4490-AD07-F24B6A68DE47}" type="datetimeFigureOut">
              <a:rPr lang="es-MX" smtClean="0"/>
              <a:t>05/03/2026</a:t>
            </a:fld>
            <a:endParaRPr lang="es-MX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A58D3C-5A37-463D-B2C9-8DF65AE0B01C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47427854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/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3/5/2026</a:t>
            </a:fld>
            <a:endParaRPr lang="en-US" dirty="0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/>
          <a:p>
            <a:pPr marL="25400"/>
            <a:fld id="{81D60167-4931-47E6-BA6A-407CBD079E47}" type="slidenum">
              <a:rPr lang="es-MX" spc="-10" smtClean="0">
                <a:solidFill>
                  <a:srgbClr val="18BAD4"/>
                </a:solidFill>
                <a:cs typeface="Calibri"/>
              </a:rPr>
              <a:pPr marL="25400"/>
              <a:t>‹Nº›</a:t>
            </a:fld>
            <a:endParaRPr lang="es-MX" dirty="0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3353158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3F3E716-CACC-4490-AD07-F24B6A68DE47}" type="datetimeFigureOut">
              <a:rPr lang="es-MX" smtClean="0"/>
              <a:t>05/03/2026</a:t>
            </a:fld>
            <a:endParaRPr lang="es-MX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MX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A58D3C-5A37-463D-B2C9-8DF65AE0B01C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2646615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regexr.com/" TargetMode="Externa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6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06630" y="404664"/>
            <a:ext cx="7669826" cy="1470025"/>
          </a:xfrm>
        </p:spPr>
        <p:txBody>
          <a:bodyPr rtlCol="0">
            <a:normAutofit fontScale="90000"/>
          </a:bodyPr>
          <a:lstStyle/>
          <a:p>
            <a:pPr algn="l" eaLnBrk="1" fontAlgn="auto" hangingPunct="1">
              <a:spcAft>
                <a:spcPts val="0"/>
              </a:spcAft>
              <a:defRPr/>
            </a:pPr>
            <a:r>
              <a:rPr lang="es-MX" sz="3200" dirty="0">
                <a:solidFill>
                  <a:schemeClr val="bg2">
                    <a:lumMod val="50000"/>
                  </a:schemeClr>
                </a:solidFill>
              </a:rPr>
              <a:t>TI 3001 C</a:t>
            </a:r>
            <a:br>
              <a:rPr lang="es-MX" sz="3200" dirty="0">
                <a:solidFill>
                  <a:schemeClr val="bg2">
                    <a:lumMod val="50000"/>
                  </a:schemeClr>
                </a:solidFill>
              </a:rPr>
            </a:br>
            <a:r>
              <a:rPr lang="es-MX" sz="3200" dirty="0">
                <a:solidFill>
                  <a:schemeClr val="bg2">
                    <a:lumMod val="50000"/>
                  </a:schemeClr>
                </a:solidFill>
              </a:rPr>
              <a:t>Analítica de datos y herramientas de inteligencia artificial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99592" y="2245323"/>
            <a:ext cx="7342584" cy="1152128"/>
          </a:xfrm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s-MX" b="1" dirty="0">
                <a:solidFill>
                  <a:schemeClr val="accent4">
                    <a:lumMod val="50000"/>
                  </a:schemeClr>
                </a:solidFill>
              </a:rPr>
              <a:t>Módulo re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s-MX" sz="2000" dirty="0">
                <a:solidFill>
                  <a:schemeClr val="accent4">
                    <a:lumMod val="50000"/>
                  </a:schemeClr>
                </a:solidFill>
              </a:rPr>
              <a:t>Tecnológico de Monterrey</a:t>
            </a:r>
          </a:p>
        </p:txBody>
      </p:sp>
      <p:pic>
        <p:nvPicPr>
          <p:cNvPr id="6" name="Imagen 5" descr="Un reloj con números romanos&#10;&#10;Descripción generada automáticamente con confianza media">
            <a:extLst>
              <a:ext uri="{FF2B5EF4-FFF2-40B4-BE49-F238E27FC236}">
                <a16:creationId xmlns:a16="http://schemas.microsoft.com/office/drawing/2014/main" id="{A13954DE-EEDD-4C44-9D3B-6C3A81F2EBF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55776" y="3501008"/>
            <a:ext cx="4320480" cy="21308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27823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4" name="Rectangle 4"/>
          <p:cNvSpPr>
            <a:spLocks noGrp="1" noChangeArrowheads="1"/>
          </p:cNvSpPr>
          <p:nvPr>
            <p:ph type="title"/>
          </p:nvPr>
        </p:nvSpPr>
        <p:spPr>
          <a:xfrm>
            <a:off x="107504" y="116632"/>
            <a:ext cx="8579296" cy="1143000"/>
          </a:xfrm>
        </p:spPr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es-MX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¿Cómo usar las expresiones regulares?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28D7FAFF-9722-4D6A-9DE5-55FC738D0886}"/>
              </a:ext>
            </a:extLst>
          </p:cNvPr>
          <p:cNvSpPr txBox="1"/>
          <p:nvPr/>
        </p:nvSpPr>
        <p:spPr>
          <a:xfrm>
            <a:off x="457200" y="1259632"/>
            <a:ext cx="7920880" cy="14296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s-ES" sz="20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En la librería estándar de Python podemos encontrar el </a:t>
            </a:r>
            <a:r>
              <a:rPr lang="es-ES" sz="2000" b="1" i="0" dirty="0">
                <a:solidFill>
                  <a:schemeClr val="accent6">
                    <a:lumMod val="75000"/>
                  </a:schemeClr>
                </a:solidFill>
                <a:effectLst/>
              </a:rPr>
              <a:t>módulo re</a:t>
            </a:r>
            <a:r>
              <a:rPr lang="es-ES" sz="20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, el cual nos proporciona todas las operaciones necesarias para trabajar con las expresiones regulares.</a:t>
            </a:r>
            <a:endParaRPr lang="es-ES" sz="20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4FBE0C90-A4D8-4BF1-86E2-A6A27C599BB8}"/>
              </a:ext>
            </a:extLst>
          </p:cNvPr>
          <p:cNvSpPr txBox="1"/>
          <p:nvPr/>
        </p:nvSpPr>
        <p:spPr>
          <a:xfrm>
            <a:off x="457200" y="2938046"/>
            <a:ext cx="7920880" cy="5062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es-ES" sz="20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Importar el módulo </a:t>
            </a:r>
            <a:r>
              <a:rPr lang="es-ES" sz="2000" b="1" i="0" dirty="0">
                <a:solidFill>
                  <a:schemeClr val="accent6">
                    <a:lumMod val="75000"/>
                  </a:schemeClr>
                </a:solidFill>
                <a:effectLst/>
              </a:rPr>
              <a:t>re</a:t>
            </a:r>
            <a:r>
              <a:rPr lang="es-ES" sz="20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 de Python. </a:t>
            </a:r>
            <a:endParaRPr lang="es-ES" sz="20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B33454E1-90EC-4F45-AE1E-17EDEF9AAC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0040" y="3705201"/>
            <a:ext cx="4705350" cy="571500"/>
          </a:xfrm>
          <a:prstGeom prst="rect">
            <a:avLst/>
          </a:prstGeom>
        </p:spPr>
      </p:pic>
      <p:pic>
        <p:nvPicPr>
          <p:cNvPr id="7" name="Imagen 6" descr="Texto&#10;&#10;Descripción generada automáticamente con confianza media">
            <a:extLst>
              <a:ext uri="{FF2B5EF4-FFF2-40B4-BE49-F238E27FC236}">
                <a16:creationId xmlns:a16="http://schemas.microsoft.com/office/drawing/2014/main" id="{73FD6CF4-390B-4637-8C5E-9FBB8E28F20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75482" y="4276701"/>
            <a:ext cx="4508478" cy="18033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85789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4" name="Rectangle 4"/>
          <p:cNvSpPr>
            <a:spLocks noGrp="1" noChangeArrowheads="1"/>
          </p:cNvSpPr>
          <p:nvPr>
            <p:ph type="title"/>
          </p:nvPr>
        </p:nvSpPr>
        <p:spPr>
          <a:xfrm>
            <a:off x="282352" y="-17738"/>
            <a:ext cx="8579296" cy="1143000"/>
          </a:xfrm>
        </p:spPr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es-MX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¿Cómo usar las expresiones regulares?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28D7FAFF-9722-4D6A-9DE5-55FC738D0886}"/>
              </a:ext>
            </a:extLst>
          </p:cNvPr>
          <p:cNvSpPr txBox="1"/>
          <p:nvPr/>
        </p:nvSpPr>
        <p:spPr>
          <a:xfrm>
            <a:off x="423664" y="1643589"/>
            <a:ext cx="7920880" cy="5062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es-ES" sz="20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Algunos métodos para usar el módulo</a:t>
            </a:r>
            <a:r>
              <a:rPr lang="es-ES" sz="2000" i="0" dirty="0">
                <a:solidFill>
                  <a:srgbClr val="FF0000"/>
                </a:solidFill>
                <a:effectLst/>
              </a:rPr>
              <a:t> </a:t>
            </a:r>
            <a:r>
              <a:rPr lang="es-ES" sz="2000" b="1" i="0" dirty="0">
                <a:solidFill>
                  <a:srgbClr val="FF0000"/>
                </a:solidFill>
                <a:effectLst/>
              </a:rPr>
              <a:t>re </a:t>
            </a:r>
            <a:r>
              <a:rPr lang="es-ES" sz="20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de Python: </a:t>
            </a:r>
            <a:endParaRPr lang="es-ES" sz="20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0CE5AA9D-354E-4C31-88A9-A48B5A9BA280}"/>
              </a:ext>
            </a:extLst>
          </p:cNvPr>
          <p:cNvSpPr txBox="1"/>
          <p:nvPr/>
        </p:nvSpPr>
        <p:spPr>
          <a:xfrm>
            <a:off x="423664" y="2267744"/>
            <a:ext cx="7920880" cy="23044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 fontAlgn="base">
              <a:lnSpc>
                <a:spcPts val="25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s-ES" b="1" i="0" dirty="0">
                <a:solidFill>
                  <a:schemeClr val="accent6">
                    <a:lumMod val="75000"/>
                  </a:schemeClr>
                </a:solidFill>
                <a:effectLst/>
                <a:latin typeface="inherit"/>
              </a:rPr>
              <a:t>match()</a:t>
            </a:r>
            <a:r>
              <a:rPr lang="es-ES" b="0" i="0" dirty="0">
                <a:solidFill>
                  <a:schemeClr val="accent6">
                    <a:lumMod val="75000"/>
                  </a:schemeClr>
                </a:solidFill>
                <a:effectLst/>
                <a:latin typeface="inherit"/>
              </a:rPr>
              <a:t>: </a:t>
            </a:r>
            <a:r>
              <a:rPr lang="es-ES" b="0" i="0" dirty="0">
                <a:solidFill>
                  <a:srgbClr val="000000"/>
                </a:solidFill>
                <a:effectLst/>
                <a:latin typeface="inherit"/>
              </a:rPr>
              <a:t>Determina si la expresión regular tiene coincidencias en el comienzo del texto.</a:t>
            </a:r>
          </a:p>
          <a:p>
            <a:pPr marL="285750" indent="-285750" algn="just" fontAlgn="base">
              <a:lnSpc>
                <a:spcPts val="25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s-ES" b="1" i="0" dirty="0" err="1">
                <a:solidFill>
                  <a:schemeClr val="accent6">
                    <a:lumMod val="75000"/>
                  </a:schemeClr>
                </a:solidFill>
                <a:effectLst/>
                <a:latin typeface="inherit"/>
              </a:rPr>
              <a:t>search</a:t>
            </a:r>
            <a:r>
              <a:rPr lang="es-ES" b="1" i="0" dirty="0">
                <a:solidFill>
                  <a:schemeClr val="accent6">
                    <a:lumMod val="75000"/>
                  </a:schemeClr>
                </a:solidFill>
                <a:effectLst/>
                <a:latin typeface="inherit"/>
              </a:rPr>
              <a:t>()</a:t>
            </a:r>
            <a:r>
              <a:rPr lang="es-ES" b="0" i="0" dirty="0">
                <a:solidFill>
                  <a:schemeClr val="accent6">
                    <a:lumMod val="75000"/>
                  </a:schemeClr>
                </a:solidFill>
                <a:effectLst/>
                <a:latin typeface="inherit"/>
              </a:rPr>
              <a:t>: </a:t>
            </a:r>
            <a:r>
              <a:rPr lang="es-ES" b="0" i="0" dirty="0">
                <a:solidFill>
                  <a:srgbClr val="000000"/>
                </a:solidFill>
                <a:effectLst/>
                <a:latin typeface="inherit"/>
              </a:rPr>
              <a:t>Escanea todo el texto buscando cualquier ubicación donde coincida la expresión regular. Devuelve un objeto </a:t>
            </a:r>
            <a:r>
              <a:rPr lang="es-ES" dirty="0">
                <a:solidFill>
                  <a:srgbClr val="000000"/>
                </a:solidFill>
                <a:latin typeface="inherit"/>
              </a:rPr>
              <a:t>M</a:t>
            </a:r>
            <a:r>
              <a:rPr lang="es-ES" b="0" i="0" dirty="0">
                <a:solidFill>
                  <a:srgbClr val="000000"/>
                </a:solidFill>
                <a:effectLst/>
                <a:latin typeface="inherit"/>
              </a:rPr>
              <a:t>atch.</a:t>
            </a:r>
          </a:p>
          <a:p>
            <a:pPr marL="285750" indent="-285750" algn="just" fontAlgn="base">
              <a:lnSpc>
                <a:spcPts val="25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s-ES" b="1" i="0" dirty="0" err="1">
                <a:solidFill>
                  <a:schemeClr val="accent6">
                    <a:lumMod val="75000"/>
                  </a:schemeClr>
                </a:solidFill>
                <a:effectLst/>
                <a:latin typeface="inherit"/>
              </a:rPr>
              <a:t>findall</a:t>
            </a:r>
            <a:r>
              <a:rPr lang="es-ES" b="1" i="0" dirty="0">
                <a:solidFill>
                  <a:schemeClr val="accent6">
                    <a:lumMod val="75000"/>
                  </a:schemeClr>
                </a:solidFill>
                <a:effectLst/>
                <a:latin typeface="inherit"/>
              </a:rPr>
              <a:t>()</a:t>
            </a:r>
            <a:r>
              <a:rPr lang="es-ES" b="0" i="0" dirty="0">
                <a:solidFill>
                  <a:schemeClr val="accent6">
                    <a:lumMod val="75000"/>
                  </a:schemeClr>
                </a:solidFill>
                <a:effectLst/>
                <a:latin typeface="inherit"/>
              </a:rPr>
              <a:t>: </a:t>
            </a:r>
            <a:r>
              <a:rPr lang="es-ES" b="0" i="0" dirty="0">
                <a:solidFill>
                  <a:srgbClr val="000000"/>
                </a:solidFill>
                <a:effectLst/>
                <a:latin typeface="inherit"/>
              </a:rPr>
              <a:t>Encuentra todos los subtextos donde coincide </a:t>
            </a:r>
            <a:r>
              <a:rPr lang="es-ES" dirty="0">
                <a:solidFill>
                  <a:srgbClr val="000000"/>
                </a:solidFill>
                <a:latin typeface="inherit"/>
              </a:rPr>
              <a:t>la expresión regular y </a:t>
            </a:r>
            <a:r>
              <a:rPr lang="es-ES" b="0" i="0" dirty="0">
                <a:solidFill>
                  <a:srgbClr val="000000"/>
                </a:solidFill>
                <a:effectLst/>
                <a:latin typeface="inherit"/>
              </a:rPr>
              <a:t> devuelve estas coincidencias como una lista.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E64D28A7-B772-479A-8C51-15D9FA37942C}"/>
              </a:ext>
            </a:extLst>
          </p:cNvPr>
          <p:cNvSpPr txBox="1"/>
          <p:nvPr/>
        </p:nvSpPr>
        <p:spPr>
          <a:xfrm>
            <a:off x="639687" y="4869160"/>
            <a:ext cx="7704857" cy="8333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ts val="3000"/>
              </a:lnSpc>
            </a:pPr>
            <a:r>
              <a:rPr lang="es-ES" sz="20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Todos estos métodos reciben dos parámetros: la </a:t>
            </a:r>
            <a:r>
              <a:rPr lang="es-ES" sz="2000" b="1" i="0" dirty="0">
                <a:solidFill>
                  <a:srgbClr val="FF0000"/>
                </a:solidFill>
                <a:effectLst/>
              </a:rPr>
              <a:t>expresión a evaluar </a:t>
            </a:r>
            <a:r>
              <a:rPr lang="es-ES" sz="20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y el </a:t>
            </a:r>
            <a:r>
              <a:rPr lang="es-ES" sz="2000" b="1" dirty="0">
                <a:solidFill>
                  <a:srgbClr val="FF0000"/>
                </a:solidFill>
              </a:rPr>
              <a:t>texto</a:t>
            </a:r>
            <a:r>
              <a:rPr lang="es-ES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.</a:t>
            </a:r>
            <a:endParaRPr lang="es-ES" sz="20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D615B10D-C612-427D-B4F2-796382C7C728}"/>
              </a:ext>
            </a:extLst>
          </p:cNvPr>
          <p:cNvSpPr txBox="1"/>
          <p:nvPr/>
        </p:nvSpPr>
        <p:spPr>
          <a:xfrm>
            <a:off x="641181" y="827801"/>
            <a:ext cx="7920880" cy="5062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s-ES" sz="2000" b="1" i="0" dirty="0">
                <a:solidFill>
                  <a:schemeClr val="accent6">
                    <a:lumMod val="75000"/>
                  </a:schemeClr>
                </a:solidFill>
                <a:effectLst/>
              </a:rPr>
              <a:t>Buscando coincidencias</a:t>
            </a:r>
            <a:endParaRPr lang="es-ES" sz="2000" b="1" dirty="0">
              <a:solidFill>
                <a:schemeClr val="accent6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586390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4" name="Rectangle 4"/>
          <p:cNvSpPr>
            <a:spLocks noGrp="1" noChangeArrowheads="1"/>
          </p:cNvSpPr>
          <p:nvPr>
            <p:ph type="title"/>
          </p:nvPr>
        </p:nvSpPr>
        <p:spPr>
          <a:xfrm>
            <a:off x="241176" y="-27384"/>
            <a:ext cx="8579296" cy="114300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s-MX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Método </a:t>
            </a:r>
            <a:r>
              <a:rPr lang="es-MX" b="1" dirty="0" err="1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search</a:t>
            </a:r>
            <a:endParaRPr lang="es-MX" b="1" dirty="0">
              <a:solidFill>
                <a:schemeClr val="accent4">
                  <a:lumMod val="50000"/>
                </a:schemeClr>
              </a:solidFill>
              <a:effectLst>
                <a:outerShdw blurRad="38100" dist="38100" dir="2700000" algn="tl">
                  <a:srgbClr val="C0C0C0"/>
                </a:outerShdw>
              </a:effectLst>
              <a:latin typeface="Dom Casual" charset="0"/>
            </a:endParaRP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28D7FAFF-9722-4D6A-9DE5-55FC738D0886}"/>
              </a:ext>
            </a:extLst>
          </p:cNvPr>
          <p:cNvSpPr txBox="1"/>
          <p:nvPr/>
        </p:nvSpPr>
        <p:spPr>
          <a:xfrm>
            <a:off x="689478" y="1905146"/>
            <a:ext cx="7920880" cy="5062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es-ES" sz="2000" b="1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Ejemplo 1: </a:t>
            </a:r>
            <a:r>
              <a:rPr lang="es-ES" sz="20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Busca la palabra “Hola” en un texto.</a:t>
            </a:r>
            <a:endParaRPr lang="es-ES" sz="20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0CE5AA9D-354E-4C31-88A9-A48B5A9BA280}"/>
              </a:ext>
            </a:extLst>
          </p:cNvPr>
          <p:cNvSpPr txBox="1"/>
          <p:nvPr/>
        </p:nvSpPr>
        <p:spPr>
          <a:xfrm>
            <a:off x="467544" y="1124744"/>
            <a:ext cx="8208912" cy="7142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 fontAlgn="base">
              <a:lnSpc>
                <a:spcPts val="25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s-ES" b="1" i="0" dirty="0" err="1">
                <a:solidFill>
                  <a:schemeClr val="accent6">
                    <a:lumMod val="75000"/>
                  </a:schemeClr>
                </a:solidFill>
                <a:effectLst/>
                <a:latin typeface="inherit"/>
              </a:rPr>
              <a:t>search</a:t>
            </a:r>
            <a:r>
              <a:rPr lang="es-ES" b="1" i="0" dirty="0">
                <a:solidFill>
                  <a:schemeClr val="accent6">
                    <a:lumMod val="75000"/>
                  </a:schemeClr>
                </a:solidFill>
                <a:effectLst/>
                <a:latin typeface="inherit"/>
              </a:rPr>
              <a:t>()</a:t>
            </a:r>
            <a:r>
              <a:rPr lang="es-ES" b="0" i="0" dirty="0">
                <a:solidFill>
                  <a:schemeClr val="accent6">
                    <a:lumMod val="75000"/>
                  </a:schemeClr>
                </a:solidFill>
                <a:effectLst/>
                <a:latin typeface="inherit"/>
              </a:rPr>
              <a:t>: </a:t>
            </a:r>
            <a:r>
              <a:rPr lang="es-ES" b="0" i="0" dirty="0">
                <a:solidFill>
                  <a:srgbClr val="000000"/>
                </a:solidFill>
                <a:effectLst/>
                <a:latin typeface="inherit"/>
              </a:rPr>
              <a:t>Escanea todo el texto buscando cualquier ubicación donde coincida la expresión regular. Devuelve un objeto Match.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E64D28A7-B772-479A-8C51-15D9FA37942C}"/>
              </a:ext>
            </a:extLst>
          </p:cNvPr>
          <p:cNvSpPr txBox="1"/>
          <p:nvPr/>
        </p:nvSpPr>
        <p:spPr>
          <a:xfrm>
            <a:off x="689478" y="4652017"/>
            <a:ext cx="7952334" cy="12180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ts val="3000"/>
              </a:lnSpc>
            </a:pPr>
            <a:r>
              <a:rPr lang="es-ES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El método </a:t>
            </a:r>
            <a:r>
              <a:rPr lang="es-ES" sz="2000" b="1" dirty="0" err="1">
                <a:solidFill>
                  <a:schemeClr val="accent6">
                    <a:lumMod val="75000"/>
                  </a:schemeClr>
                </a:solidFill>
              </a:rPr>
              <a:t>search</a:t>
            </a:r>
            <a:r>
              <a:rPr lang="es-ES" sz="2000" b="1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s-ES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regresa un objeto de tipo match, el </a:t>
            </a:r>
            <a:r>
              <a:rPr lang="es-ES" sz="20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span</a:t>
            </a:r>
            <a:r>
              <a:rPr lang="es-ES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nos dice en que parte del texto se encontró la coincidencia “Hola” (0, 4), desde la posición 0 hasta una posición antes de la 4.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6842EBD1-D9C4-4663-91F3-3605F5B49F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232" y="2592516"/>
            <a:ext cx="6408712" cy="1891846"/>
          </a:xfrm>
          <a:prstGeom prst="rect">
            <a:avLst/>
          </a:prstGeom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76FC9DB1-1D4E-44EE-8254-09FCD9F2EB65}"/>
              </a:ext>
            </a:extLst>
          </p:cNvPr>
          <p:cNvSpPr txBox="1"/>
          <p:nvPr/>
        </p:nvSpPr>
        <p:spPr>
          <a:xfrm>
            <a:off x="689478" y="5860736"/>
            <a:ext cx="7952334" cy="8333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ts val="3000"/>
              </a:lnSpc>
            </a:pPr>
            <a:r>
              <a:rPr lang="es-ES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Un </a:t>
            </a:r>
            <a:r>
              <a:rPr lang="es-ES" sz="2000" b="1">
                <a:solidFill>
                  <a:srgbClr val="FF0000"/>
                </a:solidFill>
              </a:rPr>
              <a:t>objeto Match </a:t>
            </a:r>
            <a:r>
              <a:rPr lang="es-ES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es un objeto en Python que nos da información sobre la coincidencia.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B9A9AF0C-2E50-4489-A143-384134E1A9D2}"/>
              </a:ext>
            </a:extLst>
          </p:cNvPr>
          <p:cNvSpPr txBox="1"/>
          <p:nvPr/>
        </p:nvSpPr>
        <p:spPr>
          <a:xfrm>
            <a:off x="7297960" y="3301071"/>
            <a:ext cx="1522512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ES" sz="1400" dirty="0">
                <a:solidFill>
                  <a:srgbClr val="0070C0"/>
                </a:solidFill>
              </a:rPr>
              <a:t>La forma más simple de una expresión regular es una palabra</a:t>
            </a:r>
          </a:p>
        </p:txBody>
      </p:sp>
      <p:cxnSp>
        <p:nvCxnSpPr>
          <p:cNvPr id="4" name="Conector recto de flecha 3">
            <a:extLst>
              <a:ext uri="{FF2B5EF4-FFF2-40B4-BE49-F238E27FC236}">
                <a16:creationId xmlns:a16="http://schemas.microsoft.com/office/drawing/2014/main" id="{E54941F0-FAEE-4FF4-B7AC-08BCA23544E0}"/>
              </a:ext>
            </a:extLst>
          </p:cNvPr>
          <p:cNvCxnSpPr/>
          <p:nvPr/>
        </p:nvCxnSpPr>
        <p:spPr>
          <a:xfrm flipV="1">
            <a:off x="3193504" y="3307530"/>
            <a:ext cx="0" cy="4413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ector recto 5">
            <a:extLst>
              <a:ext uri="{FF2B5EF4-FFF2-40B4-BE49-F238E27FC236}">
                <a16:creationId xmlns:a16="http://schemas.microsoft.com/office/drawing/2014/main" id="{D017945F-DBCB-456C-99E8-D28D3874405E}"/>
              </a:ext>
            </a:extLst>
          </p:cNvPr>
          <p:cNvCxnSpPr>
            <a:cxnSpLocks/>
          </p:cNvCxnSpPr>
          <p:nvPr/>
        </p:nvCxnSpPr>
        <p:spPr>
          <a:xfrm flipH="1">
            <a:off x="3193504" y="3739578"/>
            <a:ext cx="410445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232803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4" name="Rectangle 4"/>
          <p:cNvSpPr>
            <a:spLocks noGrp="1" noChangeArrowheads="1"/>
          </p:cNvSpPr>
          <p:nvPr>
            <p:ph type="title"/>
          </p:nvPr>
        </p:nvSpPr>
        <p:spPr>
          <a:xfrm>
            <a:off x="107504" y="116632"/>
            <a:ext cx="8579296" cy="114300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s-MX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Método </a:t>
            </a:r>
            <a:r>
              <a:rPr lang="es-MX" b="1" dirty="0" err="1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search</a:t>
            </a:r>
            <a:endParaRPr lang="es-MX" b="1" dirty="0">
              <a:solidFill>
                <a:schemeClr val="accent4">
                  <a:lumMod val="50000"/>
                </a:schemeClr>
              </a:solidFill>
              <a:effectLst>
                <a:outerShdw blurRad="38100" dist="38100" dir="2700000" algn="tl">
                  <a:srgbClr val="C0C0C0"/>
                </a:outerShdw>
              </a:effectLst>
              <a:latin typeface="Dom Casual" charset="0"/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E64D28A7-B772-479A-8C51-15D9FA37942C}"/>
              </a:ext>
            </a:extLst>
          </p:cNvPr>
          <p:cNvSpPr txBox="1"/>
          <p:nvPr/>
        </p:nvSpPr>
        <p:spPr>
          <a:xfrm>
            <a:off x="734466" y="4568126"/>
            <a:ext cx="7952334" cy="4485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ts val="3000"/>
              </a:lnSpc>
            </a:pPr>
            <a:r>
              <a:rPr lang="es-ES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En caso de que no encuentre coincidencia, regresa </a:t>
            </a:r>
            <a:r>
              <a:rPr lang="es-ES" sz="2000" b="1" dirty="0" err="1">
                <a:solidFill>
                  <a:srgbClr val="FF0000"/>
                </a:solidFill>
              </a:rPr>
              <a:t>None</a:t>
            </a:r>
            <a:r>
              <a:rPr lang="es-ES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.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A70FE3EA-1EDD-4E4D-9D0A-A1B9314121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207" y="2160806"/>
            <a:ext cx="6811828" cy="1970935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4F99306B-5F4C-4CE5-9D39-071EAF21F009}"/>
              </a:ext>
            </a:extLst>
          </p:cNvPr>
          <p:cNvSpPr txBox="1"/>
          <p:nvPr/>
        </p:nvSpPr>
        <p:spPr>
          <a:xfrm>
            <a:off x="769959" y="1376501"/>
            <a:ext cx="741682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MX" sz="2000" b="1" dirty="0"/>
              <a:t>Ejemplo 2:</a:t>
            </a:r>
            <a:r>
              <a:rPr lang="es-MX" sz="2000" dirty="0"/>
              <a:t> Busca la palabra Adiós en un texto.</a:t>
            </a:r>
          </a:p>
        </p:txBody>
      </p:sp>
    </p:spTree>
    <p:extLst>
      <p:ext uri="{BB962C8B-B14F-4D97-AF65-F5344CB8AC3E}">
        <p14:creationId xmlns:p14="http://schemas.microsoft.com/office/powerpoint/2010/main" val="41547793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4" name="Rectangle 4"/>
          <p:cNvSpPr>
            <a:spLocks noGrp="1" noChangeArrowheads="1"/>
          </p:cNvSpPr>
          <p:nvPr>
            <p:ph type="title"/>
          </p:nvPr>
        </p:nvSpPr>
        <p:spPr>
          <a:xfrm>
            <a:off x="107504" y="116632"/>
            <a:ext cx="8579296" cy="114300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s-MX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Método </a:t>
            </a:r>
            <a:r>
              <a:rPr lang="es-MX" b="1" dirty="0" err="1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search</a:t>
            </a:r>
            <a:endParaRPr lang="es-MX" b="1" dirty="0">
              <a:solidFill>
                <a:schemeClr val="accent4">
                  <a:lumMod val="50000"/>
                </a:schemeClr>
              </a:solidFill>
              <a:effectLst>
                <a:outerShdw blurRad="38100" dist="38100" dir="2700000" algn="tl">
                  <a:srgbClr val="C0C0C0"/>
                </a:outerShdw>
              </a:effectLst>
              <a:latin typeface="Dom Casual" charset="0"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BB4379E8-C33A-4609-A614-210A31DF0E31}"/>
              </a:ext>
            </a:extLst>
          </p:cNvPr>
          <p:cNvSpPr txBox="1"/>
          <p:nvPr/>
        </p:nvSpPr>
        <p:spPr>
          <a:xfrm>
            <a:off x="834726" y="1598192"/>
            <a:ext cx="741682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MX" sz="2000" b="1" dirty="0"/>
              <a:t>Ejemplo 3:</a:t>
            </a:r>
            <a:r>
              <a:rPr lang="es-MX" sz="2000" dirty="0"/>
              <a:t> Busca la palabra Python y que la admiración se repita 1 o más veces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94C4D9E8-05C2-4AFD-88C6-5A82FF00A2FB}"/>
              </a:ext>
            </a:extLst>
          </p:cNvPr>
          <p:cNvSpPr txBox="1"/>
          <p:nvPr/>
        </p:nvSpPr>
        <p:spPr>
          <a:xfrm>
            <a:off x="938683" y="962324"/>
            <a:ext cx="7017694" cy="3936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base">
              <a:lnSpc>
                <a:spcPts val="2500"/>
              </a:lnSpc>
              <a:spcAft>
                <a:spcPts val="600"/>
              </a:spcAft>
            </a:pPr>
            <a:r>
              <a:rPr lang="es-ES" b="1" i="0" dirty="0">
                <a:solidFill>
                  <a:schemeClr val="accent6">
                    <a:lumMod val="75000"/>
                  </a:schemeClr>
                </a:solidFill>
                <a:effectLst/>
                <a:latin typeface="inherit"/>
              </a:rPr>
              <a:t>Cuantificador ( + ) Una o más veces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04C3E41A-47B6-4AB6-B5CA-C3D9BBF859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4726" y="2548082"/>
            <a:ext cx="7380312" cy="36168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68488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4" name="Rectangle 4"/>
          <p:cNvSpPr>
            <a:spLocks noGrp="1" noChangeArrowheads="1"/>
          </p:cNvSpPr>
          <p:nvPr>
            <p:ph type="title"/>
          </p:nvPr>
        </p:nvSpPr>
        <p:spPr>
          <a:xfrm>
            <a:off x="107504" y="116632"/>
            <a:ext cx="8579296" cy="114300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s-MX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Método match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28D7FAFF-9722-4D6A-9DE5-55FC738D0886}"/>
              </a:ext>
            </a:extLst>
          </p:cNvPr>
          <p:cNvSpPr txBox="1"/>
          <p:nvPr/>
        </p:nvSpPr>
        <p:spPr>
          <a:xfrm>
            <a:off x="827584" y="2352006"/>
            <a:ext cx="7920880" cy="5062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es-ES" sz="2000" b="1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Ejemplo 1:</a:t>
            </a:r>
            <a:endParaRPr lang="es-ES" sz="20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DCE94D24-C568-47E6-B6AA-854690DA14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9889" y="3172377"/>
            <a:ext cx="7308304" cy="2200839"/>
          </a:xfrm>
          <a:prstGeom prst="rect">
            <a:avLst/>
          </a:prstGeom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7152C361-34BB-4CF6-AF01-52682D2E236C}"/>
              </a:ext>
            </a:extLst>
          </p:cNvPr>
          <p:cNvSpPr txBox="1"/>
          <p:nvPr/>
        </p:nvSpPr>
        <p:spPr>
          <a:xfrm>
            <a:off x="552719" y="1405411"/>
            <a:ext cx="8038561" cy="7142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 fontAlgn="base">
              <a:lnSpc>
                <a:spcPts val="25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s-ES" b="1" i="0" dirty="0">
                <a:solidFill>
                  <a:schemeClr val="accent6">
                    <a:lumMod val="75000"/>
                  </a:schemeClr>
                </a:solidFill>
                <a:effectLst/>
                <a:latin typeface="inherit"/>
              </a:rPr>
              <a:t>match()</a:t>
            </a:r>
            <a:r>
              <a:rPr lang="es-ES" b="0" i="0" dirty="0">
                <a:solidFill>
                  <a:schemeClr val="accent6">
                    <a:lumMod val="75000"/>
                  </a:schemeClr>
                </a:solidFill>
                <a:effectLst/>
                <a:latin typeface="inherit"/>
              </a:rPr>
              <a:t>: </a:t>
            </a:r>
            <a:r>
              <a:rPr lang="es-ES" b="0" i="0" dirty="0">
                <a:solidFill>
                  <a:srgbClr val="000000"/>
                </a:solidFill>
                <a:effectLst/>
                <a:latin typeface="inherit"/>
              </a:rPr>
              <a:t>Determina si la expresión regular tiene coincidencias en el comienzo del texto.</a:t>
            </a:r>
          </a:p>
        </p:txBody>
      </p:sp>
    </p:spTree>
    <p:extLst>
      <p:ext uri="{BB962C8B-B14F-4D97-AF65-F5344CB8AC3E}">
        <p14:creationId xmlns:p14="http://schemas.microsoft.com/office/powerpoint/2010/main" val="14516826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4" name="Rectangle 4"/>
          <p:cNvSpPr>
            <a:spLocks noGrp="1" noChangeArrowheads="1"/>
          </p:cNvSpPr>
          <p:nvPr>
            <p:ph type="title"/>
          </p:nvPr>
        </p:nvSpPr>
        <p:spPr>
          <a:xfrm>
            <a:off x="107504" y="116632"/>
            <a:ext cx="8579296" cy="114300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s-MX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Método match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28D7FAFF-9722-4D6A-9DE5-55FC738D0886}"/>
              </a:ext>
            </a:extLst>
          </p:cNvPr>
          <p:cNvSpPr txBox="1"/>
          <p:nvPr/>
        </p:nvSpPr>
        <p:spPr>
          <a:xfrm>
            <a:off x="899592" y="1556792"/>
            <a:ext cx="7920880" cy="5062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es-ES" sz="2000" b="1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Ejemplo 2:</a:t>
            </a:r>
            <a:endParaRPr lang="es-ES" sz="20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48C3A1FF-DA68-4961-A672-D91F248CC0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023" y="2384884"/>
            <a:ext cx="7223953" cy="2088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54684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4" name="Rectangle 4"/>
          <p:cNvSpPr>
            <a:spLocks noGrp="1" noChangeArrowheads="1"/>
          </p:cNvSpPr>
          <p:nvPr>
            <p:ph type="title"/>
          </p:nvPr>
        </p:nvSpPr>
        <p:spPr>
          <a:xfrm>
            <a:off x="107504" y="116632"/>
            <a:ext cx="8579296" cy="114300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s-MX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Método </a:t>
            </a:r>
            <a:r>
              <a:rPr lang="es-MX" b="1" dirty="0" err="1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findall</a:t>
            </a:r>
            <a:endParaRPr lang="es-MX" b="1" dirty="0">
              <a:solidFill>
                <a:schemeClr val="accent4">
                  <a:lumMod val="50000"/>
                </a:schemeClr>
              </a:solidFill>
              <a:effectLst>
                <a:outerShdw blurRad="38100" dist="38100" dir="2700000" algn="tl">
                  <a:srgbClr val="C0C0C0"/>
                </a:outerShdw>
              </a:effectLst>
              <a:latin typeface="Dom Casual" charset="0"/>
            </a:endParaRP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28D7FAFF-9722-4D6A-9DE5-55FC738D0886}"/>
              </a:ext>
            </a:extLst>
          </p:cNvPr>
          <p:cNvSpPr txBox="1"/>
          <p:nvPr/>
        </p:nvSpPr>
        <p:spPr>
          <a:xfrm>
            <a:off x="760443" y="2279673"/>
            <a:ext cx="7920880" cy="5062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es-ES" sz="2000" b="1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Ejemplo 1:</a:t>
            </a:r>
            <a:endParaRPr lang="es-ES" sz="20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9DC2491E-C8B5-448D-B553-6F19BDF2FF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9712" y="3138954"/>
            <a:ext cx="7901611" cy="2381194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64092E1E-D361-4870-BD54-7147B2FFEC5C}"/>
              </a:ext>
            </a:extLst>
          </p:cNvPr>
          <p:cNvSpPr txBox="1"/>
          <p:nvPr/>
        </p:nvSpPr>
        <p:spPr>
          <a:xfrm>
            <a:off x="415453" y="1428632"/>
            <a:ext cx="7806545" cy="7142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 fontAlgn="base">
              <a:lnSpc>
                <a:spcPts val="25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s-ES" b="1" i="0" dirty="0" err="1">
                <a:solidFill>
                  <a:schemeClr val="accent6">
                    <a:lumMod val="75000"/>
                  </a:schemeClr>
                </a:solidFill>
                <a:effectLst/>
                <a:latin typeface="inherit"/>
              </a:rPr>
              <a:t>findall</a:t>
            </a:r>
            <a:r>
              <a:rPr lang="es-ES" b="1" i="0" dirty="0">
                <a:solidFill>
                  <a:schemeClr val="accent6">
                    <a:lumMod val="75000"/>
                  </a:schemeClr>
                </a:solidFill>
                <a:effectLst/>
                <a:latin typeface="inherit"/>
              </a:rPr>
              <a:t>()</a:t>
            </a:r>
            <a:r>
              <a:rPr lang="es-ES" b="0" i="0" dirty="0">
                <a:solidFill>
                  <a:schemeClr val="accent6">
                    <a:lumMod val="75000"/>
                  </a:schemeClr>
                </a:solidFill>
                <a:effectLst/>
                <a:latin typeface="inherit"/>
              </a:rPr>
              <a:t>: </a:t>
            </a:r>
            <a:r>
              <a:rPr lang="es-ES" b="0" i="0" dirty="0">
                <a:solidFill>
                  <a:srgbClr val="000000"/>
                </a:solidFill>
                <a:effectLst/>
                <a:latin typeface="inherit"/>
              </a:rPr>
              <a:t>Encuentra todos los subtextos donde coincide </a:t>
            </a:r>
            <a:r>
              <a:rPr lang="es-ES" dirty="0">
                <a:solidFill>
                  <a:srgbClr val="000000"/>
                </a:solidFill>
                <a:latin typeface="inherit"/>
              </a:rPr>
              <a:t>la expresión regular y </a:t>
            </a:r>
            <a:r>
              <a:rPr lang="es-ES" b="0" i="0" dirty="0">
                <a:solidFill>
                  <a:srgbClr val="000000"/>
                </a:solidFill>
                <a:effectLst/>
                <a:latin typeface="inherit"/>
              </a:rPr>
              <a:t> devuelve estas coincidencias como una lista.</a:t>
            </a:r>
          </a:p>
        </p:txBody>
      </p:sp>
    </p:spTree>
    <p:extLst>
      <p:ext uri="{BB962C8B-B14F-4D97-AF65-F5344CB8AC3E}">
        <p14:creationId xmlns:p14="http://schemas.microsoft.com/office/powerpoint/2010/main" val="34840015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4" name="Rectangle 4"/>
          <p:cNvSpPr>
            <a:spLocks noGrp="1" noChangeArrowheads="1"/>
          </p:cNvSpPr>
          <p:nvPr>
            <p:ph type="title"/>
          </p:nvPr>
        </p:nvSpPr>
        <p:spPr>
          <a:xfrm>
            <a:off x="107504" y="116632"/>
            <a:ext cx="8579296" cy="114300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s-MX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Método </a:t>
            </a:r>
            <a:r>
              <a:rPr lang="es-MX" b="1" dirty="0" err="1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findall</a:t>
            </a:r>
            <a:endParaRPr lang="es-MX" b="1" dirty="0">
              <a:solidFill>
                <a:schemeClr val="accent4">
                  <a:lumMod val="50000"/>
                </a:schemeClr>
              </a:solidFill>
              <a:effectLst>
                <a:outerShdw blurRad="38100" dist="38100" dir="2700000" algn="tl">
                  <a:srgbClr val="C0C0C0"/>
                </a:outerShdw>
              </a:effectLst>
              <a:latin typeface="Dom Casual" charset="0"/>
            </a:endParaRP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28D7FAFF-9722-4D6A-9DE5-55FC738D0886}"/>
              </a:ext>
            </a:extLst>
          </p:cNvPr>
          <p:cNvSpPr txBox="1"/>
          <p:nvPr/>
        </p:nvSpPr>
        <p:spPr>
          <a:xfrm>
            <a:off x="735088" y="1693001"/>
            <a:ext cx="7920880" cy="5062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es-ES" sz="2000" b="1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Ejemplo 2:</a:t>
            </a:r>
            <a:endParaRPr lang="es-ES" sz="20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643DF6FA-3D98-4874-A3A6-0D2CCD64D7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29" y="2420888"/>
            <a:ext cx="7981914" cy="24393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07365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4" name="Rectangle 4"/>
          <p:cNvSpPr>
            <a:spLocks noGrp="1" noChangeArrowheads="1"/>
          </p:cNvSpPr>
          <p:nvPr>
            <p:ph type="title"/>
          </p:nvPr>
        </p:nvSpPr>
        <p:spPr>
          <a:xfrm>
            <a:off x="282352" y="332656"/>
            <a:ext cx="8579296" cy="1143000"/>
          </a:xfrm>
        </p:spPr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es-MX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¿Cómo usar las expresiones regulares?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0CE5AA9D-354E-4C31-88A9-A48B5A9BA280}"/>
              </a:ext>
            </a:extLst>
          </p:cNvPr>
          <p:cNvSpPr txBox="1"/>
          <p:nvPr/>
        </p:nvSpPr>
        <p:spPr>
          <a:xfrm>
            <a:off x="831331" y="2321195"/>
            <a:ext cx="7540580" cy="18367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 fontAlgn="base">
              <a:lnSpc>
                <a:spcPts val="25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s-ES" sz="2000" b="1" dirty="0" err="1">
                <a:solidFill>
                  <a:schemeClr val="accent6">
                    <a:lumMod val="75000"/>
                  </a:schemeClr>
                </a:solidFill>
                <a:latin typeface="inherit"/>
                <a:cs typeface="Arial" panose="020B0604020202020204" pitchFamily="34" charset="0"/>
              </a:rPr>
              <a:t>split</a:t>
            </a:r>
            <a:r>
              <a:rPr lang="es-ES" sz="2000" b="1" dirty="0">
                <a:solidFill>
                  <a:schemeClr val="accent6">
                    <a:lumMod val="75000"/>
                  </a:schemeClr>
                </a:solidFill>
                <a:latin typeface="inherit"/>
                <a:cs typeface="Arial" panose="020B0604020202020204" pitchFamily="34" charset="0"/>
              </a:rPr>
              <a:t>(): </a:t>
            </a:r>
            <a:r>
              <a:rPr lang="es-ES" sz="2000" dirty="0">
                <a:solidFill>
                  <a:srgbClr val="000000"/>
                </a:solidFill>
                <a:latin typeface="inherit"/>
                <a:cs typeface="Arial" panose="020B0604020202020204" pitchFamily="34" charset="0"/>
              </a:rPr>
              <a:t>El cual divide el texto en una lista, realizando las divisiones del texto en cada lugar donde se cumple con la expresión regular.</a:t>
            </a:r>
            <a:endParaRPr lang="es-ES" sz="2000" u="sng" dirty="0">
              <a:solidFill>
                <a:srgbClr val="000000"/>
              </a:solidFill>
              <a:latin typeface="inherit"/>
              <a:cs typeface="Arial" panose="020B0604020202020204" pitchFamily="34" charset="0"/>
            </a:endParaRPr>
          </a:p>
          <a:p>
            <a:pPr marL="285750" indent="-285750" algn="just" fontAlgn="base">
              <a:lnSpc>
                <a:spcPts val="25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s-ES" sz="2000" b="1" dirty="0">
                <a:solidFill>
                  <a:schemeClr val="accent6">
                    <a:lumMod val="75000"/>
                  </a:schemeClr>
                </a:solidFill>
                <a:latin typeface="inherit"/>
                <a:cs typeface="Arial" panose="020B0604020202020204" pitchFamily="34" charset="0"/>
              </a:rPr>
              <a:t>sub(): </a:t>
            </a:r>
            <a:r>
              <a:rPr lang="es-ES" sz="2000" dirty="0">
                <a:solidFill>
                  <a:srgbClr val="000000"/>
                </a:solidFill>
                <a:latin typeface="inherit"/>
                <a:cs typeface="Arial" panose="020B0604020202020204" pitchFamily="34" charset="0"/>
              </a:rPr>
              <a:t>El cual encuentra todos los subtextos donde existe una coincidencia con la expresión regular y luego los reemplaza con un nuevo texto.</a:t>
            </a:r>
            <a:endParaRPr lang="es-ES" sz="2000" b="0" i="0" dirty="0">
              <a:solidFill>
                <a:srgbClr val="000000"/>
              </a:solidFill>
              <a:effectLst/>
              <a:latin typeface="inherit"/>
              <a:cs typeface="Arial" panose="020B0604020202020204" pitchFamily="34" charset="0"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2392B394-963B-4356-AD56-AC5F6787A3D4}"/>
              </a:ext>
            </a:extLst>
          </p:cNvPr>
          <p:cNvSpPr txBox="1"/>
          <p:nvPr/>
        </p:nvSpPr>
        <p:spPr>
          <a:xfrm>
            <a:off x="641181" y="1178195"/>
            <a:ext cx="7920880" cy="5062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s-ES" sz="2000" b="1" i="0" dirty="0">
                <a:solidFill>
                  <a:schemeClr val="accent6">
                    <a:lumMod val="75000"/>
                  </a:schemeClr>
                </a:solidFill>
                <a:effectLst/>
              </a:rPr>
              <a:t>Modificando el texto de entrada</a:t>
            </a:r>
            <a:endParaRPr lang="es-ES" sz="2000" b="1" dirty="0">
              <a:solidFill>
                <a:schemeClr val="accent6">
                  <a:lumMod val="75000"/>
                </a:schemeClr>
              </a:solidFill>
            </a:endParaRPr>
          </a:p>
        </p:txBody>
      </p:sp>
      <p:pic>
        <p:nvPicPr>
          <p:cNvPr id="5" name="Imagen 4" descr="Texto&#10;&#10;Descripción generada automáticamente con confianza media">
            <a:extLst>
              <a:ext uri="{FF2B5EF4-FFF2-40B4-BE49-F238E27FC236}">
                <a16:creationId xmlns:a16="http://schemas.microsoft.com/office/drawing/2014/main" id="{E960688C-D058-4288-BF5C-739DFB46E81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44329" y="4437112"/>
            <a:ext cx="4181448" cy="16725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937127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4" name="Rectangle 4"/>
          <p:cNvSpPr>
            <a:spLocks noGrp="1" noChangeArrowheads="1"/>
          </p:cNvSpPr>
          <p:nvPr>
            <p:ph type="title"/>
          </p:nvPr>
        </p:nvSpPr>
        <p:spPr>
          <a:xfrm>
            <a:off x="241176" y="-27384"/>
            <a:ext cx="8579296" cy="114300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s-MX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Método </a:t>
            </a:r>
            <a:r>
              <a:rPr lang="es-MX" b="1" dirty="0" err="1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split</a:t>
            </a:r>
            <a:endParaRPr lang="es-MX" b="1" dirty="0">
              <a:solidFill>
                <a:schemeClr val="accent4">
                  <a:lumMod val="50000"/>
                </a:schemeClr>
              </a:solidFill>
              <a:effectLst>
                <a:outerShdw blurRad="38100" dist="38100" dir="2700000" algn="tl">
                  <a:srgbClr val="C0C0C0"/>
                </a:outerShdw>
              </a:effectLst>
              <a:latin typeface="Dom Casual" charset="0"/>
            </a:endParaRP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28D7FAFF-9722-4D6A-9DE5-55FC738D0886}"/>
              </a:ext>
            </a:extLst>
          </p:cNvPr>
          <p:cNvSpPr txBox="1"/>
          <p:nvPr/>
        </p:nvSpPr>
        <p:spPr>
          <a:xfrm>
            <a:off x="689477" y="1905146"/>
            <a:ext cx="8259755" cy="5062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es-ES" sz="2000" b="1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Ejemplo 1: </a:t>
            </a:r>
            <a:r>
              <a:rPr lang="es-ES" sz="20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Divide el texto mientras no encuentre un carácter alfanumérico.</a:t>
            </a:r>
            <a:endParaRPr lang="es-ES" sz="20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DF66D3C9-053F-4EFB-A0F8-196F5C716363}"/>
              </a:ext>
            </a:extLst>
          </p:cNvPr>
          <p:cNvSpPr txBox="1"/>
          <p:nvPr/>
        </p:nvSpPr>
        <p:spPr>
          <a:xfrm>
            <a:off x="442122" y="1103175"/>
            <a:ext cx="8259756" cy="7142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 fontAlgn="base">
              <a:lnSpc>
                <a:spcPts val="25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s-ES" b="1" dirty="0" err="1">
                <a:solidFill>
                  <a:schemeClr val="accent6">
                    <a:lumMod val="75000"/>
                  </a:schemeClr>
                </a:solidFill>
                <a:latin typeface="inherit"/>
              </a:rPr>
              <a:t>split</a:t>
            </a:r>
            <a:r>
              <a:rPr lang="es-ES" b="1" dirty="0">
                <a:solidFill>
                  <a:schemeClr val="accent6">
                    <a:lumMod val="75000"/>
                  </a:schemeClr>
                </a:solidFill>
                <a:latin typeface="inherit"/>
              </a:rPr>
              <a:t>(): </a:t>
            </a:r>
            <a:r>
              <a:rPr lang="es-ES" dirty="0">
                <a:solidFill>
                  <a:srgbClr val="000000"/>
                </a:solidFill>
                <a:latin typeface="inherit"/>
              </a:rPr>
              <a:t>El cual divide el texto en una lista, realizando las divisiones del texto en cada lugar donde se cumple con la expresión regular.</a:t>
            </a:r>
            <a:endParaRPr lang="es-ES" b="0" i="0" dirty="0">
              <a:solidFill>
                <a:srgbClr val="000000"/>
              </a:solidFill>
              <a:effectLst/>
              <a:latin typeface="inherit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31D483A6-926B-4E64-881F-0176505B1B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8750" y="2527124"/>
            <a:ext cx="6786500" cy="38388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788818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4" name="Rectangle 4"/>
          <p:cNvSpPr>
            <a:spLocks noGrp="1" noChangeArrowheads="1"/>
          </p:cNvSpPr>
          <p:nvPr>
            <p:ph type="title"/>
          </p:nvPr>
        </p:nvSpPr>
        <p:spPr>
          <a:xfrm>
            <a:off x="241176" y="-27384"/>
            <a:ext cx="8579296" cy="114300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s-MX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Método </a:t>
            </a:r>
            <a:r>
              <a:rPr lang="es-MX" b="1" dirty="0" err="1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split</a:t>
            </a:r>
            <a:endParaRPr lang="es-MX" b="1" dirty="0">
              <a:solidFill>
                <a:schemeClr val="accent4">
                  <a:lumMod val="50000"/>
                </a:schemeClr>
              </a:solidFill>
              <a:effectLst>
                <a:outerShdw blurRad="38100" dist="38100" dir="2700000" algn="tl">
                  <a:srgbClr val="C0C0C0"/>
                </a:outerShdw>
              </a:effectLst>
              <a:latin typeface="Dom Casual" charset="0"/>
            </a:endParaRP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28D7FAFF-9722-4D6A-9DE5-55FC738D0886}"/>
              </a:ext>
            </a:extLst>
          </p:cNvPr>
          <p:cNvSpPr txBox="1"/>
          <p:nvPr/>
        </p:nvSpPr>
        <p:spPr>
          <a:xfrm>
            <a:off x="689476" y="1116562"/>
            <a:ext cx="8259755" cy="5062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es-ES" sz="2000" b="1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Ejemplo 2: </a:t>
            </a:r>
            <a:r>
              <a:rPr lang="es-ES" sz="20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Divide por línea.</a:t>
            </a:r>
            <a:endParaRPr lang="es-ES" sz="20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4A76B235-E2D1-469A-947D-F9464CBBB5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486" y="1844824"/>
            <a:ext cx="7663027" cy="42484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398500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4" name="Rectangle 4"/>
          <p:cNvSpPr>
            <a:spLocks noGrp="1" noChangeArrowheads="1"/>
          </p:cNvSpPr>
          <p:nvPr>
            <p:ph type="title"/>
          </p:nvPr>
        </p:nvSpPr>
        <p:spPr>
          <a:xfrm>
            <a:off x="241176" y="-27384"/>
            <a:ext cx="8579296" cy="114300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s-MX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Método sub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28D7FAFF-9722-4D6A-9DE5-55FC738D0886}"/>
              </a:ext>
            </a:extLst>
          </p:cNvPr>
          <p:cNvSpPr txBox="1"/>
          <p:nvPr/>
        </p:nvSpPr>
        <p:spPr>
          <a:xfrm>
            <a:off x="683568" y="2286631"/>
            <a:ext cx="2813224" cy="14296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es-ES" sz="2000" b="1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Ejemplo 1: </a:t>
            </a:r>
            <a:r>
              <a:rPr lang="es-ES" sz="20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Sustituir “Podrá” por “Puede” en el texto.</a:t>
            </a:r>
            <a:endParaRPr lang="es-ES" sz="20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7364CB32-9566-488B-91CA-5796782DA649}"/>
              </a:ext>
            </a:extLst>
          </p:cNvPr>
          <p:cNvSpPr txBox="1"/>
          <p:nvPr/>
        </p:nvSpPr>
        <p:spPr>
          <a:xfrm>
            <a:off x="400945" y="1328773"/>
            <a:ext cx="8259755" cy="7142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 fontAlgn="base">
              <a:lnSpc>
                <a:spcPts val="25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s-ES" b="1" dirty="0">
                <a:solidFill>
                  <a:schemeClr val="accent6">
                    <a:lumMod val="75000"/>
                  </a:schemeClr>
                </a:solidFill>
                <a:latin typeface="inherit"/>
              </a:rPr>
              <a:t>sub(): </a:t>
            </a:r>
            <a:r>
              <a:rPr lang="es-ES" dirty="0">
                <a:solidFill>
                  <a:srgbClr val="000000"/>
                </a:solidFill>
                <a:latin typeface="inherit"/>
              </a:rPr>
              <a:t>El cual encuentra todos los subtextos donde existe una coincidencia con la expresión regular y luego los reemplaza con un nuevo texto.</a:t>
            </a:r>
            <a:endParaRPr lang="es-ES" b="0" i="0" dirty="0">
              <a:solidFill>
                <a:srgbClr val="000000"/>
              </a:solidFill>
              <a:effectLst/>
              <a:latin typeface="inherit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812F64E0-F78B-484B-9422-F5BEB2D47A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23928" y="2256228"/>
            <a:ext cx="4205242" cy="41996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568068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4" name="Rectangle 4"/>
          <p:cNvSpPr>
            <a:spLocks noGrp="1" noChangeArrowheads="1"/>
          </p:cNvSpPr>
          <p:nvPr>
            <p:ph type="title"/>
          </p:nvPr>
        </p:nvSpPr>
        <p:spPr>
          <a:xfrm>
            <a:off x="241176" y="-27384"/>
            <a:ext cx="8579296" cy="114300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s-MX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Método sub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28D7FAFF-9722-4D6A-9DE5-55FC738D0886}"/>
              </a:ext>
            </a:extLst>
          </p:cNvPr>
          <p:cNvSpPr txBox="1"/>
          <p:nvPr/>
        </p:nvSpPr>
        <p:spPr>
          <a:xfrm>
            <a:off x="683568" y="2286631"/>
            <a:ext cx="2813224" cy="14296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es-ES" sz="2000" b="1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Ejemplo 1: </a:t>
            </a:r>
            <a:r>
              <a:rPr lang="es-ES" sz="20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Sustituir “Podrá” por “Puede” en el texto.</a:t>
            </a:r>
            <a:endParaRPr lang="es-ES" sz="20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7364CB32-9566-488B-91CA-5796782DA649}"/>
              </a:ext>
            </a:extLst>
          </p:cNvPr>
          <p:cNvSpPr txBox="1"/>
          <p:nvPr/>
        </p:nvSpPr>
        <p:spPr>
          <a:xfrm>
            <a:off x="400945" y="1328773"/>
            <a:ext cx="8259755" cy="7142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 fontAlgn="base">
              <a:lnSpc>
                <a:spcPts val="25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s-ES" b="1" dirty="0">
                <a:solidFill>
                  <a:schemeClr val="accent6">
                    <a:lumMod val="75000"/>
                  </a:schemeClr>
                </a:solidFill>
                <a:latin typeface="inherit"/>
              </a:rPr>
              <a:t>sub(): </a:t>
            </a:r>
            <a:r>
              <a:rPr lang="es-ES" dirty="0">
                <a:solidFill>
                  <a:srgbClr val="000000"/>
                </a:solidFill>
                <a:latin typeface="inherit"/>
              </a:rPr>
              <a:t>El cual encuentra todos los subtextos donde existe una coincidencia con la expresión regular y luego los reemplaza con un nuevo texto.</a:t>
            </a:r>
            <a:endParaRPr lang="es-ES" b="0" i="0" dirty="0">
              <a:solidFill>
                <a:srgbClr val="000000"/>
              </a:solidFill>
              <a:effectLst/>
              <a:latin typeface="inherit"/>
            </a:endParaRP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08B0324B-F321-4275-804E-DE20DE032A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79912" y="2492896"/>
            <a:ext cx="4248472" cy="3967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963023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4" name="Rectangle 4"/>
          <p:cNvSpPr>
            <a:spLocks noGrp="1" noChangeArrowheads="1"/>
          </p:cNvSpPr>
          <p:nvPr>
            <p:ph type="title"/>
          </p:nvPr>
        </p:nvSpPr>
        <p:spPr>
          <a:xfrm>
            <a:off x="241176" y="-27384"/>
            <a:ext cx="8579296" cy="114300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s-MX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Método sub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28D7FAFF-9722-4D6A-9DE5-55FC738D0886}"/>
              </a:ext>
            </a:extLst>
          </p:cNvPr>
          <p:cNvSpPr txBox="1"/>
          <p:nvPr/>
        </p:nvSpPr>
        <p:spPr>
          <a:xfrm>
            <a:off x="683568" y="1557497"/>
            <a:ext cx="7560840" cy="5062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es-ES" sz="2000" b="1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Ejemplo 2: </a:t>
            </a:r>
            <a:r>
              <a:rPr lang="es-ES" sz="20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Convertir un número (442)-223-78-90 por 4422237890.</a:t>
            </a:r>
            <a:endParaRPr lang="es-ES" sz="20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E02D4951-7D82-4326-A909-ADAEFEF0F4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9092" y="2505670"/>
            <a:ext cx="4925815" cy="30243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982497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4" name="Rectangle 4"/>
          <p:cNvSpPr>
            <a:spLocks noGrp="1" noChangeArrowheads="1"/>
          </p:cNvSpPr>
          <p:nvPr>
            <p:ph type="title"/>
          </p:nvPr>
        </p:nvSpPr>
        <p:spPr>
          <a:xfrm>
            <a:off x="444854" y="0"/>
            <a:ext cx="8229600" cy="114300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s-MX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Método re y expresiones regulares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28D7FAFF-9722-4D6A-9DE5-55FC738D0886}"/>
              </a:ext>
            </a:extLst>
          </p:cNvPr>
          <p:cNvSpPr txBox="1"/>
          <p:nvPr/>
        </p:nvSpPr>
        <p:spPr>
          <a:xfrm>
            <a:off x="469546" y="1111789"/>
            <a:ext cx="8204908" cy="11621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1600" b="0" dirty="0">
                <a:solidFill>
                  <a:schemeClr val="tx1">
                    <a:lumMod val="95000"/>
                    <a:lumOff val="5000"/>
                  </a:schemeClr>
                </a:solidFill>
              </a:rPr>
              <a:t>A la izquierda tenemos un texto en</a:t>
            </a:r>
            <a:r>
              <a:rPr lang="es-ES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el cual vamos a identificar expresiones regulares.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16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A la derecha tenemos una lista </a:t>
            </a:r>
            <a:r>
              <a:rPr lang="es-ES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de caracteres especiales y diferentes caracteres usados en expresiones regulares.</a:t>
            </a:r>
            <a:endParaRPr lang="es-ES" sz="1600" b="0" i="0" dirty="0">
              <a:solidFill>
                <a:schemeClr val="tx1">
                  <a:lumMod val="95000"/>
                  <a:lumOff val="5000"/>
                </a:schemeClr>
              </a:solidFill>
              <a:effectLst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AF921F72-D718-4DAA-9B7A-848F49AF21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4854" y="2308904"/>
            <a:ext cx="8168897" cy="42991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637354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4" name="Rectangle 4"/>
          <p:cNvSpPr>
            <a:spLocks noGrp="1" noChangeArrowheads="1"/>
          </p:cNvSpPr>
          <p:nvPr>
            <p:ph type="title"/>
          </p:nvPr>
        </p:nvSpPr>
        <p:spPr>
          <a:xfrm>
            <a:off x="444854" y="0"/>
            <a:ext cx="8229600" cy="114300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s-MX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Expresiones regulares: \d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28D7FAFF-9722-4D6A-9DE5-55FC738D0886}"/>
              </a:ext>
            </a:extLst>
          </p:cNvPr>
          <p:cNvSpPr txBox="1"/>
          <p:nvPr/>
        </p:nvSpPr>
        <p:spPr>
          <a:xfrm>
            <a:off x="887246" y="1268760"/>
            <a:ext cx="7344816" cy="11621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s-ES" sz="16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Ejemplo: </a:t>
            </a:r>
            <a:r>
              <a:rPr lang="es-ES" sz="1600" b="0" dirty="0">
                <a:solidFill>
                  <a:schemeClr val="tx1">
                    <a:lumMod val="95000"/>
                    <a:lumOff val="5000"/>
                  </a:schemeClr>
                </a:solidFill>
              </a:rPr>
              <a:t>Busca el primer dígito en el texto. </a:t>
            </a:r>
          </a:p>
          <a:p>
            <a:pPr algn="just">
              <a:lnSpc>
                <a:spcPct val="150000"/>
              </a:lnSpc>
            </a:pPr>
            <a:r>
              <a:rPr lang="es-ES" sz="16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         </a:t>
            </a:r>
            <a:r>
              <a:rPr lang="es-ES" sz="1600" b="1" dirty="0">
                <a:solidFill>
                  <a:srgbClr val="FF0000"/>
                </a:solidFill>
              </a:rPr>
              <a:t>r</a:t>
            </a:r>
            <a:r>
              <a:rPr lang="es-ES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se utiliza en Python para anular caracteres o palabras especiales de Python.</a:t>
            </a:r>
            <a:endParaRPr lang="es-ES" sz="1600" b="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lvl="1" algn="just">
              <a:lnSpc>
                <a:spcPct val="150000"/>
              </a:lnSpc>
            </a:pPr>
            <a:r>
              <a:rPr lang="es-ES" sz="1600" b="1" i="0" dirty="0" err="1">
                <a:solidFill>
                  <a:schemeClr val="accent6">
                    <a:lumMod val="75000"/>
                  </a:schemeClr>
                </a:solidFill>
                <a:effectLst/>
              </a:rPr>
              <a:t>re.search</a:t>
            </a:r>
            <a:r>
              <a:rPr lang="es-ES" sz="1600" b="1" i="0" dirty="0">
                <a:solidFill>
                  <a:schemeClr val="accent6">
                    <a:lumMod val="75000"/>
                  </a:schemeClr>
                </a:solidFill>
                <a:effectLst/>
              </a:rPr>
              <a:t>(</a:t>
            </a:r>
            <a:r>
              <a:rPr lang="es-ES" sz="1600" b="1" i="0" dirty="0" err="1">
                <a:solidFill>
                  <a:schemeClr val="accent6">
                    <a:lumMod val="75000"/>
                  </a:schemeClr>
                </a:solidFill>
                <a:effectLst/>
              </a:rPr>
              <a:t>r”Expresión</a:t>
            </a:r>
            <a:r>
              <a:rPr lang="es-ES" sz="1600" b="1" i="0" dirty="0">
                <a:solidFill>
                  <a:schemeClr val="accent6">
                    <a:lumMod val="75000"/>
                  </a:schemeClr>
                </a:solidFill>
                <a:effectLst/>
              </a:rPr>
              <a:t> regular”, texto)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B793FE48-623D-42B8-BED7-05AD9ED8B3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600" y="2780928"/>
            <a:ext cx="6871239" cy="32043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355393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4" name="Rectangle 4"/>
          <p:cNvSpPr>
            <a:spLocks noGrp="1" noChangeArrowheads="1"/>
          </p:cNvSpPr>
          <p:nvPr>
            <p:ph type="title"/>
          </p:nvPr>
        </p:nvSpPr>
        <p:spPr>
          <a:xfrm>
            <a:off x="444854" y="0"/>
            <a:ext cx="8229600" cy="114300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s-MX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Expresiones regulares: \d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28D7FAFF-9722-4D6A-9DE5-55FC738D0886}"/>
              </a:ext>
            </a:extLst>
          </p:cNvPr>
          <p:cNvSpPr txBox="1"/>
          <p:nvPr/>
        </p:nvSpPr>
        <p:spPr>
          <a:xfrm>
            <a:off x="1011640" y="1340768"/>
            <a:ext cx="3672408" cy="7927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s-ES" sz="1600" b="0" dirty="0">
                <a:solidFill>
                  <a:schemeClr val="tx1">
                    <a:lumMod val="95000"/>
                    <a:lumOff val="5000"/>
                  </a:schemeClr>
                </a:solidFill>
                <a:hlinkClick r:id="rId3"/>
              </a:rPr>
              <a:t>https://regexr.com/</a:t>
            </a:r>
            <a:endParaRPr lang="es-ES" sz="1600" b="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algn="just">
              <a:lnSpc>
                <a:spcPct val="150000"/>
              </a:lnSpc>
            </a:pPr>
            <a:r>
              <a:rPr lang="es-ES" sz="16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20 coincidencias</a:t>
            </a:r>
            <a:endParaRPr lang="es-ES" sz="1600" b="0" i="0" dirty="0">
              <a:solidFill>
                <a:schemeClr val="tx1">
                  <a:lumMod val="95000"/>
                  <a:lumOff val="5000"/>
                </a:schemeClr>
              </a:solidFill>
              <a:effectLst/>
            </a:endParaRPr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88E4CB25-DBDE-4690-9149-04D33C8D6C5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2037" y="2492896"/>
            <a:ext cx="7019925" cy="3467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742768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4" name="Rectangle 4"/>
          <p:cNvSpPr>
            <a:spLocks noGrp="1" noChangeArrowheads="1"/>
          </p:cNvSpPr>
          <p:nvPr>
            <p:ph type="title"/>
          </p:nvPr>
        </p:nvSpPr>
        <p:spPr>
          <a:xfrm>
            <a:off x="289721" y="4056"/>
            <a:ext cx="8363272" cy="114300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s-MX" b="1" dirty="0" err="1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Metacaracteres</a:t>
            </a:r>
            <a:endParaRPr lang="es-MX" b="1" dirty="0">
              <a:solidFill>
                <a:schemeClr val="accent4">
                  <a:lumMod val="50000"/>
                </a:schemeClr>
              </a:solidFill>
              <a:effectLst>
                <a:outerShdw blurRad="38100" dist="38100" dir="2700000" algn="tl">
                  <a:srgbClr val="C0C0C0"/>
                </a:outerShdw>
              </a:effectLst>
              <a:latin typeface="Dom Casual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A4EAFB9D-A872-4F2B-9A4C-EDDAC1EBFF8F}"/>
              </a:ext>
            </a:extLst>
          </p:cNvPr>
          <p:cNvSpPr txBox="1"/>
          <p:nvPr/>
        </p:nvSpPr>
        <p:spPr>
          <a:xfrm>
            <a:off x="556202" y="1637911"/>
            <a:ext cx="7806545" cy="7142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 fontAlgn="base">
              <a:lnSpc>
                <a:spcPts val="25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s-ES" dirty="0">
                <a:solidFill>
                  <a:srgbClr val="000000"/>
                </a:solidFill>
                <a:latin typeface="inherit"/>
              </a:rPr>
              <a:t>En los </a:t>
            </a:r>
            <a:r>
              <a:rPr lang="es-ES" dirty="0" err="1">
                <a:solidFill>
                  <a:srgbClr val="000000"/>
                </a:solidFill>
                <a:latin typeface="inherit"/>
              </a:rPr>
              <a:t>metacaracteres</a:t>
            </a:r>
            <a:r>
              <a:rPr lang="es-ES" dirty="0">
                <a:solidFill>
                  <a:srgbClr val="000000"/>
                </a:solidFill>
                <a:latin typeface="inherit"/>
              </a:rPr>
              <a:t> está el poder de las Expresiones regulares. </a:t>
            </a:r>
            <a:r>
              <a:rPr lang="es-ES" b="0" i="0" dirty="0">
                <a:solidFill>
                  <a:srgbClr val="000000"/>
                </a:solidFill>
                <a:effectLst/>
                <a:latin typeface="inherit"/>
              </a:rPr>
              <a:t>El verdadero valor de las expresiones regulares son los </a:t>
            </a:r>
            <a:r>
              <a:rPr lang="es-ES" b="0" i="0" dirty="0" err="1">
                <a:solidFill>
                  <a:srgbClr val="000000"/>
                </a:solidFill>
                <a:effectLst/>
                <a:latin typeface="inherit"/>
              </a:rPr>
              <a:t>metacaracteres</a:t>
            </a:r>
            <a:r>
              <a:rPr lang="es-ES" b="0" i="0" dirty="0">
                <a:solidFill>
                  <a:srgbClr val="000000"/>
                </a:solidFill>
                <a:effectLst/>
                <a:latin typeface="inherit"/>
              </a:rPr>
              <a:t>.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5209D1B0-77B0-443B-B44C-A581F1D389C4}"/>
              </a:ext>
            </a:extLst>
          </p:cNvPr>
          <p:cNvSpPr txBox="1"/>
          <p:nvPr/>
        </p:nvSpPr>
        <p:spPr>
          <a:xfrm>
            <a:off x="2123728" y="939034"/>
            <a:ext cx="4824536" cy="4017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base">
              <a:lnSpc>
                <a:spcPts val="2500"/>
              </a:lnSpc>
              <a:spcAft>
                <a:spcPts val="1200"/>
              </a:spcAft>
            </a:pPr>
            <a:r>
              <a:rPr lang="es-ES" b="1" i="0" dirty="0">
                <a:solidFill>
                  <a:schemeClr val="accent6">
                    <a:lumMod val="75000"/>
                  </a:schemeClr>
                </a:solidFill>
                <a:effectLst/>
                <a:latin typeface="inherit"/>
              </a:rPr>
              <a:t>Son caracteres con un significado especial.</a:t>
            </a:r>
          </a:p>
        </p:txBody>
      </p:sp>
      <p:graphicFrame>
        <p:nvGraphicFramePr>
          <p:cNvPr id="2" name="Tabla 3">
            <a:extLst>
              <a:ext uri="{FF2B5EF4-FFF2-40B4-BE49-F238E27FC236}">
                <a16:creationId xmlns:a16="http://schemas.microsoft.com/office/drawing/2014/main" id="{293FB511-D00F-4078-ABBF-BE8AC61DEEB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26118046"/>
              </p:ext>
            </p:extLst>
          </p:nvPr>
        </p:nvGraphicFramePr>
        <p:xfrm>
          <a:off x="556202" y="2649352"/>
          <a:ext cx="7897418" cy="25211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14244">
                  <a:extLst>
                    <a:ext uri="{9D8B030D-6E8A-4147-A177-3AD203B41FA5}">
                      <a16:colId xmlns:a16="http://schemas.microsoft.com/office/drawing/2014/main" val="3049714274"/>
                    </a:ext>
                  </a:extLst>
                </a:gridCol>
                <a:gridCol w="5794468">
                  <a:extLst>
                    <a:ext uri="{9D8B030D-6E8A-4147-A177-3AD203B41FA5}">
                      <a16:colId xmlns:a16="http://schemas.microsoft.com/office/drawing/2014/main" val="1816556619"/>
                    </a:ext>
                  </a:extLst>
                </a:gridCol>
                <a:gridCol w="1488706">
                  <a:extLst>
                    <a:ext uri="{9D8B030D-6E8A-4147-A177-3AD203B41FA5}">
                      <a16:colId xmlns:a16="http://schemas.microsoft.com/office/drawing/2014/main" val="1987385688"/>
                    </a:ext>
                  </a:extLst>
                </a:gridCol>
              </a:tblGrid>
              <a:tr h="417996"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MC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Descripción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Ejemplo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21737155"/>
                  </a:ext>
                </a:extLst>
              </a:tr>
              <a:tr h="604160"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[]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Indica un conjunto de caracteres. Se usa ‘-’ para indicar un rango. Algunos caracteres especiales pierden su significado.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[a-z]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4703374"/>
                  </a:ext>
                </a:extLst>
              </a:tr>
              <a:tr h="350029"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Cualquier carácter excepto un salto de línea.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….ar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4540276"/>
                  </a:ext>
                </a:extLst>
              </a:tr>
              <a:tr h="350029"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^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Coincide con el comienzo de la cadena.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^[A-Z]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6042066"/>
                  </a:ext>
                </a:extLst>
              </a:tr>
              <a:tr h="350029"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$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Coincide con el final de la cadena.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@gmail.com$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6322987"/>
                  </a:ext>
                </a:extLst>
              </a:tr>
              <a:tr h="350029"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|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Una ‘</a:t>
                      </a:r>
                      <a:r>
                        <a:rPr lang="es-MX" dirty="0" err="1"/>
                        <a:t>or</a:t>
                      </a:r>
                      <a:r>
                        <a:rPr lang="es-MX" dirty="0"/>
                        <a:t>’.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[a-z] | [A-Z]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215551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7995395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4" name="Rectangle 4"/>
          <p:cNvSpPr>
            <a:spLocks noGrp="1" noChangeArrowheads="1"/>
          </p:cNvSpPr>
          <p:nvPr>
            <p:ph type="title"/>
          </p:nvPr>
        </p:nvSpPr>
        <p:spPr>
          <a:xfrm>
            <a:off x="289721" y="-99392"/>
            <a:ext cx="8363272" cy="114300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s-MX" b="1" dirty="0" err="1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Metacaracteres</a:t>
            </a:r>
            <a:endParaRPr lang="es-MX" b="1" dirty="0">
              <a:solidFill>
                <a:schemeClr val="accent4">
                  <a:lumMod val="50000"/>
                </a:schemeClr>
              </a:solidFill>
              <a:effectLst>
                <a:outerShdw blurRad="38100" dist="38100" dir="2700000" algn="tl">
                  <a:srgbClr val="C0C0C0"/>
                </a:outerShdw>
              </a:effectLst>
              <a:latin typeface="Dom Casual" charset="0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9729C420-11B3-4E8A-AB9E-B87A07E74B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9592" y="2880962"/>
            <a:ext cx="7481830" cy="3428358"/>
          </a:xfrm>
          <a:prstGeom prst="rect">
            <a:avLst/>
          </a:prstGeom>
        </p:spPr>
      </p:pic>
      <p:sp>
        <p:nvSpPr>
          <p:cNvPr id="8" name="CuadroTexto 7">
            <a:extLst>
              <a:ext uri="{FF2B5EF4-FFF2-40B4-BE49-F238E27FC236}">
                <a16:creationId xmlns:a16="http://schemas.microsoft.com/office/drawing/2014/main" id="{C54CFFB0-D6E7-4679-A6E8-7F8B2E54D6C1}"/>
              </a:ext>
            </a:extLst>
          </p:cNvPr>
          <p:cNvSpPr txBox="1"/>
          <p:nvPr/>
        </p:nvSpPr>
        <p:spPr>
          <a:xfrm>
            <a:off x="489179" y="1298545"/>
            <a:ext cx="7964356" cy="11118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 fontAlgn="base">
              <a:lnSpc>
                <a:spcPts val="25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MX" dirty="0"/>
              <a:t>Se usa ‘-’ para indicar un rango. </a:t>
            </a:r>
          </a:p>
          <a:p>
            <a:pPr marL="285750" indent="-285750" algn="just" fontAlgn="base">
              <a:lnSpc>
                <a:spcPts val="25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b="1" i="0" dirty="0" err="1">
                <a:solidFill>
                  <a:schemeClr val="accent6">
                    <a:lumMod val="75000"/>
                  </a:schemeClr>
                </a:solidFill>
                <a:effectLst/>
                <a:latin typeface="inherit"/>
              </a:rPr>
              <a:t>findall</a:t>
            </a:r>
            <a:r>
              <a:rPr lang="es-ES" b="1" i="0" dirty="0">
                <a:solidFill>
                  <a:schemeClr val="accent6">
                    <a:lumMod val="75000"/>
                  </a:schemeClr>
                </a:solidFill>
                <a:effectLst/>
                <a:latin typeface="inherit"/>
              </a:rPr>
              <a:t>()</a:t>
            </a:r>
            <a:r>
              <a:rPr lang="es-ES" b="0" i="0" dirty="0">
                <a:solidFill>
                  <a:schemeClr val="accent6">
                    <a:lumMod val="75000"/>
                  </a:schemeClr>
                </a:solidFill>
                <a:effectLst/>
                <a:latin typeface="inherit"/>
              </a:rPr>
              <a:t>: </a:t>
            </a:r>
            <a:r>
              <a:rPr lang="es-ES" b="0" i="0" dirty="0">
                <a:solidFill>
                  <a:srgbClr val="000000"/>
                </a:solidFill>
                <a:effectLst/>
                <a:latin typeface="inherit"/>
              </a:rPr>
              <a:t>Encuentra todos los subtextos donde coincide </a:t>
            </a:r>
            <a:r>
              <a:rPr lang="es-ES" dirty="0">
                <a:solidFill>
                  <a:srgbClr val="000000"/>
                </a:solidFill>
                <a:latin typeface="inherit"/>
              </a:rPr>
              <a:t>la expresión regular y </a:t>
            </a:r>
            <a:r>
              <a:rPr lang="es-ES" b="0" i="0" dirty="0">
                <a:solidFill>
                  <a:srgbClr val="000000"/>
                </a:solidFill>
                <a:effectLst/>
                <a:latin typeface="inherit"/>
              </a:rPr>
              <a:t> devuelve estas coincidencias como una lista.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3C2E1319-C186-4202-8393-814D31E5493C}"/>
              </a:ext>
            </a:extLst>
          </p:cNvPr>
          <p:cNvSpPr txBox="1"/>
          <p:nvPr/>
        </p:nvSpPr>
        <p:spPr>
          <a:xfrm>
            <a:off x="736066" y="2299254"/>
            <a:ext cx="7920880" cy="5062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es-ES" sz="2000" b="1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Ejemplo 1: </a:t>
            </a:r>
            <a:r>
              <a:rPr lang="es-ES" sz="20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Busca todos los caracteres en minúsculas.</a:t>
            </a:r>
            <a:endParaRPr lang="es-ES" sz="20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71F6875C-FDBE-48EB-8BD5-4D3A750FAB0C}"/>
              </a:ext>
            </a:extLst>
          </p:cNvPr>
          <p:cNvSpPr txBox="1"/>
          <p:nvPr/>
        </p:nvSpPr>
        <p:spPr>
          <a:xfrm>
            <a:off x="2627784" y="801397"/>
            <a:ext cx="3600400" cy="3936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base">
              <a:lnSpc>
                <a:spcPts val="2500"/>
              </a:lnSpc>
              <a:spcAft>
                <a:spcPts val="600"/>
              </a:spcAft>
            </a:pPr>
            <a:r>
              <a:rPr lang="es-ES" b="1" i="0" dirty="0">
                <a:solidFill>
                  <a:schemeClr val="accent6">
                    <a:lumMod val="75000"/>
                  </a:schemeClr>
                </a:solidFill>
                <a:effectLst/>
                <a:latin typeface="inherit"/>
              </a:rPr>
              <a:t>[] Indica un conjunto de caracteres </a:t>
            </a:r>
          </a:p>
        </p:txBody>
      </p:sp>
    </p:spTree>
    <p:extLst>
      <p:ext uri="{BB962C8B-B14F-4D97-AF65-F5344CB8AC3E}">
        <p14:creationId xmlns:p14="http://schemas.microsoft.com/office/powerpoint/2010/main" val="6506417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uadroTexto 8">
            <a:extLst>
              <a:ext uri="{FF2B5EF4-FFF2-40B4-BE49-F238E27FC236}">
                <a16:creationId xmlns:a16="http://schemas.microsoft.com/office/drawing/2014/main" id="{3C2E1319-C186-4202-8393-814D31E5493C}"/>
              </a:ext>
            </a:extLst>
          </p:cNvPr>
          <p:cNvSpPr txBox="1"/>
          <p:nvPr/>
        </p:nvSpPr>
        <p:spPr>
          <a:xfrm>
            <a:off x="899592" y="1583777"/>
            <a:ext cx="4683827" cy="5062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es-ES" sz="2000" b="1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Ejemplo 2: </a:t>
            </a:r>
            <a:r>
              <a:rPr lang="es-ES" sz="20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Busca todos los números.</a:t>
            </a:r>
            <a:endParaRPr lang="es-ES" sz="20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CBF46C46-01AA-4FAE-81E2-92FAEB4E3E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2420888"/>
            <a:ext cx="7315200" cy="3333750"/>
          </a:xfrm>
          <a:prstGeom prst="rect">
            <a:avLst/>
          </a:prstGeom>
        </p:spPr>
      </p:pic>
      <p:sp>
        <p:nvSpPr>
          <p:cNvPr id="11" name="Rectangle 4">
            <a:extLst>
              <a:ext uri="{FF2B5EF4-FFF2-40B4-BE49-F238E27FC236}">
                <a16:creationId xmlns:a16="http://schemas.microsoft.com/office/drawing/2014/main" id="{5F2CD450-F1A2-44D0-826E-8133FCEE199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89721" y="46280"/>
            <a:ext cx="8363272" cy="114300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s-MX" b="1" dirty="0" err="1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Metacaracteres</a:t>
            </a:r>
            <a:endParaRPr lang="es-MX" b="1" dirty="0">
              <a:solidFill>
                <a:schemeClr val="accent4">
                  <a:lumMod val="50000"/>
                </a:schemeClr>
              </a:solidFill>
              <a:effectLst>
                <a:outerShdw blurRad="38100" dist="38100" dir="2700000" algn="tl">
                  <a:srgbClr val="C0C0C0"/>
                </a:outerShdw>
              </a:effectLst>
              <a:latin typeface="Dom Casual" charset="0"/>
            </a:endParaRP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7A68EC81-20D1-482B-988D-DEB369A3512A}"/>
              </a:ext>
            </a:extLst>
          </p:cNvPr>
          <p:cNvSpPr txBox="1"/>
          <p:nvPr/>
        </p:nvSpPr>
        <p:spPr>
          <a:xfrm>
            <a:off x="2627784" y="947069"/>
            <a:ext cx="3600400" cy="3936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base">
              <a:lnSpc>
                <a:spcPts val="2500"/>
              </a:lnSpc>
              <a:spcAft>
                <a:spcPts val="600"/>
              </a:spcAft>
            </a:pPr>
            <a:r>
              <a:rPr lang="es-ES" b="1" i="0" dirty="0">
                <a:solidFill>
                  <a:schemeClr val="accent6">
                    <a:lumMod val="75000"/>
                  </a:schemeClr>
                </a:solidFill>
                <a:effectLst/>
                <a:latin typeface="inherit"/>
              </a:rPr>
              <a:t>[] Indica un conjunto de caracteres </a:t>
            </a:r>
          </a:p>
        </p:txBody>
      </p:sp>
    </p:spTree>
    <p:extLst>
      <p:ext uri="{BB962C8B-B14F-4D97-AF65-F5344CB8AC3E}">
        <p14:creationId xmlns:p14="http://schemas.microsoft.com/office/powerpoint/2010/main" val="364066418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4" name="Rectangle 4"/>
          <p:cNvSpPr>
            <a:spLocks noGrp="1" noChangeArrowheads="1"/>
          </p:cNvSpPr>
          <p:nvPr>
            <p:ph type="title"/>
          </p:nvPr>
        </p:nvSpPr>
        <p:spPr>
          <a:xfrm>
            <a:off x="289721" y="4056"/>
            <a:ext cx="8363272" cy="114300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s-MX" b="1" dirty="0" err="1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Metacaracteres</a:t>
            </a:r>
            <a:endParaRPr lang="es-MX" b="1" dirty="0">
              <a:solidFill>
                <a:schemeClr val="accent4">
                  <a:lumMod val="50000"/>
                </a:schemeClr>
              </a:solidFill>
              <a:effectLst>
                <a:outerShdw blurRad="38100" dist="38100" dir="2700000" algn="tl">
                  <a:srgbClr val="C0C0C0"/>
                </a:outerShdw>
              </a:effectLst>
              <a:latin typeface="Dom Casual" charset="0"/>
            </a:endParaRP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65A32C36-6B63-4F4C-8762-95C0DAD8965B}"/>
              </a:ext>
            </a:extLst>
          </p:cNvPr>
          <p:cNvSpPr txBox="1"/>
          <p:nvPr/>
        </p:nvSpPr>
        <p:spPr>
          <a:xfrm>
            <a:off x="891025" y="950207"/>
            <a:ext cx="7065349" cy="3936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base">
              <a:lnSpc>
                <a:spcPts val="2500"/>
              </a:lnSpc>
              <a:spcAft>
                <a:spcPts val="600"/>
              </a:spcAft>
            </a:pPr>
            <a:r>
              <a:rPr lang="es-ES" b="1" i="0" dirty="0">
                <a:solidFill>
                  <a:schemeClr val="accent6">
                    <a:lumMod val="75000"/>
                  </a:schemeClr>
                </a:solidFill>
                <a:effectLst/>
                <a:latin typeface="inherit"/>
              </a:rPr>
              <a:t>Punto(.) Cualquier carácter excepto el salto de línea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C45CBD37-E855-453E-8CDA-5467A4B05037}"/>
              </a:ext>
            </a:extLst>
          </p:cNvPr>
          <p:cNvSpPr txBox="1"/>
          <p:nvPr/>
        </p:nvSpPr>
        <p:spPr>
          <a:xfrm>
            <a:off x="489179" y="1628800"/>
            <a:ext cx="7964356" cy="3936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 fontAlgn="base">
              <a:lnSpc>
                <a:spcPts val="25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b="0" i="0" dirty="0">
                <a:solidFill>
                  <a:srgbClr val="000000"/>
                </a:solidFill>
                <a:effectLst/>
                <a:latin typeface="inherit"/>
              </a:rPr>
              <a:t>Encuentra todos los caracteres.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432A1748-633E-43E7-BE55-E8492049DF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33013" y="2276872"/>
            <a:ext cx="3381375" cy="3619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103621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uadroTexto 8">
            <a:extLst>
              <a:ext uri="{FF2B5EF4-FFF2-40B4-BE49-F238E27FC236}">
                <a16:creationId xmlns:a16="http://schemas.microsoft.com/office/drawing/2014/main" id="{3C2E1319-C186-4202-8393-814D31E5493C}"/>
              </a:ext>
            </a:extLst>
          </p:cNvPr>
          <p:cNvSpPr txBox="1"/>
          <p:nvPr/>
        </p:nvSpPr>
        <p:spPr>
          <a:xfrm>
            <a:off x="732113" y="1996191"/>
            <a:ext cx="7920880" cy="5062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es-ES" sz="2000" b="1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Ejemplo 3: </a:t>
            </a:r>
            <a:r>
              <a:rPr lang="es-ES" sz="20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Texto con 4 caracteres y que termine en ar.</a:t>
            </a:r>
            <a:r>
              <a:rPr lang="es-ES" sz="2000" b="1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 </a:t>
            </a:r>
            <a:endParaRPr lang="es-ES" sz="20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EA9CC210-D544-440F-8021-7745484E46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5639" y="2805616"/>
            <a:ext cx="7611568" cy="2264537"/>
          </a:xfrm>
          <a:prstGeom prst="rect">
            <a:avLst/>
          </a:prstGeom>
        </p:spPr>
      </p:pic>
      <p:sp>
        <p:nvSpPr>
          <p:cNvPr id="10" name="Rectangle 4">
            <a:extLst>
              <a:ext uri="{FF2B5EF4-FFF2-40B4-BE49-F238E27FC236}">
                <a16:creationId xmlns:a16="http://schemas.microsoft.com/office/drawing/2014/main" id="{47566EE0-4954-4E0D-B2B2-3E11D449C07F}"/>
              </a:ext>
            </a:extLst>
          </p:cNvPr>
          <p:cNvSpPr txBox="1">
            <a:spLocks noChangeArrowheads="1"/>
          </p:cNvSpPr>
          <p:nvPr/>
        </p:nvSpPr>
        <p:spPr>
          <a:xfrm>
            <a:off x="289721" y="4056"/>
            <a:ext cx="8363272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s-MX" b="1" dirty="0" err="1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Metacaracteres</a:t>
            </a:r>
            <a:endParaRPr lang="es-MX" b="1" dirty="0">
              <a:solidFill>
                <a:schemeClr val="accent4">
                  <a:lumMod val="50000"/>
                </a:schemeClr>
              </a:solidFill>
              <a:effectLst>
                <a:outerShdw blurRad="38100" dist="38100" dir="2700000" algn="tl">
                  <a:srgbClr val="C0C0C0"/>
                </a:outerShdw>
              </a:effectLst>
              <a:latin typeface="Dom Casual" charset="0"/>
            </a:endParaRP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DB4734F2-B2C4-4B79-90BB-D1E93446E6FA}"/>
              </a:ext>
            </a:extLst>
          </p:cNvPr>
          <p:cNvSpPr txBox="1"/>
          <p:nvPr/>
        </p:nvSpPr>
        <p:spPr>
          <a:xfrm>
            <a:off x="891027" y="908720"/>
            <a:ext cx="7065349" cy="3936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base">
              <a:lnSpc>
                <a:spcPts val="2500"/>
              </a:lnSpc>
              <a:spcAft>
                <a:spcPts val="600"/>
              </a:spcAft>
            </a:pPr>
            <a:r>
              <a:rPr lang="es-ES" b="1" i="0" dirty="0">
                <a:solidFill>
                  <a:schemeClr val="accent6">
                    <a:lumMod val="75000"/>
                  </a:schemeClr>
                </a:solidFill>
                <a:effectLst/>
                <a:latin typeface="inherit"/>
              </a:rPr>
              <a:t>Punto(.) Cualquier carácter excepto el salto de línea</a:t>
            </a:r>
          </a:p>
        </p:txBody>
      </p:sp>
    </p:spTree>
    <p:extLst>
      <p:ext uri="{BB962C8B-B14F-4D97-AF65-F5344CB8AC3E}">
        <p14:creationId xmlns:p14="http://schemas.microsoft.com/office/powerpoint/2010/main" val="185083588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4" name="Rectangle 4"/>
          <p:cNvSpPr>
            <a:spLocks noGrp="1" noChangeArrowheads="1"/>
          </p:cNvSpPr>
          <p:nvPr>
            <p:ph type="title"/>
          </p:nvPr>
        </p:nvSpPr>
        <p:spPr>
          <a:xfrm>
            <a:off x="289721" y="4056"/>
            <a:ext cx="8363272" cy="114300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s-MX" b="1" dirty="0" err="1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Metacaracteres</a:t>
            </a:r>
            <a:endParaRPr lang="es-MX" b="1" dirty="0">
              <a:solidFill>
                <a:schemeClr val="accent4">
                  <a:lumMod val="50000"/>
                </a:schemeClr>
              </a:solidFill>
              <a:effectLst>
                <a:outerShdw blurRad="38100" dist="38100" dir="2700000" algn="tl">
                  <a:srgbClr val="C0C0C0"/>
                </a:outerShdw>
              </a:effectLst>
              <a:latin typeface="Dom Casual" charset="0"/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C54CFFB0-D6E7-4679-A6E8-7F8B2E54D6C1}"/>
              </a:ext>
            </a:extLst>
          </p:cNvPr>
          <p:cNvSpPr txBox="1"/>
          <p:nvPr/>
        </p:nvSpPr>
        <p:spPr>
          <a:xfrm>
            <a:off x="2511993" y="950207"/>
            <a:ext cx="4369025" cy="3936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fontAlgn="base">
              <a:lnSpc>
                <a:spcPts val="2500"/>
              </a:lnSpc>
              <a:spcAft>
                <a:spcPts val="600"/>
              </a:spcAft>
            </a:pPr>
            <a:r>
              <a:rPr lang="es-ES" b="1" i="0" dirty="0">
                <a:solidFill>
                  <a:schemeClr val="accent6">
                    <a:lumMod val="75000"/>
                  </a:schemeClr>
                </a:solidFill>
                <a:effectLst/>
                <a:latin typeface="inherit"/>
              </a:rPr>
              <a:t>^ </a:t>
            </a:r>
            <a:r>
              <a:rPr lang="es-MX" b="1" dirty="0">
                <a:solidFill>
                  <a:schemeClr val="accent6">
                    <a:lumMod val="75000"/>
                  </a:schemeClr>
                </a:solidFill>
              </a:rPr>
              <a:t>Coincide con el comienzo de la cadena</a:t>
            </a:r>
            <a:endParaRPr lang="es-ES" b="1" i="0" dirty="0">
              <a:solidFill>
                <a:schemeClr val="accent6">
                  <a:lumMod val="75000"/>
                </a:schemeClr>
              </a:solidFill>
              <a:effectLst/>
              <a:latin typeface="inherit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4F4872DA-619A-41A1-BE49-20DE32CBC5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202" y="2290056"/>
            <a:ext cx="8001000" cy="3733800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12BEA311-D141-4761-9657-1E9AB156D83F}"/>
              </a:ext>
            </a:extLst>
          </p:cNvPr>
          <p:cNvSpPr txBox="1"/>
          <p:nvPr/>
        </p:nvSpPr>
        <p:spPr>
          <a:xfrm>
            <a:off x="611560" y="1583476"/>
            <a:ext cx="7920880" cy="5062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es-ES" sz="2000" b="1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Ejemplo 4: </a:t>
            </a:r>
            <a:r>
              <a:rPr lang="es-ES" sz="20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Letra que comience en mayúsculas.</a:t>
            </a:r>
            <a:endParaRPr lang="es-ES" sz="20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6105314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4" name="Rectangle 4"/>
          <p:cNvSpPr>
            <a:spLocks noGrp="1" noChangeArrowheads="1"/>
          </p:cNvSpPr>
          <p:nvPr>
            <p:ph type="title"/>
          </p:nvPr>
        </p:nvSpPr>
        <p:spPr>
          <a:xfrm>
            <a:off x="289721" y="4056"/>
            <a:ext cx="8363272" cy="114300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s-MX" b="1" dirty="0" err="1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Metacaracteres</a:t>
            </a:r>
            <a:endParaRPr lang="es-MX" b="1" dirty="0">
              <a:solidFill>
                <a:schemeClr val="accent4">
                  <a:lumMod val="50000"/>
                </a:schemeClr>
              </a:solidFill>
              <a:effectLst>
                <a:outerShdw blurRad="38100" dist="38100" dir="2700000" algn="tl">
                  <a:srgbClr val="C0C0C0"/>
                </a:outerShdw>
              </a:effectLst>
              <a:latin typeface="Dom Casual" charset="0"/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C54CFFB0-D6E7-4679-A6E8-7F8B2E54D6C1}"/>
              </a:ext>
            </a:extLst>
          </p:cNvPr>
          <p:cNvSpPr txBox="1"/>
          <p:nvPr/>
        </p:nvSpPr>
        <p:spPr>
          <a:xfrm>
            <a:off x="2511993" y="950207"/>
            <a:ext cx="4369025" cy="3936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fontAlgn="base">
              <a:lnSpc>
                <a:spcPts val="2500"/>
              </a:lnSpc>
              <a:spcAft>
                <a:spcPts val="600"/>
              </a:spcAft>
            </a:pPr>
            <a:r>
              <a:rPr lang="es-ES" b="1" i="0" dirty="0">
                <a:solidFill>
                  <a:schemeClr val="accent6">
                    <a:lumMod val="75000"/>
                  </a:schemeClr>
                </a:solidFill>
                <a:effectLst/>
                <a:latin typeface="inherit"/>
              </a:rPr>
              <a:t>^ </a:t>
            </a:r>
            <a:r>
              <a:rPr lang="es-MX" b="1" dirty="0">
                <a:solidFill>
                  <a:schemeClr val="accent6">
                    <a:lumMod val="75000"/>
                  </a:schemeClr>
                </a:solidFill>
              </a:rPr>
              <a:t>Coincide con el comienzo de la cadena</a:t>
            </a:r>
            <a:endParaRPr lang="es-ES" b="1" i="0" dirty="0">
              <a:solidFill>
                <a:schemeClr val="accent6">
                  <a:lumMod val="75000"/>
                </a:schemeClr>
              </a:solidFill>
              <a:effectLst/>
              <a:latin typeface="inherit"/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3C2E1319-C186-4202-8393-814D31E5493C}"/>
              </a:ext>
            </a:extLst>
          </p:cNvPr>
          <p:cNvSpPr txBox="1"/>
          <p:nvPr/>
        </p:nvSpPr>
        <p:spPr>
          <a:xfrm>
            <a:off x="611560" y="1583476"/>
            <a:ext cx="7920880" cy="5062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es-ES" sz="2000" b="1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Ejemplo 4: </a:t>
            </a:r>
            <a:r>
              <a:rPr lang="es-ES" sz="20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Letra que comience en mayúsculas.</a:t>
            </a:r>
            <a:endParaRPr lang="es-ES" sz="20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D030C024-0B9F-42D1-BEC6-A46FCB039A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1560" y="2305544"/>
            <a:ext cx="8162925" cy="2857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931251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4" name="Rectangle 4"/>
          <p:cNvSpPr>
            <a:spLocks noGrp="1" noChangeArrowheads="1"/>
          </p:cNvSpPr>
          <p:nvPr>
            <p:ph type="title"/>
          </p:nvPr>
        </p:nvSpPr>
        <p:spPr>
          <a:xfrm>
            <a:off x="289721" y="4056"/>
            <a:ext cx="8363272" cy="114300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s-MX" b="1" dirty="0" err="1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Metacaracteres</a:t>
            </a:r>
            <a:endParaRPr lang="es-MX" b="1" dirty="0">
              <a:solidFill>
                <a:schemeClr val="accent4">
                  <a:lumMod val="50000"/>
                </a:schemeClr>
              </a:solidFill>
              <a:effectLst>
                <a:outerShdw blurRad="38100" dist="38100" dir="2700000" algn="tl">
                  <a:srgbClr val="C0C0C0"/>
                </a:outerShdw>
              </a:effectLst>
              <a:latin typeface="Dom Casual" charset="0"/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C54CFFB0-D6E7-4679-A6E8-7F8B2E54D6C1}"/>
              </a:ext>
            </a:extLst>
          </p:cNvPr>
          <p:cNvSpPr txBox="1"/>
          <p:nvPr/>
        </p:nvSpPr>
        <p:spPr>
          <a:xfrm>
            <a:off x="2286844" y="950207"/>
            <a:ext cx="4369025" cy="3936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base">
              <a:lnSpc>
                <a:spcPts val="2500"/>
              </a:lnSpc>
              <a:spcAft>
                <a:spcPts val="600"/>
              </a:spcAft>
            </a:pPr>
            <a:r>
              <a:rPr lang="es-ES" b="1" i="0" dirty="0">
                <a:solidFill>
                  <a:schemeClr val="accent6">
                    <a:lumMod val="75000"/>
                  </a:schemeClr>
                </a:solidFill>
                <a:effectLst/>
                <a:latin typeface="inherit"/>
              </a:rPr>
              <a:t>$ </a:t>
            </a:r>
            <a:r>
              <a:rPr lang="es-MX" b="1" dirty="0">
                <a:solidFill>
                  <a:schemeClr val="accent6">
                    <a:lumMod val="75000"/>
                  </a:schemeClr>
                </a:solidFill>
              </a:rPr>
              <a:t>Coincide con el final de la cadena</a:t>
            </a:r>
            <a:endParaRPr lang="es-ES" b="1" i="0" dirty="0">
              <a:solidFill>
                <a:schemeClr val="accent6">
                  <a:lumMod val="75000"/>
                </a:schemeClr>
              </a:solidFill>
              <a:effectLst/>
              <a:latin typeface="inherit"/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3C2E1319-C186-4202-8393-814D31E5493C}"/>
              </a:ext>
            </a:extLst>
          </p:cNvPr>
          <p:cNvSpPr txBox="1"/>
          <p:nvPr/>
        </p:nvSpPr>
        <p:spPr>
          <a:xfrm>
            <a:off x="611560" y="1583476"/>
            <a:ext cx="7920880" cy="5062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es-ES" sz="2000" b="1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Ejemplo 5: </a:t>
            </a:r>
            <a:r>
              <a:rPr lang="es-ES" sz="20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El correo termine en @tec.mx y se encuentre al final del texto.</a:t>
            </a:r>
            <a:endParaRPr lang="es-ES" sz="20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BB7CCA3B-3CA5-49C1-8C86-63E6F418C4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4988" y="2346991"/>
            <a:ext cx="7920880" cy="3008591"/>
          </a:xfrm>
          <a:prstGeom prst="rect">
            <a:avLst/>
          </a:prstGeom>
        </p:spPr>
      </p:pic>
      <p:sp>
        <p:nvSpPr>
          <p:cNvPr id="10" name="Abrir llave 9">
            <a:extLst>
              <a:ext uri="{FF2B5EF4-FFF2-40B4-BE49-F238E27FC236}">
                <a16:creationId xmlns:a16="http://schemas.microsoft.com/office/drawing/2014/main" id="{38DB08D7-E161-479F-9C2E-2CE4029C869F}"/>
              </a:ext>
            </a:extLst>
          </p:cNvPr>
          <p:cNvSpPr/>
          <p:nvPr/>
        </p:nvSpPr>
        <p:spPr>
          <a:xfrm rot="16200000">
            <a:off x="7937037" y="4696753"/>
            <a:ext cx="246121" cy="1071539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32161536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3CEA46D0-66FA-4F21-B3D8-91AB141636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816" y="2365662"/>
            <a:ext cx="7864552" cy="2287473"/>
          </a:xfrm>
          <a:prstGeom prst="rect">
            <a:avLst/>
          </a:prstGeom>
        </p:spPr>
      </p:pic>
      <p:sp>
        <p:nvSpPr>
          <p:cNvPr id="184324" name="Rectangle 4"/>
          <p:cNvSpPr>
            <a:spLocks noGrp="1" noChangeArrowheads="1"/>
          </p:cNvSpPr>
          <p:nvPr>
            <p:ph type="title"/>
          </p:nvPr>
        </p:nvSpPr>
        <p:spPr>
          <a:xfrm>
            <a:off x="289721" y="4056"/>
            <a:ext cx="8363272" cy="114300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s-MX" b="1" dirty="0" err="1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Metacaracteres</a:t>
            </a:r>
            <a:endParaRPr lang="es-MX" b="1" dirty="0">
              <a:solidFill>
                <a:schemeClr val="accent4">
                  <a:lumMod val="50000"/>
                </a:schemeClr>
              </a:solidFill>
              <a:effectLst>
                <a:outerShdw blurRad="38100" dist="38100" dir="2700000" algn="tl">
                  <a:srgbClr val="C0C0C0"/>
                </a:outerShdw>
              </a:effectLst>
              <a:latin typeface="Dom Casual" charset="0"/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C54CFFB0-D6E7-4679-A6E8-7F8B2E54D6C1}"/>
              </a:ext>
            </a:extLst>
          </p:cNvPr>
          <p:cNvSpPr txBox="1"/>
          <p:nvPr/>
        </p:nvSpPr>
        <p:spPr>
          <a:xfrm>
            <a:off x="2286844" y="950207"/>
            <a:ext cx="4369025" cy="3936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base">
              <a:lnSpc>
                <a:spcPts val="2500"/>
              </a:lnSpc>
              <a:spcAft>
                <a:spcPts val="600"/>
              </a:spcAft>
            </a:pPr>
            <a:r>
              <a:rPr lang="es-ES" b="1" i="0" dirty="0">
                <a:solidFill>
                  <a:schemeClr val="accent6">
                    <a:lumMod val="75000"/>
                  </a:schemeClr>
                </a:solidFill>
                <a:effectLst/>
                <a:latin typeface="inherit"/>
              </a:rPr>
              <a:t>$ </a:t>
            </a:r>
            <a:r>
              <a:rPr lang="es-MX" b="1" dirty="0">
                <a:solidFill>
                  <a:schemeClr val="accent6">
                    <a:lumMod val="75000"/>
                  </a:schemeClr>
                </a:solidFill>
              </a:rPr>
              <a:t>Coincide con el final de la cadena</a:t>
            </a:r>
            <a:endParaRPr lang="es-ES" b="1" i="0" dirty="0">
              <a:solidFill>
                <a:schemeClr val="accent6">
                  <a:lumMod val="75000"/>
                </a:schemeClr>
              </a:solidFill>
              <a:effectLst/>
              <a:latin typeface="inherit"/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3C2E1319-C186-4202-8393-814D31E5493C}"/>
              </a:ext>
            </a:extLst>
          </p:cNvPr>
          <p:cNvSpPr txBox="1"/>
          <p:nvPr/>
        </p:nvSpPr>
        <p:spPr>
          <a:xfrm>
            <a:off x="611560" y="1583476"/>
            <a:ext cx="7920880" cy="5062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es-ES" sz="2000" b="1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Ejemplo 5: </a:t>
            </a:r>
            <a:r>
              <a:rPr lang="es-ES" sz="20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El correo termine en @tec.mx y se encuentre al final del texto.</a:t>
            </a:r>
            <a:endParaRPr lang="es-ES" sz="20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0" name="Abrir llave 9">
            <a:extLst>
              <a:ext uri="{FF2B5EF4-FFF2-40B4-BE49-F238E27FC236}">
                <a16:creationId xmlns:a16="http://schemas.microsoft.com/office/drawing/2014/main" id="{38DB08D7-E161-479F-9C2E-2CE4029C869F}"/>
              </a:ext>
            </a:extLst>
          </p:cNvPr>
          <p:cNvSpPr/>
          <p:nvPr/>
        </p:nvSpPr>
        <p:spPr>
          <a:xfrm rot="16200000">
            <a:off x="7570320" y="4000981"/>
            <a:ext cx="522016" cy="1334080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91355563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4" name="Rectangle 4"/>
          <p:cNvSpPr>
            <a:spLocks noGrp="1" noChangeArrowheads="1"/>
          </p:cNvSpPr>
          <p:nvPr>
            <p:ph type="title"/>
          </p:nvPr>
        </p:nvSpPr>
        <p:spPr>
          <a:xfrm>
            <a:off x="289721" y="4056"/>
            <a:ext cx="8363272" cy="114300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s-MX" b="1" dirty="0" err="1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Metacaracteres</a:t>
            </a:r>
            <a:endParaRPr lang="es-MX" b="1" dirty="0">
              <a:solidFill>
                <a:schemeClr val="accent4">
                  <a:lumMod val="50000"/>
                </a:schemeClr>
              </a:solidFill>
              <a:effectLst>
                <a:outerShdw blurRad="38100" dist="38100" dir="2700000" algn="tl">
                  <a:srgbClr val="C0C0C0"/>
                </a:outerShdw>
              </a:effectLst>
              <a:latin typeface="Dom Casual" charset="0"/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E1C784F4-BDDC-4D50-B8E9-68B91761F76A}"/>
              </a:ext>
            </a:extLst>
          </p:cNvPr>
          <p:cNvSpPr txBox="1"/>
          <p:nvPr/>
        </p:nvSpPr>
        <p:spPr>
          <a:xfrm>
            <a:off x="683568" y="1537713"/>
            <a:ext cx="7920880" cy="5062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s-ES" sz="2000" b="1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Ejemplo: </a:t>
            </a:r>
            <a:r>
              <a:rPr lang="es-ES" sz="20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Si quiero </a:t>
            </a:r>
            <a:r>
              <a:rPr lang="es-ES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que una línea termine con </a:t>
            </a:r>
            <a:r>
              <a:rPr lang="es-ES" sz="20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“Mundo.”</a:t>
            </a:r>
            <a:endParaRPr lang="es-ES" sz="20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0CD01309-A779-489D-9641-3C8825455B71}"/>
              </a:ext>
            </a:extLst>
          </p:cNvPr>
          <p:cNvSpPr txBox="1"/>
          <p:nvPr/>
        </p:nvSpPr>
        <p:spPr>
          <a:xfrm>
            <a:off x="938682" y="962324"/>
            <a:ext cx="7065349" cy="3936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base">
              <a:lnSpc>
                <a:spcPts val="2500"/>
              </a:lnSpc>
              <a:spcAft>
                <a:spcPts val="600"/>
              </a:spcAft>
            </a:pPr>
            <a:r>
              <a:rPr lang="es-ES" b="1" i="0" dirty="0">
                <a:solidFill>
                  <a:schemeClr val="accent6">
                    <a:lumMod val="75000"/>
                  </a:schemeClr>
                </a:solidFill>
                <a:effectLst/>
                <a:latin typeface="inherit"/>
              </a:rPr>
              <a:t>( $ ) Fin de una cadena de caracteres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3B4B1865-F3E8-456D-9E52-0E91A931E8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0931" y="2315538"/>
            <a:ext cx="6800850" cy="3067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537655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4" name="Rectangle 4"/>
          <p:cNvSpPr>
            <a:spLocks noGrp="1" noChangeArrowheads="1"/>
          </p:cNvSpPr>
          <p:nvPr>
            <p:ph type="title"/>
          </p:nvPr>
        </p:nvSpPr>
        <p:spPr>
          <a:xfrm>
            <a:off x="289721" y="4056"/>
            <a:ext cx="8363272" cy="114300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s-MX" b="1" dirty="0" err="1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Metacaracteres</a:t>
            </a:r>
            <a:endParaRPr lang="es-MX" b="1" dirty="0">
              <a:solidFill>
                <a:schemeClr val="accent4">
                  <a:lumMod val="50000"/>
                </a:schemeClr>
              </a:solidFill>
              <a:effectLst>
                <a:outerShdw blurRad="38100" dist="38100" dir="2700000" algn="tl">
                  <a:srgbClr val="C0C0C0"/>
                </a:outerShdw>
              </a:effectLst>
              <a:latin typeface="Dom Casual" charset="0"/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E1C784F4-BDDC-4D50-B8E9-68B91761F76A}"/>
              </a:ext>
            </a:extLst>
          </p:cNvPr>
          <p:cNvSpPr txBox="1"/>
          <p:nvPr/>
        </p:nvSpPr>
        <p:spPr>
          <a:xfrm>
            <a:off x="683568" y="1537713"/>
            <a:ext cx="7920880" cy="5062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20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Si quiero </a:t>
            </a:r>
            <a:r>
              <a:rPr lang="es-ES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que una línea termine con </a:t>
            </a:r>
            <a:r>
              <a:rPr lang="es-ES" sz="20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“Mundo.”</a:t>
            </a:r>
            <a:endParaRPr lang="es-ES" sz="20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0CD01309-A779-489D-9641-3C8825455B71}"/>
              </a:ext>
            </a:extLst>
          </p:cNvPr>
          <p:cNvSpPr txBox="1"/>
          <p:nvPr/>
        </p:nvSpPr>
        <p:spPr>
          <a:xfrm>
            <a:off x="938682" y="962324"/>
            <a:ext cx="7065349" cy="3936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base">
              <a:lnSpc>
                <a:spcPts val="2500"/>
              </a:lnSpc>
              <a:spcAft>
                <a:spcPts val="600"/>
              </a:spcAft>
            </a:pPr>
            <a:r>
              <a:rPr lang="es-ES" b="1" i="0" dirty="0">
                <a:solidFill>
                  <a:schemeClr val="accent6">
                    <a:lumMod val="75000"/>
                  </a:schemeClr>
                </a:solidFill>
                <a:effectLst/>
                <a:latin typeface="inherit"/>
              </a:rPr>
              <a:t>( $ ) Coincide con el </a:t>
            </a:r>
            <a:r>
              <a:rPr lang="es-ES" b="1" dirty="0">
                <a:solidFill>
                  <a:schemeClr val="accent6">
                    <a:lumMod val="75000"/>
                  </a:schemeClr>
                </a:solidFill>
                <a:latin typeface="inherit"/>
              </a:rPr>
              <a:t>final </a:t>
            </a:r>
            <a:r>
              <a:rPr lang="es-ES" b="1" i="0" dirty="0">
                <a:solidFill>
                  <a:schemeClr val="accent6">
                    <a:lumMod val="75000"/>
                  </a:schemeClr>
                </a:solidFill>
                <a:effectLst/>
                <a:latin typeface="inherit"/>
              </a:rPr>
              <a:t>de una cadena de caracteres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D162C75B-E079-4011-A089-37620B49EA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9221" y="2138630"/>
            <a:ext cx="6685558" cy="4325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026993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4" name="Rectangle 4"/>
          <p:cNvSpPr>
            <a:spLocks noGrp="1" noChangeArrowheads="1"/>
          </p:cNvSpPr>
          <p:nvPr>
            <p:ph type="title"/>
          </p:nvPr>
        </p:nvSpPr>
        <p:spPr>
          <a:xfrm>
            <a:off x="289721" y="4056"/>
            <a:ext cx="8363272" cy="114300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s-MX" b="1" dirty="0" err="1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Metacaracteres</a:t>
            </a:r>
            <a:endParaRPr lang="es-MX" b="1" dirty="0">
              <a:solidFill>
                <a:schemeClr val="accent4">
                  <a:lumMod val="50000"/>
                </a:schemeClr>
              </a:solidFill>
              <a:effectLst>
                <a:outerShdw blurRad="38100" dist="38100" dir="2700000" algn="tl">
                  <a:srgbClr val="C0C0C0"/>
                </a:outerShdw>
              </a:effectLst>
              <a:latin typeface="Dom Casual" charset="0"/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E1C784F4-BDDC-4D50-B8E9-68B91761F76A}"/>
              </a:ext>
            </a:extLst>
          </p:cNvPr>
          <p:cNvSpPr txBox="1"/>
          <p:nvPr/>
        </p:nvSpPr>
        <p:spPr>
          <a:xfrm>
            <a:off x="683568" y="1537713"/>
            <a:ext cx="7920880" cy="14296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20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Si quiero </a:t>
            </a:r>
            <a:r>
              <a:rPr lang="es-ES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que una línea termine con </a:t>
            </a:r>
            <a:r>
              <a:rPr lang="es-ES" sz="20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“Mundo.”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Agregar </a:t>
            </a:r>
            <a:r>
              <a:rPr lang="es-ES" sz="20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flag</a:t>
            </a:r>
            <a:r>
              <a:rPr lang="es-ES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s-ES" sz="200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re.M</a:t>
            </a:r>
            <a:r>
              <a:rPr lang="es-ES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para tomar texto multilínea. Que lea cada línea por separado.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0CD01309-A779-489D-9641-3C8825455B71}"/>
              </a:ext>
            </a:extLst>
          </p:cNvPr>
          <p:cNvSpPr txBox="1"/>
          <p:nvPr/>
        </p:nvSpPr>
        <p:spPr>
          <a:xfrm>
            <a:off x="938682" y="962324"/>
            <a:ext cx="7065349" cy="3936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base">
              <a:lnSpc>
                <a:spcPts val="2500"/>
              </a:lnSpc>
              <a:spcAft>
                <a:spcPts val="600"/>
              </a:spcAft>
            </a:pPr>
            <a:r>
              <a:rPr lang="es-ES" b="1" i="0" dirty="0">
                <a:solidFill>
                  <a:schemeClr val="accent6">
                    <a:lumMod val="75000"/>
                  </a:schemeClr>
                </a:solidFill>
                <a:effectLst/>
                <a:latin typeface="inherit"/>
              </a:rPr>
              <a:t>( $ ) Coincide con el final de una cadena de caracteres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9BF02BA4-7F59-41F5-A7CC-189B2F98F9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7210" y="3212976"/>
            <a:ext cx="5788292" cy="30963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065557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4" name="Rectangle 4"/>
          <p:cNvSpPr>
            <a:spLocks noGrp="1" noChangeArrowheads="1"/>
          </p:cNvSpPr>
          <p:nvPr>
            <p:ph type="title"/>
          </p:nvPr>
        </p:nvSpPr>
        <p:spPr>
          <a:xfrm>
            <a:off x="289721" y="4056"/>
            <a:ext cx="8363272" cy="114300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s-MX" b="1" dirty="0" err="1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Metacaracteres</a:t>
            </a:r>
            <a:endParaRPr lang="es-MX" b="1" dirty="0">
              <a:solidFill>
                <a:schemeClr val="accent4">
                  <a:lumMod val="50000"/>
                </a:schemeClr>
              </a:solidFill>
              <a:effectLst>
                <a:outerShdw blurRad="38100" dist="38100" dir="2700000" algn="tl">
                  <a:srgbClr val="C0C0C0"/>
                </a:outerShdw>
              </a:effectLst>
              <a:latin typeface="Dom Casual" charset="0"/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C54CFFB0-D6E7-4679-A6E8-7F8B2E54D6C1}"/>
              </a:ext>
            </a:extLst>
          </p:cNvPr>
          <p:cNvSpPr txBox="1"/>
          <p:nvPr/>
        </p:nvSpPr>
        <p:spPr>
          <a:xfrm>
            <a:off x="2286845" y="950207"/>
            <a:ext cx="4229372" cy="3936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base">
              <a:lnSpc>
                <a:spcPts val="2500"/>
              </a:lnSpc>
              <a:spcAft>
                <a:spcPts val="600"/>
              </a:spcAft>
            </a:pPr>
            <a:r>
              <a:rPr lang="es-ES" b="1" i="0" dirty="0">
                <a:solidFill>
                  <a:schemeClr val="accent6">
                    <a:lumMod val="75000"/>
                  </a:schemeClr>
                </a:solidFill>
                <a:effectLst/>
                <a:latin typeface="inherit"/>
              </a:rPr>
              <a:t>| (</a:t>
            </a:r>
            <a:r>
              <a:rPr lang="es-ES" b="1" i="0" dirty="0" err="1">
                <a:solidFill>
                  <a:schemeClr val="accent6">
                    <a:lumMod val="75000"/>
                  </a:schemeClr>
                </a:solidFill>
                <a:effectLst/>
                <a:latin typeface="inherit"/>
              </a:rPr>
              <a:t>or</a:t>
            </a:r>
            <a:r>
              <a:rPr lang="es-ES" b="1" i="0" dirty="0">
                <a:solidFill>
                  <a:schemeClr val="accent6">
                    <a:lumMod val="75000"/>
                  </a:schemeClr>
                </a:solidFill>
                <a:effectLst/>
                <a:latin typeface="inherit"/>
              </a:rPr>
              <a:t>)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3C2E1319-C186-4202-8393-814D31E5493C}"/>
              </a:ext>
            </a:extLst>
          </p:cNvPr>
          <p:cNvSpPr txBox="1"/>
          <p:nvPr/>
        </p:nvSpPr>
        <p:spPr>
          <a:xfrm>
            <a:off x="611560" y="1583476"/>
            <a:ext cx="7920880" cy="5062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es-ES" sz="2000" b="1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Ejemplo 6: </a:t>
            </a:r>
            <a:r>
              <a:rPr lang="es-ES" sz="20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Letras ma</a:t>
            </a:r>
            <a:r>
              <a:rPr lang="es-ES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yúsculas y minúsculas.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697BE126-2243-4EF3-87E0-59CAAA5065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1559" y="2329338"/>
            <a:ext cx="7591691" cy="33319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15397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4" name="Rectangle 4"/>
          <p:cNvSpPr>
            <a:spLocks noGrp="1" noChangeArrowheads="1"/>
          </p:cNvSpPr>
          <p:nvPr>
            <p:ph type="title"/>
          </p:nvPr>
        </p:nvSpPr>
        <p:spPr>
          <a:xfrm>
            <a:off x="289721" y="4056"/>
            <a:ext cx="8363272" cy="114300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s-MX" b="1" dirty="0" err="1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Metacaracteres</a:t>
            </a:r>
            <a:endParaRPr lang="es-MX" b="1" dirty="0">
              <a:solidFill>
                <a:schemeClr val="accent4">
                  <a:lumMod val="50000"/>
                </a:schemeClr>
              </a:solidFill>
              <a:effectLst>
                <a:outerShdw blurRad="38100" dist="38100" dir="2700000" algn="tl">
                  <a:srgbClr val="C0C0C0"/>
                </a:outerShdw>
              </a:effectLst>
              <a:latin typeface="Dom Casual" charset="0"/>
            </a:endParaRPr>
          </a:p>
        </p:txBody>
      </p:sp>
      <p:graphicFrame>
        <p:nvGraphicFramePr>
          <p:cNvPr id="2" name="Tabla 3">
            <a:extLst>
              <a:ext uri="{FF2B5EF4-FFF2-40B4-BE49-F238E27FC236}">
                <a16:creationId xmlns:a16="http://schemas.microsoft.com/office/drawing/2014/main" id="{293FB511-D00F-4078-ABBF-BE8AC61DEEB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26218149"/>
              </p:ext>
            </p:extLst>
          </p:nvPr>
        </p:nvGraphicFramePr>
        <p:xfrm>
          <a:off x="623291" y="2074792"/>
          <a:ext cx="7897418" cy="3032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14244">
                  <a:extLst>
                    <a:ext uri="{9D8B030D-6E8A-4147-A177-3AD203B41FA5}">
                      <a16:colId xmlns:a16="http://schemas.microsoft.com/office/drawing/2014/main" val="3049714274"/>
                    </a:ext>
                  </a:extLst>
                </a:gridCol>
                <a:gridCol w="5794468">
                  <a:extLst>
                    <a:ext uri="{9D8B030D-6E8A-4147-A177-3AD203B41FA5}">
                      <a16:colId xmlns:a16="http://schemas.microsoft.com/office/drawing/2014/main" val="1816556619"/>
                    </a:ext>
                  </a:extLst>
                </a:gridCol>
                <a:gridCol w="1488706">
                  <a:extLst>
                    <a:ext uri="{9D8B030D-6E8A-4147-A177-3AD203B41FA5}">
                      <a16:colId xmlns:a16="http://schemas.microsoft.com/office/drawing/2014/main" val="198738568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MC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Descripción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Ejemplo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217371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0 o más repeticiones de la expresión regular precedente.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.*</a:t>
                      </a:r>
                      <a:r>
                        <a:rPr lang="es-MX" dirty="0" err="1"/>
                        <a:t>er</a:t>
                      </a:r>
                      <a:endParaRPr lang="es-MX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47033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1 o más repeticiones de la expresión regular precedente. salto de línea.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.+</a:t>
                      </a:r>
                      <a:r>
                        <a:rPr lang="es-MX" dirty="0" err="1"/>
                        <a:t>er</a:t>
                      </a:r>
                      <a:endParaRPr lang="es-MX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45402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{}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Número exacto de repeticiones. Puede tener número máximo y mínimo.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.{5}</a:t>
                      </a:r>
                      <a:r>
                        <a:rPr lang="es-MX" dirty="0" err="1"/>
                        <a:t>er</a:t>
                      </a:r>
                      <a:endParaRPr lang="es-MX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60420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0 o 1 repetición de la expresión regular precedente. Prioriza el mínimo.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&lt;.*?&gt;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63229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Capturar y agrupar.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2155513"/>
                  </a:ext>
                </a:extLst>
              </a:tr>
            </a:tbl>
          </a:graphicData>
        </a:graphic>
      </p:graphicFrame>
      <p:sp>
        <p:nvSpPr>
          <p:cNvPr id="7" name="CuadroTexto 6">
            <a:extLst>
              <a:ext uri="{FF2B5EF4-FFF2-40B4-BE49-F238E27FC236}">
                <a16:creationId xmlns:a16="http://schemas.microsoft.com/office/drawing/2014/main" id="{7E7310A2-6DD6-4A42-8090-574E0BE400D7}"/>
              </a:ext>
            </a:extLst>
          </p:cNvPr>
          <p:cNvSpPr txBox="1"/>
          <p:nvPr/>
        </p:nvSpPr>
        <p:spPr>
          <a:xfrm>
            <a:off x="2123728" y="939034"/>
            <a:ext cx="4824536" cy="4017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base">
              <a:lnSpc>
                <a:spcPts val="2500"/>
              </a:lnSpc>
              <a:spcAft>
                <a:spcPts val="1200"/>
              </a:spcAft>
            </a:pPr>
            <a:r>
              <a:rPr lang="es-ES" b="1" i="0" dirty="0">
                <a:solidFill>
                  <a:schemeClr val="accent6">
                    <a:lumMod val="75000"/>
                  </a:schemeClr>
                </a:solidFill>
                <a:effectLst/>
                <a:latin typeface="inherit"/>
              </a:rPr>
              <a:t>Son caracteres con un significado especial.</a:t>
            </a:r>
          </a:p>
        </p:txBody>
      </p:sp>
    </p:spTree>
    <p:extLst>
      <p:ext uri="{BB962C8B-B14F-4D97-AF65-F5344CB8AC3E}">
        <p14:creationId xmlns:p14="http://schemas.microsoft.com/office/powerpoint/2010/main" val="216438254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4" name="Rectangle 4"/>
          <p:cNvSpPr>
            <a:spLocks noGrp="1" noChangeArrowheads="1"/>
          </p:cNvSpPr>
          <p:nvPr>
            <p:ph type="title"/>
          </p:nvPr>
        </p:nvSpPr>
        <p:spPr>
          <a:xfrm>
            <a:off x="289721" y="4056"/>
            <a:ext cx="8363272" cy="114300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s-MX" b="1" dirty="0" err="1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Metacaracteres</a:t>
            </a:r>
            <a:endParaRPr lang="es-MX" b="1" dirty="0">
              <a:solidFill>
                <a:schemeClr val="accent4">
                  <a:lumMod val="50000"/>
                </a:schemeClr>
              </a:solidFill>
              <a:effectLst>
                <a:outerShdw blurRad="38100" dist="38100" dir="2700000" algn="tl">
                  <a:srgbClr val="C0C0C0"/>
                </a:outerShdw>
              </a:effectLst>
              <a:latin typeface="Dom Casual" charset="0"/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C54CFFB0-D6E7-4679-A6E8-7F8B2E54D6C1}"/>
              </a:ext>
            </a:extLst>
          </p:cNvPr>
          <p:cNvSpPr txBox="1"/>
          <p:nvPr/>
        </p:nvSpPr>
        <p:spPr>
          <a:xfrm>
            <a:off x="2286845" y="950207"/>
            <a:ext cx="4229372" cy="7142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base">
              <a:lnSpc>
                <a:spcPts val="2500"/>
              </a:lnSpc>
              <a:spcAft>
                <a:spcPts val="600"/>
              </a:spcAft>
            </a:pPr>
            <a:r>
              <a:rPr lang="es-ES" b="1" i="0" dirty="0">
                <a:solidFill>
                  <a:schemeClr val="accent6">
                    <a:lumMod val="75000"/>
                  </a:schemeClr>
                </a:solidFill>
                <a:effectLst/>
                <a:latin typeface="inherit"/>
              </a:rPr>
              <a:t>+ Definen </a:t>
            </a:r>
            <a:r>
              <a:rPr lang="es-ES" b="1" dirty="0">
                <a:solidFill>
                  <a:schemeClr val="accent6">
                    <a:lumMod val="75000"/>
                  </a:schemeClr>
                </a:solidFill>
                <a:latin typeface="inherit"/>
              </a:rPr>
              <a:t>el número de </a:t>
            </a:r>
            <a:r>
              <a:rPr lang="es-ES" b="1" i="0" dirty="0">
                <a:solidFill>
                  <a:schemeClr val="accent6">
                    <a:lumMod val="75000"/>
                  </a:schemeClr>
                </a:solidFill>
                <a:effectLst/>
                <a:latin typeface="inherit"/>
              </a:rPr>
              <a:t>repeticiones de la expresión regular precedente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3C2E1319-C186-4202-8393-814D31E5493C}"/>
              </a:ext>
            </a:extLst>
          </p:cNvPr>
          <p:cNvSpPr txBox="1"/>
          <p:nvPr/>
        </p:nvSpPr>
        <p:spPr>
          <a:xfrm>
            <a:off x="611560" y="1583476"/>
            <a:ext cx="7920880" cy="5062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es-ES" sz="2000" b="1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Ejemplo 1:</a:t>
            </a:r>
            <a:endParaRPr lang="es-ES" sz="20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0" name="Abrir llave 9">
            <a:extLst>
              <a:ext uri="{FF2B5EF4-FFF2-40B4-BE49-F238E27FC236}">
                <a16:creationId xmlns:a16="http://schemas.microsoft.com/office/drawing/2014/main" id="{F795473D-90D4-4794-8F57-1F88444BF981}"/>
              </a:ext>
            </a:extLst>
          </p:cNvPr>
          <p:cNvSpPr/>
          <p:nvPr/>
        </p:nvSpPr>
        <p:spPr>
          <a:xfrm rot="16200000">
            <a:off x="7328241" y="5006428"/>
            <a:ext cx="242932" cy="293259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85E1941A-2DA6-443A-9843-A084D86AC459}"/>
              </a:ext>
            </a:extLst>
          </p:cNvPr>
          <p:cNvSpPr txBox="1"/>
          <p:nvPr/>
        </p:nvSpPr>
        <p:spPr>
          <a:xfrm>
            <a:off x="611560" y="2089768"/>
            <a:ext cx="8238566" cy="3869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ts val="2500"/>
              </a:lnSpc>
            </a:pPr>
            <a:r>
              <a:rPr lang="es-ES" sz="1600" b="0" i="0" dirty="0">
                <a:solidFill>
                  <a:srgbClr val="333333"/>
                </a:solidFill>
                <a:effectLst/>
              </a:rPr>
              <a:t>Una palabra que tenga cualquier carácter repetido una o más veces y que luego le siga un </a:t>
            </a:r>
            <a:r>
              <a:rPr lang="es-ES" sz="1600" b="1" i="0" dirty="0" err="1">
                <a:solidFill>
                  <a:srgbClr val="333333"/>
                </a:solidFill>
                <a:effectLst/>
              </a:rPr>
              <a:t>er</a:t>
            </a:r>
            <a:r>
              <a:rPr lang="es-ES" sz="1600" b="0" i="0" dirty="0">
                <a:solidFill>
                  <a:srgbClr val="333333"/>
                </a:solidFill>
                <a:effectLst/>
              </a:rPr>
              <a:t>.</a:t>
            </a:r>
            <a:endParaRPr lang="es-ES" sz="1600" b="0" i="0" dirty="0">
              <a:solidFill>
                <a:srgbClr val="AAAAAA"/>
              </a:solidFill>
              <a:effectLst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CECD0519-2338-4AE2-9EF8-11FC5840CA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5576" y="2780928"/>
            <a:ext cx="7038975" cy="2800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391417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4" name="Rectangle 4"/>
          <p:cNvSpPr>
            <a:spLocks noGrp="1" noChangeArrowheads="1"/>
          </p:cNvSpPr>
          <p:nvPr>
            <p:ph type="title"/>
          </p:nvPr>
        </p:nvSpPr>
        <p:spPr>
          <a:xfrm>
            <a:off x="289721" y="4056"/>
            <a:ext cx="8363272" cy="114300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s-MX" b="1" dirty="0" err="1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Metacaracteres</a:t>
            </a:r>
            <a:endParaRPr lang="es-MX" b="1" dirty="0">
              <a:solidFill>
                <a:schemeClr val="accent4">
                  <a:lumMod val="50000"/>
                </a:schemeClr>
              </a:solidFill>
              <a:effectLst>
                <a:outerShdw blurRad="38100" dist="38100" dir="2700000" algn="tl">
                  <a:srgbClr val="C0C0C0"/>
                </a:outerShdw>
              </a:effectLst>
              <a:latin typeface="Dom Casual" charset="0"/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C54CFFB0-D6E7-4679-A6E8-7F8B2E54D6C1}"/>
              </a:ext>
            </a:extLst>
          </p:cNvPr>
          <p:cNvSpPr txBox="1"/>
          <p:nvPr/>
        </p:nvSpPr>
        <p:spPr>
          <a:xfrm>
            <a:off x="2286845" y="950207"/>
            <a:ext cx="4229372" cy="7142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base">
              <a:lnSpc>
                <a:spcPts val="2500"/>
              </a:lnSpc>
              <a:spcAft>
                <a:spcPts val="600"/>
              </a:spcAft>
            </a:pPr>
            <a:r>
              <a:rPr lang="es-ES" b="1" i="0" dirty="0">
                <a:solidFill>
                  <a:schemeClr val="accent6">
                    <a:lumMod val="75000"/>
                  </a:schemeClr>
                </a:solidFill>
                <a:effectLst/>
                <a:latin typeface="inherit"/>
              </a:rPr>
              <a:t> + Definen </a:t>
            </a:r>
            <a:r>
              <a:rPr lang="es-ES" b="1" dirty="0">
                <a:solidFill>
                  <a:schemeClr val="accent6">
                    <a:lumMod val="75000"/>
                  </a:schemeClr>
                </a:solidFill>
                <a:latin typeface="inherit"/>
              </a:rPr>
              <a:t>el número de </a:t>
            </a:r>
            <a:r>
              <a:rPr lang="es-ES" b="1" i="0" dirty="0">
                <a:solidFill>
                  <a:schemeClr val="accent6">
                    <a:lumMod val="75000"/>
                  </a:schemeClr>
                </a:solidFill>
                <a:effectLst/>
                <a:latin typeface="inherit"/>
              </a:rPr>
              <a:t>repeticiones de la expresión regular precedente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3C2E1319-C186-4202-8393-814D31E5493C}"/>
              </a:ext>
            </a:extLst>
          </p:cNvPr>
          <p:cNvSpPr txBox="1"/>
          <p:nvPr/>
        </p:nvSpPr>
        <p:spPr>
          <a:xfrm>
            <a:off x="611560" y="1583476"/>
            <a:ext cx="7920880" cy="5062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es-ES" sz="2000" b="1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Ejemplo 2:</a:t>
            </a:r>
            <a:endParaRPr lang="es-ES" sz="20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0" name="Abrir llave 9">
            <a:extLst>
              <a:ext uri="{FF2B5EF4-FFF2-40B4-BE49-F238E27FC236}">
                <a16:creationId xmlns:a16="http://schemas.microsoft.com/office/drawing/2014/main" id="{F795473D-90D4-4794-8F57-1F88444BF981}"/>
              </a:ext>
            </a:extLst>
          </p:cNvPr>
          <p:cNvSpPr/>
          <p:nvPr/>
        </p:nvSpPr>
        <p:spPr>
          <a:xfrm rot="16200000">
            <a:off x="7328241" y="5006428"/>
            <a:ext cx="242932" cy="293259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85E1941A-2DA6-443A-9843-A084D86AC459}"/>
              </a:ext>
            </a:extLst>
          </p:cNvPr>
          <p:cNvSpPr txBox="1"/>
          <p:nvPr/>
        </p:nvSpPr>
        <p:spPr>
          <a:xfrm>
            <a:off x="611560" y="2089768"/>
            <a:ext cx="8041433" cy="7075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ts val="2500"/>
              </a:lnSpc>
            </a:pPr>
            <a:r>
              <a:rPr lang="es-ES" sz="1600" b="0" i="0" dirty="0">
                <a:solidFill>
                  <a:srgbClr val="333333"/>
                </a:solidFill>
                <a:effectLst/>
              </a:rPr>
              <a:t>Una palabra que tenga cualquier tipo de caracteres repetido una o más veces y que luego le siga un </a:t>
            </a:r>
            <a:r>
              <a:rPr lang="es-ES" sz="1600" b="1" i="0" dirty="0" err="1">
                <a:solidFill>
                  <a:srgbClr val="333333"/>
                </a:solidFill>
                <a:effectLst/>
              </a:rPr>
              <a:t>er</a:t>
            </a:r>
            <a:r>
              <a:rPr lang="es-ES" sz="1600" b="0" i="0" dirty="0">
                <a:solidFill>
                  <a:srgbClr val="333333"/>
                </a:solidFill>
                <a:effectLst/>
              </a:rPr>
              <a:t>.</a:t>
            </a:r>
            <a:endParaRPr lang="es-ES" sz="1600" b="0" i="0" dirty="0">
              <a:solidFill>
                <a:srgbClr val="AAAAAA"/>
              </a:solidFill>
              <a:effectLst/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2EFDE507-6CDB-4252-9C26-27D007FDAA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620" y="2924944"/>
            <a:ext cx="7038975" cy="3686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59187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4" name="Rectangle 4"/>
          <p:cNvSpPr>
            <a:spLocks noGrp="1" noChangeArrowheads="1"/>
          </p:cNvSpPr>
          <p:nvPr>
            <p:ph type="title"/>
          </p:nvPr>
        </p:nvSpPr>
        <p:spPr>
          <a:xfrm>
            <a:off x="289721" y="4056"/>
            <a:ext cx="8363272" cy="114300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s-MX" b="1" dirty="0" err="1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Metacaracteres</a:t>
            </a:r>
            <a:endParaRPr lang="es-MX" b="1" dirty="0">
              <a:solidFill>
                <a:schemeClr val="accent4">
                  <a:lumMod val="50000"/>
                </a:schemeClr>
              </a:solidFill>
              <a:effectLst>
                <a:outerShdw blurRad="38100" dist="38100" dir="2700000" algn="tl">
                  <a:srgbClr val="C0C0C0"/>
                </a:outerShdw>
              </a:effectLst>
              <a:latin typeface="Dom Casual" charset="0"/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C54CFFB0-D6E7-4679-A6E8-7F8B2E54D6C1}"/>
              </a:ext>
            </a:extLst>
          </p:cNvPr>
          <p:cNvSpPr txBox="1"/>
          <p:nvPr/>
        </p:nvSpPr>
        <p:spPr>
          <a:xfrm>
            <a:off x="2286845" y="950207"/>
            <a:ext cx="4229372" cy="7142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base">
              <a:lnSpc>
                <a:spcPts val="2500"/>
              </a:lnSpc>
              <a:spcAft>
                <a:spcPts val="600"/>
              </a:spcAft>
            </a:pPr>
            <a:r>
              <a:rPr lang="es-ES" b="1" dirty="0">
                <a:solidFill>
                  <a:schemeClr val="accent6">
                    <a:lumMod val="75000"/>
                  </a:schemeClr>
                </a:solidFill>
                <a:latin typeface="inherit"/>
              </a:rPr>
              <a:t> </a:t>
            </a:r>
            <a:r>
              <a:rPr lang="es-ES" b="1" i="0" dirty="0">
                <a:solidFill>
                  <a:schemeClr val="accent6">
                    <a:lumMod val="75000"/>
                  </a:schemeClr>
                </a:solidFill>
                <a:effectLst/>
                <a:latin typeface="inherit"/>
              </a:rPr>
              <a:t>+ Definen </a:t>
            </a:r>
            <a:r>
              <a:rPr lang="es-ES" b="1" dirty="0">
                <a:solidFill>
                  <a:schemeClr val="accent6">
                    <a:lumMod val="75000"/>
                  </a:schemeClr>
                </a:solidFill>
                <a:latin typeface="inherit"/>
              </a:rPr>
              <a:t>el número de </a:t>
            </a:r>
            <a:r>
              <a:rPr lang="es-ES" b="1" i="0" dirty="0">
                <a:solidFill>
                  <a:schemeClr val="accent6">
                    <a:lumMod val="75000"/>
                  </a:schemeClr>
                </a:solidFill>
                <a:effectLst/>
                <a:latin typeface="inherit"/>
              </a:rPr>
              <a:t>repeticiones de la expresión regular precedente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3C2E1319-C186-4202-8393-814D31E5493C}"/>
              </a:ext>
            </a:extLst>
          </p:cNvPr>
          <p:cNvSpPr txBox="1"/>
          <p:nvPr/>
        </p:nvSpPr>
        <p:spPr>
          <a:xfrm>
            <a:off x="611560" y="1583476"/>
            <a:ext cx="7920880" cy="5062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es-ES" sz="2000" b="1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Ejemplo 3:</a:t>
            </a:r>
            <a:endParaRPr lang="es-ES" sz="20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0" name="Abrir llave 9">
            <a:extLst>
              <a:ext uri="{FF2B5EF4-FFF2-40B4-BE49-F238E27FC236}">
                <a16:creationId xmlns:a16="http://schemas.microsoft.com/office/drawing/2014/main" id="{F795473D-90D4-4794-8F57-1F88444BF981}"/>
              </a:ext>
            </a:extLst>
          </p:cNvPr>
          <p:cNvSpPr/>
          <p:nvPr/>
        </p:nvSpPr>
        <p:spPr>
          <a:xfrm rot="16200000">
            <a:off x="7328241" y="5006428"/>
            <a:ext cx="242932" cy="293259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85E1941A-2DA6-443A-9843-A084D86AC459}"/>
              </a:ext>
            </a:extLst>
          </p:cNvPr>
          <p:cNvSpPr txBox="1"/>
          <p:nvPr/>
        </p:nvSpPr>
        <p:spPr>
          <a:xfrm>
            <a:off x="611560" y="2089768"/>
            <a:ext cx="8041433" cy="7075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ts val="2500"/>
              </a:lnSpc>
            </a:pPr>
            <a:r>
              <a:rPr lang="es-ES" sz="1600" b="0" i="0" dirty="0">
                <a:solidFill>
                  <a:srgbClr val="333333"/>
                </a:solidFill>
                <a:effectLst/>
              </a:rPr>
              <a:t>Palabras que tengan caracteres de la ‘a’ a la ‘z’ repetidos una o más veces y que luego le siga un </a:t>
            </a:r>
            <a:r>
              <a:rPr lang="es-ES" sz="1600" b="1" i="0" dirty="0" err="1">
                <a:solidFill>
                  <a:srgbClr val="333333"/>
                </a:solidFill>
                <a:effectLst/>
              </a:rPr>
              <a:t>er</a:t>
            </a:r>
            <a:r>
              <a:rPr lang="es-ES" sz="1600" b="0" i="0" dirty="0">
                <a:solidFill>
                  <a:srgbClr val="333333"/>
                </a:solidFill>
                <a:effectLst/>
              </a:rPr>
              <a:t>.</a:t>
            </a:r>
            <a:endParaRPr lang="es-ES" sz="1600" b="0" i="0" dirty="0">
              <a:solidFill>
                <a:srgbClr val="AAAAAA"/>
              </a:solidFill>
              <a:effectLst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367D6562-FC96-4812-A5D3-7044AF6375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406" y="3026677"/>
            <a:ext cx="8010163" cy="26345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958403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4" name="Rectangle 4"/>
          <p:cNvSpPr>
            <a:spLocks noGrp="1" noChangeArrowheads="1"/>
          </p:cNvSpPr>
          <p:nvPr>
            <p:ph type="title"/>
          </p:nvPr>
        </p:nvSpPr>
        <p:spPr>
          <a:xfrm>
            <a:off x="289721" y="4056"/>
            <a:ext cx="8363272" cy="114300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s-MX" b="1" dirty="0" err="1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Metacaracteres</a:t>
            </a:r>
            <a:endParaRPr lang="es-MX" b="1" dirty="0">
              <a:solidFill>
                <a:schemeClr val="accent4">
                  <a:lumMod val="50000"/>
                </a:schemeClr>
              </a:solidFill>
              <a:effectLst>
                <a:outerShdw blurRad="38100" dist="38100" dir="2700000" algn="tl">
                  <a:srgbClr val="C0C0C0"/>
                </a:outerShdw>
              </a:effectLst>
              <a:latin typeface="Dom Casual" charset="0"/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C54CFFB0-D6E7-4679-A6E8-7F8B2E54D6C1}"/>
              </a:ext>
            </a:extLst>
          </p:cNvPr>
          <p:cNvSpPr txBox="1"/>
          <p:nvPr/>
        </p:nvSpPr>
        <p:spPr>
          <a:xfrm>
            <a:off x="2051720" y="950207"/>
            <a:ext cx="4680520" cy="7142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base">
              <a:lnSpc>
                <a:spcPts val="2500"/>
              </a:lnSpc>
              <a:spcAft>
                <a:spcPts val="600"/>
              </a:spcAft>
            </a:pPr>
            <a:r>
              <a:rPr lang="es-ES" b="1" dirty="0">
                <a:solidFill>
                  <a:schemeClr val="accent6">
                    <a:lumMod val="75000"/>
                  </a:schemeClr>
                </a:solidFill>
                <a:latin typeface="inherit"/>
              </a:rPr>
              <a:t> </a:t>
            </a:r>
            <a:r>
              <a:rPr lang="es-ES" b="1" i="0" dirty="0">
                <a:solidFill>
                  <a:schemeClr val="accent6">
                    <a:lumMod val="75000"/>
                  </a:schemeClr>
                </a:solidFill>
                <a:effectLst/>
                <a:latin typeface="inherit"/>
              </a:rPr>
              <a:t>{} Definen </a:t>
            </a:r>
            <a:r>
              <a:rPr lang="es-ES" b="1" dirty="0">
                <a:solidFill>
                  <a:schemeClr val="accent6">
                    <a:lumMod val="75000"/>
                  </a:schemeClr>
                </a:solidFill>
                <a:latin typeface="inherit"/>
              </a:rPr>
              <a:t>el número exacto de </a:t>
            </a:r>
            <a:r>
              <a:rPr lang="es-ES" b="1" i="0" dirty="0">
                <a:solidFill>
                  <a:schemeClr val="accent6">
                    <a:lumMod val="75000"/>
                  </a:schemeClr>
                </a:solidFill>
                <a:effectLst/>
                <a:latin typeface="inherit"/>
              </a:rPr>
              <a:t>repeticiones de la expresión regular precedente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3C2E1319-C186-4202-8393-814D31E5493C}"/>
              </a:ext>
            </a:extLst>
          </p:cNvPr>
          <p:cNvSpPr txBox="1"/>
          <p:nvPr/>
        </p:nvSpPr>
        <p:spPr>
          <a:xfrm>
            <a:off x="611560" y="1583476"/>
            <a:ext cx="7920880" cy="5062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es-ES" sz="2000" b="1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Ejemplo 4:</a:t>
            </a:r>
            <a:endParaRPr lang="es-ES" sz="20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0" name="Abrir llave 9">
            <a:extLst>
              <a:ext uri="{FF2B5EF4-FFF2-40B4-BE49-F238E27FC236}">
                <a16:creationId xmlns:a16="http://schemas.microsoft.com/office/drawing/2014/main" id="{F795473D-90D4-4794-8F57-1F88444BF981}"/>
              </a:ext>
            </a:extLst>
          </p:cNvPr>
          <p:cNvSpPr/>
          <p:nvPr/>
        </p:nvSpPr>
        <p:spPr>
          <a:xfrm rot="16200000">
            <a:off x="7328241" y="5006428"/>
            <a:ext cx="242932" cy="293259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85E1941A-2DA6-443A-9843-A084D86AC459}"/>
              </a:ext>
            </a:extLst>
          </p:cNvPr>
          <p:cNvSpPr txBox="1"/>
          <p:nvPr/>
        </p:nvSpPr>
        <p:spPr>
          <a:xfrm>
            <a:off x="611560" y="2089768"/>
            <a:ext cx="8041433" cy="7075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ts val="2500"/>
              </a:lnSpc>
            </a:pPr>
            <a:r>
              <a:rPr lang="es-ES" sz="1600" b="0" i="0" dirty="0">
                <a:solidFill>
                  <a:srgbClr val="333333"/>
                </a:solidFill>
                <a:effectLst/>
              </a:rPr>
              <a:t>Palabras que tengan cuatro caracteres de la ‘a’ a la ‘z’ repetidos una o más veces y que luego le siga un </a:t>
            </a:r>
            <a:r>
              <a:rPr lang="es-ES" sz="1600" b="1" i="0" dirty="0" err="1">
                <a:solidFill>
                  <a:srgbClr val="333333"/>
                </a:solidFill>
                <a:effectLst/>
              </a:rPr>
              <a:t>er</a:t>
            </a:r>
            <a:r>
              <a:rPr lang="es-ES" sz="1600" b="0" i="0" dirty="0">
                <a:solidFill>
                  <a:srgbClr val="333333"/>
                </a:solidFill>
                <a:effectLst/>
              </a:rPr>
              <a:t>.</a:t>
            </a:r>
            <a:endParaRPr lang="es-ES" sz="1600" b="0" i="0" dirty="0">
              <a:solidFill>
                <a:srgbClr val="AAAAAA"/>
              </a:solidFill>
              <a:effectLst/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65576E1C-9BCF-4A1F-AFDE-67E73D9B1B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5576" y="3032480"/>
            <a:ext cx="7399987" cy="25453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398691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4" name="Rectangle 4"/>
          <p:cNvSpPr>
            <a:spLocks noGrp="1" noChangeArrowheads="1"/>
          </p:cNvSpPr>
          <p:nvPr>
            <p:ph type="title"/>
          </p:nvPr>
        </p:nvSpPr>
        <p:spPr>
          <a:xfrm>
            <a:off x="289722" y="332656"/>
            <a:ext cx="8363272" cy="114300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s-MX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Secuencias especiales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A01963C4-5EE1-4A60-85A8-719A3CE36006}"/>
              </a:ext>
            </a:extLst>
          </p:cNvPr>
          <p:cNvSpPr txBox="1"/>
          <p:nvPr/>
        </p:nvSpPr>
        <p:spPr>
          <a:xfrm>
            <a:off x="390364" y="2057342"/>
            <a:ext cx="8363272" cy="2743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ts val="3000"/>
              </a:lnSpc>
            </a:pPr>
            <a:r>
              <a:rPr lang="es-ES" sz="1600" b="1" dirty="0">
                <a:solidFill>
                  <a:srgbClr val="FF0000"/>
                </a:solidFill>
              </a:rPr>
              <a:t>\d    </a:t>
            </a:r>
            <a:r>
              <a:rPr lang="es-ES" sz="1600" dirty="0">
                <a:solidFill>
                  <a:srgbClr val="333333"/>
                </a:solidFill>
              </a:rPr>
              <a:t>Coincide con cualquier dígito decimal. Equivalente a [0-9].</a:t>
            </a:r>
          </a:p>
          <a:p>
            <a:pPr algn="just">
              <a:lnSpc>
                <a:spcPts val="3000"/>
              </a:lnSpc>
            </a:pPr>
            <a:r>
              <a:rPr lang="es-ES" sz="1600" b="1" dirty="0">
                <a:solidFill>
                  <a:srgbClr val="FF0000"/>
                </a:solidFill>
              </a:rPr>
              <a:t>\D    </a:t>
            </a:r>
            <a:r>
              <a:rPr lang="es-ES" sz="1600" dirty="0">
                <a:solidFill>
                  <a:srgbClr val="333333"/>
                </a:solidFill>
              </a:rPr>
              <a:t>Coincide con cualquier carácter que </a:t>
            </a:r>
            <a:r>
              <a:rPr lang="es-ES" sz="1600" b="1" dirty="0">
                <a:solidFill>
                  <a:srgbClr val="333333"/>
                </a:solidFill>
              </a:rPr>
              <a:t>no</a:t>
            </a:r>
            <a:r>
              <a:rPr lang="es-ES" sz="1600" dirty="0">
                <a:solidFill>
                  <a:srgbClr val="333333"/>
                </a:solidFill>
              </a:rPr>
              <a:t> sea un dígito. Equivalente a [^0-9].</a:t>
            </a:r>
          </a:p>
          <a:p>
            <a:pPr algn="just">
              <a:lnSpc>
                <a:spcPts val="3000"/>
              </a:lnSpc>
            </a:pPr>
            <a:r>
              <a:rPr lang="es-ES" sz="1600" b="1" dirty="0">
                <a:solidFill>
                  <a:srgbClr val="FF0000"/>
                </a:solidFill>
              </a:rPr>
              <a:t>\s     </a:t>
            </a:r>
            <a:r>
              <a:rPr lang="es-ES" sz="1600" dirty="0">
                <a:solidFill>
                  <a:srgbClr val="333333"/>
                </a:solidFill>
              </a:rPr>
              <a:t>Coincide con un espacio en blanco.</a:t>
            </a:r>
          </a:p>
          <a:p>
            <a:pPr algn="just">
              <a:lnSpc>
                <a:spcPts val="3000"/>
              </a:lnSpc>
            </a:pPr>
            <a:r>
              <a:rPr lang="es-ES" sz="1600" b="1" dirty="0">
                <a:solidFill>
                  <a:srgbClr val="FF0000"/>
                </a:solidFill>
              </a:rPr>
              <a:t>\S    </a:t>
            </a:r>
            <a:r>
              <a:rPr lang="es-ES" sz="1600" dirty="0">
                <a:solidFill>
                  <a:srgbClr val="333333"/>
                </a:solidFill>
              </a:rPr>
              <a:t>Coincide con cualquier carácter que </a:t>
            </a:r>
            <a:r>
              <a:rPr lang="es-ES" sz="1600" b="1" dirty="0">
                <a:solidFill>
                  <a:srgbClr val="333333"/>
                </a:solidFill>
              </a:rPr>
              <a:t>no</a:t>
            </a:r>
            <a:r>
              <a:rPr lang="es-ES" sz="1600" dirty="0">
                <a:solidFill>
                  <a:srgbClr val="333333"/>
                </a:solidFill>
              </a:rPr>
              <a:t> sea un espacio en blanco. Equivalente a [^ \t\n\r\f\v].</a:t>
            </a:r>
          </a:p>
          <a:p>
            <a:pPr algn="just">
              <a:lnSpc>
                <a:spcPts val="3000"/>
              </a:lnSpc>
            </a:pPr>
            <a:r>
              <a:rPr lang="es-ES" sz="1600" b="1" dirty="0">
                <a:solidFill>
                  <a:srgbClr val="FF0000"/>
                </a:solidFill>
              </a:rPr>
              <a:t>\w   </a:t>
            </a:r>
            <a:r>
              <a:rPr lang="es-ES" sz="1600" dirty="0">
                <a:solidFill>
                  <a:srgbClr val="333333"/>
                </a:solidFill>
              </a:rPr>
              <a:t>Coincide con cualquier carácter alfanumérico e incluye vocales con acentos. Equivalente a [a-zA-Z0-9_].</a:t>
            </a:r>
          </a:p>
          <a:p>
            <a:pPr algn="just">
              <a:lnSpc>
                <a:spcPts val="3000"/>
              </a:lnSpc>
            </a:pPr>
            <a:r>
              <a:rPr lang="es-ES" sz="1600" b="1" dirty="0">
                <a:solidFill>
                  <a:srgbClr val="FF0000"/>
                </a:solidFill>
              </a:rPr>
              <a:t>\W  </a:t>
            </a:r>
            <a:r>
              <a:rPr lang="es-ES" sz="1600" dirty="0">
                <a:solidFill>
                  <a:srgbClr val="333333"/>
                </a:solidFill>
              </a:rPr>
              <a:t>Coincide con cualquier carácter </a:t>
            </a:r>
            <a:r>
              <a:rPr lang="es-ES" sz="1600" b="1" dirty="0">
                <a:solidFill>
                  <a:srgbClr val="333333"/>
                </a:solidFill>
              </a:rPr>
              <a:t>no </a:t>
            </a:r>
            <a:r>
              <a:rPr lang="es-ES" sz="1600" dirty="0">
                <a:solidFill>
                  <a:srgbClr val="333333"/>
                </a:solidFill>
              </a:rPr>
              <a:t>alfanumérico. Equivalente a [^a-zA-Z0-9_].</a:t>
            </a:r>
          </a:p>
        </p:txBody>
      </p:sp>
    </p:spTree>
    <p:extLst>
      <p:ext uri="{BB962C8B-B14F-4D97-AF65-F5344CB8AC3E}">
        <p14:creationId xmlns:p14="http://schemas.microsoft.com/office/powerpoint/2010/main" val="156480455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79573BAB-42E1-0167-AC1B-ED1685C4DC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7863" y="3203973"/>
            <a:ext cx="7762875" cy="3200400"/>
          </a:xfrm>
          <a:prstGeom prst="rect">
            <a:avLst/>
          </a:prstGeom>
        </p:spPr>
      </p:pic>
      <p:sp>
        <p:nvSpPr>
          <p:cNvPr id="184324" name="Rectangle 4"/>
          <p:cNvSpPr>
            <a:spLocks noGrp="1" noChangeArrowheads="1"/>
          </p:cNvSpPr>
          <p:nvPr>
            <p:ph type="title"/>
          </p:nvPr>
        </p:nvSpPr>
        <p:spPr>
          <a:xfrm>
            <a:off x="107504" y="116632"/>
            <a:ext cx="8579296" cy="114300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s-MX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Ejercicio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E9FACE5D-9900-46A2-9420-5388E042012D}"/>
              </a:ext>
            </a:extLst>
          </p:cNvPr>
          <p:cNvSpPr txBox="1"/>
          <p:nvPr/>
        </p:nvSpPr>
        <p:spPr>
          <a:xfrm>
            <a:off x="1115616" y="1000107"/>
            <a:ext cx="6624736" cy="3936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base">
              <a:lnSpc>
                <a:spcPts val="2500"/>
              </a:lnSpc>
              <a:spcAft>
                <a:spcPts val="600"/>
              </a:spcAft>
            </a:pPr>
            <a:r>
              <a:rPr lang="es-ES" b="1" dirty="0">
                <a:solidFill>
                  <a:schemeClr val="accent6">
                    <a:lumMod val="75000"/>
                  </a:schemeClr>
                </a:solidFill>
                <a:latin typeface="inherit"/>
              </a:rPr>
              <a:t>Encontrar puntuaciones</a:t>
            </a:r>
            <a:endParaRPr lang="es-ES" b="1" i="0" dirty="0">
              <a:solidFill>
                <a:schemeClr val="accent6">
                  <a:lumMod val="75000"/>
                </a:schemeClr>
              </a:solidFill>
              <a:effectLst/>
              <a:latin typeface="inherit"/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2B885235-1BFC-4A90-AC93-F12DA30D3529}"/>
              </a:ext>
            </a:extLst>
          </p:cNvPr>
          <p:cNvSpPr txBox="1"/>
          <p:nvPr/>
        </p:nvSpPr>
        <p:spPr>
          <a:xfrm>
            <a:off x="436712" y="1823083"/>
            <a:ext cx="3343200" cy="9679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s-ES" sz="2000" b="1" i="0" dirty="0">
                <a:solidFill>
                  <a:schemeClr val="accent6">
                    <a:lumMod val="75000"/>
                  </a:schemeClr>
                </a:solidFill>
                <a:effectLst/>
              </a:rPr>
              <a:t>\w </a:t>
            </a:r>
            <a:r>
              <a:rPr lang="es-ES" sz="2000" i="0" dirty="0" err="1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Caracte</a:t>
            </a:r>
            <a:r>
              <a:rPr lang="es-ES" sz="20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r</a:t>
            </a:r>
            <a:r>
              <a:rPr lang="es-ES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o guion bajo.</a:t>
            </a:r>
          </a:p>
          <a:p>
            <a:pPr algn="just">
              <a:lnSpc>
                <a:spcPct val="150000"/>
              </a:lnSpc>
            </a:pPr>
            <a:r>
              <a:rPr lang="es-ES" sz="2000" b="1" dirty="0">
                <a:solidFill>
                  <a:schemeClr val="accent6">
                    <a:lumMod val="75000"/>
                  </a:schemeClr>
                </a:solidFill>
              </a:rPr>
              <a:t>\s </a:t>
            </a:r>
            <a:r>
              <a:rPr lang="es-ES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Espacio, </a:t>
            </a:r>
            <a:r>
              <a:rPr lang="es-ES" sz="20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tab</a:t>
            </a:r>
            <a:r>
              <a:rPr lang="es-ES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, salto de línea</a:t>
            </a:r>
            <a:endParaRPr lang="es-ES" sz="20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B9F7E57C-E9F3-4E63-858D-D231EB203AC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79912" y="1762390"/>
            <a:ext cx="5112617" cy="22231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051990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4" name="Rectangle 4"/>
          <p:cNvSpPr>
            <a:spLocks noGrp="1" noChangeArrowheads="1"/>
          </p:cNvSpPr>
          <p:nvPr>
            <p:ph type="title"/>
          </p:nvPr>
        </p:nvSpPr>
        <p:spPr>
          <a:xfrm>
            <a:off x="107504" y="116632"/>
            <a:ext cx="8579296" cy="114300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s-MX" b="1" dirty="0" err="1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Flags</a:t>
            </a:r>
            <a:endParaRPr lang="es-MX" b="1" dirty="0">
              <a:solidFill>
                <a:schemeClr val="accent4">
                  <a:lumMod val="50000"/>
                </a:schemeClr>
              </a:solidFill>
              <a:effectLst>
                <a:outerShdw blurRad="38100" dist="38100" dir="2700000" algn="tl">
                  <a:srgbClr val="C0C0C0"/>
                </a:outerShdw>
              </a:effectLst>
              <a:latin typeface="Dom Casual" charset="0"/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E9FACE5D-9900-46A2-9420-5388E042012D}"/>
              </a:ext>
            </a:extLst>
          </p:cNvPr>
          <p:cNvSpPr txBox="1"/>
          <p:nvPr/>
        </p:nvSpPr>
        <p:spPr>
          <a:xfrm>
            <a:off x="1115616" y="1000107"/>
            <a:ext cx="6624736" cy="3936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base">
              <a:lnSpc>
                <a:spcPts val="2500"/>
              </a:lnSpc>
              <a:spcAft>
                <a:spcPts val="600"/>
              </a:spcAft>
            </a:pPr>
            <a:r>
              <a:rPr lang="es-ES" b="1" dirty="0" err="1">
                <a:solidFill>
                  <a:schemeClr val="accent6">
                    <a:lumMod val="75000"/>
                  </a:schemeClr>
                </a:solidFill>
                <a:latin typeface="inherit"/>
              </a:rPr>
              <a:t>r</a:t>
            </a:r>
            <a:r>
              <a:rPr lang="es-ES" b="1" i="0" dirty="0" err="1">
                <a:solidFill>
                  <a:schemeClr val="accent6">
                    <a:lumMod val="75000"/>
                  </a:schemeClr>
                </a:solidFill>
                <a:effectLst/>
                <a:latin typeface="inherit"/>
              </a:rPr>
              <a:t>e.M</a:t>
            </a:r>
            <a:r>
              <a:rPr lang="es-ES" b="1" i="0" dirty="0">
                <a:solidFill>
                  <a:schemeClr val="accent6">
                    <a:lumMod val="75000"/>
                  </a:schemeClr>
                </a:solidFill>
                <a:effectLst/>
                <a:latin typeface="inherit"/>
              </a:rPr>
              <a:t> Multilínea</a:t>
            </a: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E3840710-FB86-4DB4-A256-41715E3B30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9367" y="3143086"/>
            <a:ext cx="5940985" cy="3063904"/>
          </a:xfrm>
          <a:prstGeom prst="rect">
            <a:avLst/>
          </a:prstGeom>
        </p:spPr>
      </p:pic>
      <p:sp>
        <p:nvSpPr>
          <p:cNvPr id="12" name="CuadroTexto 11">
            <a:extLst>
              <a:ext uri="{FF2B5EF4-FFF2-40B4-BE49-F238E27FC236}">
                <a16:creationId xmlns:a16="http://schemas.microsoft.com/office/drawing/2014/main" id="{2BAA6197-7260-44CA-B670-444DBF97C92D}"/>
              </a:ext>
            </a:extLst>
          </p:cNvPr>
          <p:cNvSpPr txBox="1"/>
          <p:nvPr/>
        </p:nvSpPr>
        <p:spPr>
          <a:xfrm>
            <a:off x="683568" y="1537713"/>
            <a:ext cx="7920880" cy="14296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20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Si quiero </a:t>
            </a:r>
            <a:r>
              <a:rPr lang="es-ES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que una línea termine con </a:t>
            </a:r>
            <a:r>
              <a:rPr lang="es-ES" sz="20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“Mundo.”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Agregar </a:t>
            </a:r>
            <a:r>
              <a:rPr lang="es-ES" sz="20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flag</a:t>
            </a:r>
            <a:r>
              <a:rPr lang="es-ES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s-ES" sz="200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re.M</a:t>
            </a:r>
            <a:r>
              <a:rPr lang="es-ES" sz="20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s-ES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para tomar texto multilínea. Que lea cada línea por separado.</a:t>
            </a:r>
          </a:p>
        </p:txBody>
      </p:sp>
    </p:spTree>
    <p:extLst>
      <p:ext uri="{BB962C8B-B14F-4D97-AF65-F5344CB8AC3E}">
        <p14:creationId xmlns:p14="http://schemas.microsoft.com/office/powerpoint/2010/main" val="269059982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4" name="Rectangle 4"/>
          <p:cNvSpPr>
            <a:spLocks noGrp="1" noChangeArrowheads="1"/>
          </p:cNvSpPr>
          <p:nvPr>
            <p:ph type="title"/>
          </p:nvPr>
        </p:nvSpPr>
        <p:spPr>
          <a:xfrm>
            <a:off x="107504" y="116632"/>
            <a:ext cx="8579296" cy="114300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s-MX" b="1" dirty="0" err="1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Flags</a:t>
            </a:r>
            <a:endParaRPr lang="es-MX" b="1" dirty="0">
              <a:solidFill>
                <a:schemeClr val="accent4">
                  <a:lumMod val="50000"/>
                </a:schemeClr>
              </a:solidFill>
              <a:effectLst>
                <a:outerShdw blurRad="38100" dist="38100" dir="2700000" algn="tl">
                  <a:srgbClr val="C0C0C0"/>
                </a:outerShdw>
              </a:effectLst>
              <a:latin typeface="Dom Casual" charset="0"/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E9FACE5D-9900-46A2-9420-5388E042012D}"/>
              </a:ext>
            </a:extLst>
          </p:cNvPr>
          <p:cNvSpPr txBox="1"/>
          <p:nvPr/>
        </p:nvSpPr>
        <p:spPr>
          <a:xfrm>
            <a:off x="1115616" y="1000107"/>
            <a:ext cx="6624736" cy="3936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base">
              <a:lnSpc>
                <a:spcPts val="2500"/>
              </a:lnSpc>
              <a:spcAft>
                <a:spcPts val="600"/>
              </a:spcAft>
            </a:pPr>
            <a:r>
              <a:rPr lang="es-ES" b="1" dirty="0" err="1">
                <a:solidFill>
                  <a:schemeClr val="accent6">
                    <a:lumMod val="75000"/>
                  </a:schemeClr>
                </a:solidFill>
                <a:latin typeface="inherit"/>
              </a:rPr>
              <a:t>r</a:t>
            </a:r>
            <a:r>
              <a:rPr lang="es-ES" b="1" i="0" dirty="0" err="1">
                <a:solidFill>
                  <a:schemeClr val="accent6">
                    <a:lumMod val="75000"/>
                  </a:schemeClr>
                </a:solidFill>
                <a:effectLst/>
                <a:latin typeface="inherit"/>
              </a:rPr>
              <a:t>e.I</a:t>
            </a:r>
            <a:r>
              <a:rPr lang="es-ES" b="1" i="0" dirty="0">
                <a:solidFill>
                  <a:schemeClr val="accent6">
                    <a:lumMod val="75000"/>
                  </a:schemeClr>
                </a:solidFill>
                <a:effectLst/>
                <a:latin typeface="inherit"/>
              </a:rPr>
              <a:t> (Ignore mayúsculas y minúsculas)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2BAA6197-7260-44CA-B670-444DBF97C92D}"/>
              </a:ext>
            </a:extLst>
          </p:cNvPr>
          <p:cNvSpPr txBox="1"/>
          <p:nvPr/>
        </p:nvSpPr>
        <p:spPr>
          <a:xfrm>
            <a:off x="683568" y="1537713"/>
            <a:ext cx="7920880" cy="9679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20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Si quiero buscar una palabra como </a:t>
            </a:r>
            <a:r>
              <a:rPr lang="es-ES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sin importar que este escrita en mayúsculas o minúsculas.</a:t>
            </a:r>
            <a:r>
              <a:rPr lang="es-ES" sz="20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 </a:t>
            </a:r>
            <a:endParaRPr lang="es-ES" sz="20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E4F092CB-B93F-4FF3-A4E7-1456D0FCEE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81386" y="2819811"/>
            <a:ext cx="5525244" cy="3073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60791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4" name="Rectangle 4"/>
          <p:cNvSpPr>
            <a:spLocks noGrp="1" noChangeArrowheads="1"/>
          </p:cNvSpPr>
          <p:nvPr>
            <p:ph type="title"/>
          </p:nvPr>
        </p:nvSpPr>
        <p:spPr>
          <a:xfrm>
            <a:off x="107504" y="116632"/>
            <a:ext cx="8579296" cy="114300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s-MX" b="1" dirty="0" err="1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Flags</a:t>
            </a:r>
            <a:endParaRPr lang="es-MX" b="1" dirty="0">
              <a:solidFill>
                <a:schemeClr val="accent4">
                  <a:lumMod val="50000"/>
                </a:schemeClr>
              </a:solidFill>
              <a:effectLst>
                <a:outerShdw blurRad="38100" dist="38100" dir="2700000" algn="tl">
                  <a:srgbClr val="C0C0C0"/>
                </a:outerShdw>
              </a:effectLst>
              <a:latin typeface="Dom Casual" charset="0"/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E9FACE5D-9900-46A2-9420-5388E042012D}"/>
              </a:ext>
            </a:extLst>
          </p:cNvPr>
          <p:cNvSpPr txBox="1"/>
          <p:nvPr/>
        </p:nvSpPr>
        <p:spPr>
          <a:xfrm>
            <a:off x="1115616" y="1000107"/>
            <a:ext cx="6624736" cy="3936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base">
              <a:lnSpc>
                <a:spcPts val="2500"/>
              </a:lnSpc>
              <a:spcAft>
                <a:spcPts val="600"/>
              </a:spcAft>
            </a:pPr>
            <a:r>
              <a:rPr lang="es-ES" b="1" dirty="0" err="1">
                <a:solidFill>
                  <a:schemeClr val="accent6">
                    <a:lumMod val="75000"/>
                  </a:schemeClr>
                </a:solidFill>
                <a:latin typeface="inherit"/>
              </a:rPr>
              <a:t>r</a:t>
            </a:r>
            <a:r>
              <a:rPr lang="es-ES" b="1" i="0" dirty="0" err="1">
                <a:solidFill>
                  <a:schemeClr val="accent6">
                    <a:lumMod val="75000"/>
                  </a:schemeClr>
                </a:solidFill>
                <a:effectLst/>
                <a:latin typeface="inherit"/>
              </a:rPr>
              <a:t>e.I</a:t>
            </a:r>
            <a:r>
              <a:rPr lang="es-ES" b="1" i="0" dirty="0">
                <a:solidFill>
                  <a:schemeClr val="accent6">
                    <a:lumMod val="75000"/>
                  </a:schemeClr>
                </a:solidFill>
                <a:effectLst/>
                <a:latin typeface="inherit"/>
              </a:rPr>
              <a:t> (Ignore mayúsculas y minúsculas)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2BAA6197-7260-44CA-B670-444DBF97C92D}"/>
              </a:ext>
            </a:extLst>
          </p:cNvPr>
          <p:cNvSpPr txBox="1"/>
          <p:nvPr/>
        </p:nvSpPr>
        <p:spPr>
          <a:xfrm>
            <a:off x="683568" y="1537713"/>
            <a:ext cx="7920880" cy="9679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20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Si quiero buscar una palabra como </a:t>
            </a:r>
            <a:r>
              <a:rPr lang="es-ES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sin importar que este escrita en mayúsculas o minúsculas.</a:t>
            </a:r>
            <a:r>
              <a:rPr lang="es-ES" sz="20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 </a:t>
            </a:r>
            <a:endParaRPr lang="es-ES" sz="20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CA4000D1-793C-4308-A9B3-DF526B99D3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79712" y="2725806"/>
            <a:ext cx="5955072" cy="32530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577960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218931" y="4978146"/>
            <a:ext cx="684276" cy="59436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3" name="object 3"/>
          <p:cNvSpPr/>
          <p:nvPr/>
        </p:nvSpPr>
        <p:spPr>
          <a:xfrm>
            <a:off x="315468" y="1035558"/>
            <a:ext cx="1089660" cy="94335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4" name="object 4"/>
          <p:cNvSpPr/>
          <p:nvPr/>
        </p:nvSpPr>
        <p:spPr>
          <a:xfrm>
            <a:off x="0" y="1704595"/>
            <a:ext cx="550164" cy="585215"/>
          </a:xfrm>
          <a:custGeom>
            <a:avLst/>
            <a:gdLst/>
            <a:ahLst/>
            <a:cxnLst/>
            <a:rect l="l" t="t" r="r" b="b"/>
            <a:pathLst>
              <a:path w="550164" h="585215">
                <a:moveTo>
                  <a:pt x="0" y="507832"/>
                </a:moveTo>
                <a:lnTo>
                  <a:pt x="44383" y="585215"/>
                </a:lnTo>
                <a:lnTo>
                  <a:pt x="382333" y="585215"/>
                </a:lnTo>
                <a:lnTo>
                  <a:pt x="550164" y="292607"/>
                </a:lnTo>
                <a:lnTo>
                  <a:pt x="382333" y="0"/>
                </a:lnTo>
                <a:lnTo>
                  <a:pt x="44383" y="0"/>
                </a:lnTo>
                <a:lnTo>
                  <a:pt x="0" y="77383"/>
                </a:lnTo>
              </a:path>
            </a:pathLst>
          </a:custGeom>
          <a:ln w="9144">
            <a:solidFill>
              <a:srgbClr val="18BAD4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5" name="object 5"/>
          <p:cNvSpPr/>
          <p:nvPr/>
        </p:nvSpPr>
        <p:spPr>
          <a:xfrm>
            <a:off x="502920" y="2018538"/>
            <a:ext cx="353567" cy="306324"/>
          </a:xfrm>
          <a:custGeom>
            <a:avLst/>
            <a:gdLst/>
            <a:ahLst/>
            <a:cxnLst/>
            <a:rect l="l" t="t" r="r" b="b"/>
            <a:pathLst>
              <a:path w="353568" h="306324">
                <a:moveTo>
                  <a:pt x="265722" y="0"/>
                </a:moveTo>
                <a:lnTo>
                  <a:pt x="87845" y="0"/>
                </a:lnTo>
                <a:lnTo>
                  <a:pt x="0" y="153162"/>
                </a:lnTo>
                <a:lnTo>
                  <a:pt x="87845" y="306324"/>
                </a:lnTo>
                <a:lnTo>
                  <a:pt x="265722" y="306324"/>
                </a:lnTo>
                <a:lnTo>
                  <a:pt x="353567" y="153162"/>
                </a:lnTo>
                <a:lnTo>
                  <a:pt x="265722" y="0"/>
                </a:lnTo>
                <a:close/>
              </a:path>
            </a:pathLst>
          </a:custGeom>
          <a:solidFill>
            <a:srgbClr val="174669"/>
          </a:solid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6" name="object 6"/>
          <p:cNvSpPr/>
          <p:nvPr/>
        </p:nvSpPr>
        <p:spPr>
          <a:xfrm>
            <a:off x="1208533" y="857251"/>
            <a:ext cx="673607" cy="452627"/>
          </a:xfrm>
          <a:custGeom>
            <a:avLst/>
            <a:gdLst/>
            <a:ahLst/>
            <a:cxnLst/>
            <a:rect l="l" t="t" r="r" b="b"/>
            <a:pathLst>
              <a:path w="673607" h="452627">
                <a:moveTo>
                  <a:pt x="0" y="160781"/>
                </a:moveTo>
                <a:lnTo>
                  <a:pt x="167386" y="452627"/>
                </a:lnTo>
                <a:lnTo>
                  <a:pt x="506222" y="452627"/>
                </a:lnTo>
                <a:lnTo>
                  <a:pt x="673607" y="160781"/>
                </a:lnTo>
                <a:lnTo>
                  <a:pt x="581393" y="0"/>
                </a:lnTo>
              </a:path>
            </a:pathLst>
          </a:custGeom>
          <a:ln w="76200">
            <a:solidFill>
              <a:srgbClr val="174669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7" name="object 7"/>
          <p:cNvSpPr/>
          <p:nvPr/>
        </p:nvSpPr>
        <p:spPr>
          <a:xfrm>
            <a:off x="1208532" y="857251"/>
            <a:ext cx="92214" cy="160781"/>
          </a:xfrm>
          <a:custGeom>
            <a:avLst/>
            <a:gdLst/>
            <a:ahLst/>
            <a:cxnLst/>
            <a:rect l="l" t="t" r="r" b="b"/>
            <a:pathLst>
              <a:path w="92214" h="160781">
                <a:moveTo>
                  <a:pt x="92214" y="0"/>
                </a:moveTo>
                <a:lnTo>
                  <a:pt x="0" y="160781"/>
                </a:lnTo>
              </a:path>
            </a:pathLst>
          </a:custGeom>
          <a:ln w="76199">
            <a:solidFill>
              <a:srgbClr val="174669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8" name="object 8"/>
          <p:cNvSpPr/>
          <p:nvPr/>
        </p:nvSpPr>
        <p:spPr>
          <a:xfrm>
            <a:off x="248411" y="907542"/>
            <a:ext cx="294132" cy="254508"/>
          </a:xfrm>
          <a:custGeom>
            <a:avLst/>
            <a:gdLst/>
            <a:ahLst/>
            <a:cxnLst/>
            <a:rect l="l" t="t" r="r" b="b"/>
            <a:pathLst>
              <a:path w="294131" h="254508">
                <a:moveTo>
                  <a:pt x="221145" y="0"/>
                </a:moveTo>
                <a:lnTo>
                  <a:pt x="72986" y="0"/>
                </a:lnTo>
                <a:lnTo>
                  <a:pt x="0" y="127254"/>
                </a:lnTo>
                <a:lnTo>
                  <a:pt x="72986" y="254508"/>
                </a:lnTo>
                <a:lnTo>
                  <a:pt x="221145" y="254508"/>
                </a:lnTo>
                <a:lnTo>
                  <a:pt x="294132" y="127254"/>
                </a:lnTo>
                <a:lnTo>
                  <a:pt x="221145" y="0"/>
                </a:lnTo>
                <a:close/>
              </a:path>
            </a:pathLst>
          </a:custGeom>
          <a:solidFill>
            <a:srgbClr val="00E0C5"/>
          </a:solid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9" name="object 9"/>
          <p:cNvSpPr/>
          <p:nvPr/>
        </p:nvSpPr>
        <p:spPr>
          <a:xfrm>
            <a:off x="8763000" y="5578602"/>
            <a:ext cx="381000" cy="234696"/>
          </a:xfrm>
          <a:custGeom>
            <a:avLst/>
            <a:gdLst/>
            <a:ahLst/>
            <a:cxnLst/>
            <a:rect l="l" t="t" r="r" b="b"/>
            <a:pathLst>
              <a:path w="381000" h="234696">
                <a:moveTo>
                  <a:pt x="0" y="0"/>
                </a:moveTo>
                <a:lnTo>
                  <a:pt x="134620" y="234696"/>
                </a:lnTo>
                <a:lnTo>
                  <a:pt x="381000" y="234696"/>
                </a:lnTo>
              </a:path>
            </a:pathLst>
          </a:custGeom>
          <a:ln w="9144">
            <a:solidFill>
              <a:srgbClr val="174669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10" name="object 10"/>
          <p:cNvSpPr/>
          <p:nvPr/>
        </p:nvSpPr>
        <p:spPr>
          <a:xfrm>
            <a:off x="8763000" y="5343906"/>
            <a:ext cx="381000" cy="234695"/>
          </a:xfrm>
          <a:custGeom>
            <a:avLst/>
            <a:gdLst/>
            <a:ahLst/>
            <a:cxnLst/>
            <a:rect l="l" t="t" r="r" b="b"/>
            <a:pathLst>
              <a:path w="381000" h="234696">
                <a:moveTo>
                  <a:pt x="381000" y="0"/>
                </a:moveTo>
                <a:lnTo>
                  <a:pt x="134620" y="0"/>
                </a:lnTo>
                <a:lnTo>
                  <a:pt x="0" y="234696"/>
                </a:lnTo>
              </a:path>
            </a:pathLst>
          </a:custGeom>
          <a:ln w="9144">
            <a:solidFill>
              <a:srgbClr val="174669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11" name="object 11"/>
          <p:cNvSpPr/>
          <p:nvPr/>
        </p:nvSpPr>
        <p:spPr>
          <a:xfrm>
            <a:off x="8523731" y="5598414"/>
            <a:ext cx="283464" cy="245364"/>
          </a:xfrm>
          <a:custGeom>
            <a:avLst/>
            <a:gdLst/>
            <a:ahLst/>
            <a:cxnLst/>
            <a:rect l="l" t="t" r="r" b="b"/>
            <a:pathLst>
              <a:path w="283464" h="245363">
                <a:moveTo>
                  <a:pt x="213106" y="0"/>
                </a:moveTo>
                <a:lnTo>
                  <a:pt x="70358" y="0"/>
                </a:lnTo>
                <a:lnTo>
                  <a:pt x="0" y="122682"/>
                </a:lnTo>
                <a:lnTo>
                  <a:pt x="70358" y="245364"/>
                </a:lnTo>
                <a:lnTo>
                  <a:pt x="213106" y="245364"/>
                </a:lnTo>
                <a:lnTo>
                  <a:pt x="283464" y="122682"/>
                </a:lnTo>
                <a:lnTo>
                  <a:pt x="213106" y="0"/>
                </a:lnTo>
                <a:close/>
              </a:path>
            </a:pathLst>
          </a:custGeom>
          <a:solidFill>
            <a:srgbClr val="3192E0"/>
          </a:solid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12" name="object 12"/>
          <p:cNvSpPr/>
          <p:nvPr/>
        </p:nvSpPr>
        <p:spPr>
          <a:xfrm>
            <a:off x="8322565" y="4485894"/>
            <a:ext cx="542543" cy="469392"/>
          </a:xfrm>
          <a:custGeom>
            <a:avLst/>
            <a:gdLst/>
            <a:ahLst/>
            <a:cxnLst/>
            <a:rect l="l" t="t" r="r" b="b"/>
            <a:pathLst>
              <a:path w="542543" h="469392">
                <a:moveTo>
                  <a:pt x="407924" y="0"/>
                </a:moveTo>
                <a:lnTo>
                  <a:pt x="134619" y="0"/>
                </a:lnTo>
                <a:lnTo>
                  <a:pt x="0" y="234695"/>
                </a:lnTo>
                <a:lnTo>
                  <a:pt x="134619" y="469391"/>
                </a:lnTo>
                <a:lnTo>
                  <a:pt x="407924" y="469391"/>
                </a:lnTo>
                <a:lnTo>
                  <a:pt x="542543" y="234695"/>
                </a:lnTo>
                <a:lnTo>
                  <a:pt x="407924" y="0"/>
                </a:lnTo>
                <a:close/>
              </a:path>
            </a:pathLst>
          </a:custGeom>
          <a:solidFill>
            <a:srgbClr val="174669"/>
          </a:solid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13" name="object 13"/>
          <p:cNvSpPr/>
          <p:nvPr/>
        </p:nvSpPr>
        <p:spPr>
          <a:xfrm>
            <a:off x="8763761" y="4867655"/>
            <a:ext cx="237744" cy="205740"/>
          </a:xfrm>
          <a:custGeom>
            <a:avLst/>
            <a:gdLst/>
            <a:ahLst/>
            <a:cxnLst/>
            <a:rect l="l" t="t" r="r" b="b"/>
            <a:pathLst>
              <a:path w="237744" h="205739">
                <a:moveTo>
                  <a:pt x="0" y="102870"/>
                </a:moveTo>
                <a:lnTo>
                  <a:pt x="59055" y="205740"/>
                </a:lnTo>
                <a:lnTo>
                  <a:pt x="178689" y="205740"/>
                </a:lnTo>
                <a:lnTo>
                  <a:pt x="237744" y="102870"/>
                </a:lnTo>
                <a:lnTo>
                  <a:pt x="178689" y="0"/>
                </a:lnTo>
                <a:lnTo>
                  <a:pt x="59055" y="0"/>
                </a:lnTo>
                <a:lnTo>
                  <a:pt x="0" y="102870"/>
                </a:lnTo>
                <a:close/>
              </a:path>
            </a:pathLst>
          </a:custGeom>
          <a:ln w="19811">
            <a:solidFill>
              <a:srgbClr val="00E0C5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14" name="object 14"/>
          <p:cNvSpPr/>
          <p:nvPr/>
        </p:nvSpPr>
        <p:spPr>
          <a:xfrm>
            <a:off x="909827" y="1533905"/>
            <a:ext cx="2142744" cy="1856232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15" name="object 15"/>
          <p:cNvSpPr txBox="1"/>
          <p:nvPr/>
        </p:nvSpPr>
        <p:spPr>
          <a:xfrm>
            <a:off x="3232150" y="1996821"/>
            <a:ext cx="3932138" cy="1283335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/>
            <a:r>
              <a:rPr sz="8000" b="1" dirty="0">
                <a:solidFill>
                  <a:srgbClr val="002060"/>
                </a:solidFill>
                <a:latin typeface="Calibri"/>
                <a:cs typeface="Calibri"/>
              </a:rPr>
              <a:t>Gracias</a:t>
            </a:r>
          </a:p>
        </p:txBody>
      </p:sp>
      <p:sp>
        <p:nvSpPr>
          <p:cNvPr id="16" name="object 16"/>
          <p:cNvSpPr/>
          <p:nvPr/>
        </p:nvSpPr>
        <p:spPr>
          <a:xfrm>
            <a:off x="1591055" y="2070353"/>
            <a:ext cx="780288" cy="778764"/>
          </a:xfrm>
          <a:custGeom>
            <a:avLst/>
            <a:gdLst/>
            <a:ahLst/>
            <a:cxnLst/>
            <a:rect l="l" t="t" r="r" b="b"/>
            <a:pathLst>
              <a:path w="780288" h="778764">
                <a:moveTo>
                  <a:pt x="410082" y="0"/>
                </a:moveTo>
                <a:lnTo>
                  <a:pt x="370205" y="0"/>
                </a:lnTo>
                <a:lnTo>
                  <a:pt x="311657" y="7493"/>
                </a:lnTo>
                <a:lnTo>
                  <a:pt x="274193" y="17525"/>
                </a:lnTo>
                <a:lnTo>
                  <a:pt x="255524" y="23622"/>
                </a:lnTo>
                <a:lnTo>
                  <a:pt x="220599" y="38608"/>
                </a:lnTo>
                <a:lnTo>
                  <a:pt x="204469" y="47371"/>
                </a:lnTo>
                <a:lnTo>
                  <a:pt x="188213" y="56007"/>
                </a:lnTo>
                <a:lnTo>
                  <a:pt x="142112" y="88392"/>
                </a:lnTo>
                <a:lnTo>
                  <a:pt x="100964" y="128143"/>
                </a:lnTo>
                <a:lnTo>
                  <a:pt x="66039" y="171704"/>
                </a:lnTo>
                <a:lnTo>
                  <a:pt x="38735" y="220218"/>
                </a:lnTo>
                <a:lnTo>
                  <a:pt x="17399" y="273685"/>
                </a:lnTo>
                <a:lnTo>
                  <a:pt x="7493" y="311023"/>
                </a:lnTo>
                <a:lnTo>
                  <a:pt x="2540" y="349631"/>
                </a:lnTo>
                <a:lnTo>
                  <a:pt x="0" y="369570"/>
                </a:lnTo>
                <a:lnTo>
                  <a:pt x="0" y="409321"/>
                </a:lnTo>
                <a:lnTo>
                  <a:pt x="2540" y="429260"/>
                </a:lnTo>
                <a:lnTo>
                  <a:pt x="4953" y="449072"/>
                </a:lnTo>
                <a:lnTo>
                  <a:pt x="17399" y="505079"/>
                </a:lnTo>
                <a:lnTo>
                  <a:pt x="38735" y="558546"/>
                </a:lnTo>
                <a:lnTo>
                  <a:pt x="66039" y="607060"/>
                </a:lnTo>
                <a:lnTo>
                  <a:pt x="100964" y="650621"/>
                </a:lnTo>
                <a:lnTo>
                  <a:pt x="128396" y="677926"/>
                </a:lnTo>
                <a:lnTo>
                  <a:pt x="172085" y="712851"/>
                </a:lnTo>
                <a:lnTo>
                  <a:pt x="220599" y="740156"/>
                </a:lnTo>
                <a:lnTo>
                  <a:pt x="274193" y="761365"/>
                </a:lnTo>
                <a:lnTo>
                  <a:pt x="311657" y="771271"/>
                </a:lnTo>
                <a:lnTo>
                  <a:pt x="370205" y="778764"/>
                </a:lnTo>
                <a:lnTo>
                  <a:pt x="410082" y="778764"/>
                </a:lnTo>
                <a:lnTo>
                  <a:pt x="449961" y="773811"/>
                </a:lnTo>
                <a:lnTo>
                  <a:pt x="506094" y="761365"/>
                </a:lnTo>
                <a:lnTo>
                  <a:pt x="559562" y="740156"/>
                </a:lnTo>
                <a:lnTo>
                  <a:pt x="608202" y="712851"/>
                </a:lnTo>
                <a:lnTo>
                  <a:pt x="651891" y="677926"/>
                </a:lnTo>
                <a:lnTo>
                  <a:pt x="679323" y="650621"/>
                </a:lnTo>
                <a:lnTo>
                  <a:pt x="682664" y="646938"/>
                </a:lnTo>
                <a:lnTo>
                  <a:pt x="390144" y="646938"/>
                </a:lnTo>
                <a:lnTo>
                  <a:pt x="361442" y="645668"/>
                </a:lnTo>
                <a:lnTo>
                  <a:pt x="306705" y="634492"/>
                </a:lnTo>
                <a:lnTo>
                  <a:pt x="254254" y="613283"/>
                </a:lnTo>
                <a:lnTo>
                  <a:pt x="206882" y="582168"/>
                </a:lnTo>
                <a:lnTo>
                  <a:pt x="183261" y="558546"/>
                </a:lnTo>
                <a:lnTo>
                  <a:pt x="180720" y="554863"/>
                </a:lnTo>
                <a:lnTo>
                  <a:pt x="179450" y="549910"/>
                </a:lnTo>
                <a:lnTo>
                  <a:pt x="178307" y="544830"/>
                </a:lnTo>
                <a:lnTo>
                  <a:pt x="179450" y="541147"/>
                </a:lnTo>
                <a:lnTo>
                  <a:pt x="180720" y="536194"/>
                </a:lnTo>
                <a:lnTo>
                  <a:pt x="203200" y="520065"/>
                </a:lnTo>
                <a:lnTo>
                  <a:pt x="757766" y="520065"/>
                </a:lnTo>
                <a:lnTo>
                  <a:pt x="762762" y="505079"/>
                </a:lnTo>
                <a:lnTo>
                  <a:pt x="767842" y="486410"/>
                </a:lnTo>
                <a:lnTo>
                  <a:pt x="772794" y="467741"/>
                </a:lnTo>
                <a:lnTo>
                  <a:pt x="775335" y="449072"/>
                </a:lnTo>
                <a:lnTo>
                  <a:pt x="775938" y="444119"/>
                </a:lnTo>
                <a:lnTo>
                  <a:pt x="230631" y="444119"/>
                </a:lnTo>
                <a:lnTo>
                  <a:pt x="221869" y="442849"/>
                </a:lnTo>
                <a:lnTo>
                  <a:pt x="189483" y="414274"/>
                </a:lnTo>
                <a:lnTo>
                  <a:pt x="185800" y="395605"/>
                </a:lnTo>
                <a:lnTo>
                  <a:pt x="186944" y="385699"/>
                </a:lnTo>
                <a:lnTo>
                  <a:pt x="213106" y="350774"/>
                </a:lnTo>
                <a:lnTo>
                  <a:pt x="230631" y="347091"/>
                </a:lnTo>
                <a:lnTo>
                  <a:pt x="777440" y="347091"/>
                </a:lnTo>
                <a:lnTo>
                  <a:pt x="775335" y="329692"/>
                </a:lnTo>
                <a:lnTo>
                  <a:pt x="762762" y="273685"/>
                </a:lnTo>
                <a:lnTo>
                  <a:pt x="741552" y="220218"/>
                </a:lnTo>
                <a:lnTo>
                  <a:pt x="714248" y="171704"/>
                </a:lnTo>
                <a:lnTo>
                  <a:pt x="679323" y="128143"/>
                </a:lnTo>
                <a:lnTo>
                  <a:pt x="651891" y="100837"/>
                </a:lnTo>
                <a:lnTo>
                  <a:pt x="608202" y="65912"/>
                </a:lnTo>
                <a:lnTo>
                  <a:pt x="559562" y="38608"/>
                </a:lnTo>
                <a:lnTo>
                  <a:pt x="506094" y="17525"/>
                </a:lnTo>
                <a:lnTo>
                  <a:pt x="468630" y="7493"/>
                </a:lnTo>
                <a:lnTo>
                  <a:pt x="410082" y="0"/>
                </a:lnTo>
                <a:close/>
              </a:path>
              <a:path w="780288" h="778764">
                <a:moveTo>
                  <a:pt x="757766" y="520065"/>
                </a:moveTo>
                <a:lnTo>
                  <a:pt x="577088" y="520065"/>
                </a:lnTo>
                <a:lnTo>
                  <a:pt x="582041" y="521208"/>
                </a:lnTo>
                <a:lnTo>
                  <a:pt x="585851" y="522478"/>
                </a:lnTo>
                <a:lnTo>
                  <a:pt x="600710" y="541147"/>
                </a:lnTo>
                <a:lnTo>
                  <a:pt x="601980" y="544830"/>
                </a:lnTo>
                <a:lnTo>
                  <a:pt x="600710" y="549910"/>
                </a:lnTo>
                <a:lnTo>
                  <a:pt x="599567" y="554863"/>
                </a:lnTo>
                <a:lnTo>
                  <a:pt x="597026" y="558546"/>
                </a:lnTo>
                <a:lnTo>
                  <a:pt x="550926" y="599694"/>
                </a:lnTo>
                <a:lnTo>
                  <a:pt x="501142" y="625729"/>
                </a:lnTo>
                <a:lnTo>
                  <a:pt x="447420" y="641858"/>
                </a:lnTo>
                <a:lnTo>
                  <a:pt x="390144" y="646938"/>
                </a:lnTo>
                <a:lnTo>
                  <a:pt x="682664" y="646938"/>
                </a:lnTo>
                <a:lnTo>
                  <a:pt x="714248" y="607060"/>
                </a:lnTo>
                <a:lnTo>
                  <a:pt x="741552" y="558546"/>
                </a:lnTo>
                <a:lnTo>
                  <a:pt x="756538" y="523748"/>
                </a:lnTo>
                <a:lnTo>
                  <a:pt x="757766" y="520065"/>
                </a:lnTo>
                <a:close/>
              </a:path>
              <a:path w="780288" h="778764">
                <a:moveTo>
                  <a:pt x="577088" y="520065"/>
                </a:moveTo>
                <a:lnTo>
                  <a:pt x="203200" y="520065"/>
                </a:lnTo>
                <a:lnTo>
                  <a:pt x="208152" y="521208"/>
                </a:lnTo>
                <a:lnTo>
                  <a:pt x="213106" y="522478"/>
                </a:lnTo>
                <a:lnTo>
                  <a:pt x="216916" y="525018"/>
                </a:lnTo>
                <a:lnTo>
                  <a:pt x="220599" y="527431"/>
                </a:lnTo>
                <a:lnTo>
                  <a:pt x="239394" y="543687"/>
                </a:lnTo>
                <a:lnTo>
                  <a:pt x="278002" y="569849"/>
                </a:lnTo>
                <a:lnTo>
                  <a:pt x="320294" y="587248"/>
                </a:lnTo>
                <a:lnTo>
                  <a:pt x="366521" y="595884"/>
                </a:lnTo>
                <a:lnTo>
                  <a:pt x="390144" y="597154"/>
                </a:lnTo>
                <a:lnTo>
                  <a:pt x="413766" y="595884"/>
                </a:lnTo>
                <a:lnTo>
                  <a:pt x="459994" y="587248"/>
                </a:lnTo>
                <a:lnTo>
                  <a:pt x="502285" y="569849"/>
                </a:lnTo>
                <a:lnTo>
                  <a:pt x="540893" y="543687"/>
                </a:lnTo>
                <a:lnTo>
                  <a:pt x="559562" y="527431"/>
                </a:lnTo>
                <a:lnTo>
                  <a:pt x="563371" y="525018"/>
                </a:lnTo>
                <a:lnTo>
                  <a:pt x="567182" y="522478"/>
                </a:lnTo>
                <a:lnTo>
                  <a:pt x="572135" y="521208"/>
                </a:lnTo>
                <a:lnTo>
                  <a:pt x="577088" y="520065"/>
                </a:lnTo>
                <a:close/>
              </a:path>
              <a:path w="780288" h="778764">
                <a:moveTo>
                  <a:pt x="549656" y="347091"/>
                </a:moveTo>
                <a:lnTo>
                  <a:pt x="230631" y="347091"/>
                </a:lnTo>
                <a:lnTo>
                  <a:pt x="239394" y="348361"/>
                </a:lnTo>
                <a:lnTo>
                  <a:pt x="248031" y="350774"/>
                </a:lnTo>
                <a:lnTo>
                  <a:pt x="255524" y="355854"/>
                </a:lnTo>
                <a:lnTo>
                  <a:pt x="263017" y="360807"/>
                </a:lnTo>
                <a:lnTo>
                  <a:pt x="267969" y="368300"/>
                </a:lnTo>
                <a:lnTo>
                  <a:pt x="271780" y="376936"/>
                </a:lnTo>
                <a:lnTo>
                  <a:pt x="274193" y="385699"/>
                </a:lnTo>
                <a:lnTo>
                  <a:pt x="275463" y="395605"/>
                </a:lnTo>
                <a:lnTo>
                  <a:pt x="274193" y="405638"/>
                </a:lnTo>
                <a:lnTo>
                  <a:pt x="248031" y="440436"/>
                </a:lnTo>
                <a:lnTo>
                  <a:pt x="230631" y="444119"/>
                </a:lnTo>
                <a:lnTo>
                  <a:pt x="549656" y="444119"/>
                </a:lnTo>
                <a:lnTo>
                  <a:pt x="512318" y="423037"/>
                </a:lnTo>
                <a:lnTo>
                  <a:pt x="504825" y="395605"/>
                </a:lnTo>
                <a:lnTo>
                  <a:pt x="506094" y="385699"/>
                </a:lnTo>
                <a:lnTo>
                  <a:pt x="508507" y="376936"/>
                </a:lnTo>
                <a:lnTo>
                  <a:pt x="512318" y="368300"/>
                </a:lnTo>
                <a:lnTo>
                  <a:pt x="517270" y="360807"/>
                </a:lnTo>
                <a:lnTo>
                  <a:pt x="524763" y="355854"/>
                </a:lnTo>
                <a:lnTo>
                  <a:pt x="532257" y="350774"/>
                </a:lnTo>
                <a:lnTo>
                  <a:pt x="540893" y="348361"/>
                </a:lnTo>
                <a:lnTo>
                  <a:pt x="549656" y="347091"/>
                </a:lnTo>
                <a:close/>
              </a:path>
              <a:path w="780288" h="778764">
                <a:moveTo>
                  <a:pt x="777440" y="347091"/>
                </a:moveTo>
                <a:lnTo>
                  <a:pt x="549656" y="347091"/>
                </a:lnTo>
                <a:lnTo>
                  <a:pt x="558419" y="348361"/>
                </a:lnTo>
                <a:lnTo>
                  <a:pt x="567182" y="350774"/>
                </a:lnTo>
                <a:lnTo>
                  <a:pt x="593344" y="385699"/>
                </a:lnTo>
                <a:lnTo>
                  <a:pt x="594487" y="395605"/>
                </a:lnTo>
                <a:lnTo>
                  <a:pt x="593344" y="405638"/>
                </a:lnTo>
                <a:lnTo>
                  <a:pt x="567182" y="440436"/>
                </a:lnTo>
                <a:lnTo>
                  <a:pt x="549656" y="444119"/>
                </a:lnTo>
                <a:lnTo>
                  <a:pt x="775938" y="444119"/>
                </a:lnTo>
                <a:lnTo>
                  <a:pt x="777748" y="429260"/>
                </a:lnTo>
                <a:lnTo>
                  <a:pt x="780288" y="409321"/>
                </a:lnTo>
                <a:lnTo>
                  <a:pt x="780288" y="369570"/>
                </a:lnTo>
                <a:lnTo>
                  <a:pt x="777748" y="349631"/>
                </a:lnTo>
                <a:lnTo>
                  <a:pt x="777440" y="34709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17" name="object 17"/>
          <p:cNvSpPr txBox="1">
            <a:spLocks noGrp="1"/>
          </p:cNvSpPr>
          <p:nvPr>
            <p:ph type="sldNum" sz="quarter" idx="7"/>
          </p:nvPr>
        </p:nvSpPr>
        <p:spPr>
          <a:xfrm>
            <a:off x="79756" y="5726429"/>
            <a:ext cx="423163" cy="224029"/>
          </a:xfrm>
          <a:prstGeom prst="rect">
            <a:avLst/>
          </a:prstGeom>
        </p:spPr>
        <p:txBody>
          <a:bodyPr vert="horz" wrap="square" lIns="0" tIns="0" rIns="0" bIns="0" rtlCol="0" anchor="ctr">
            <a:noAutofit/>
          </a:bodyPr>
          <a:lstStyle/>
          <a:p>
            <a:pPr marL="25400"/>
            <a:fld id="{81D60167-4931-47E6-BA6A-407CBD079E47}" type="slidenum">
              <a:rPr spc="-10" dirty="0">
                <a:solidFill>
                  <a:srgbClr val="18BAD4"/>
                </a:solidFill>
                <a:latin typeface="Calibri"/>
                <a:cs typeface="Calibri"/>
              </a:rPr>
              <a:pPr marL="25400"/>
              <a:t>43</a:t>
            </a:fld>
            <a:endParaRPr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9007</TotalTime>
  <Words>1540</Words>
  <Application>Microsoft Office PowerPoint</Application>
  <PresentationFormat>Presentación en pantalla (4:3)</PresentationFormat>
  <Paragraphs>221</Paragraphs>
  <Slides>43</Slides>
  <Notes>41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43</vt:i4>
      </vt:variant>
    </vt:vector>
  </HeadingPairs>
  <TitlesOfParts>
    <vt:vector size="48" baseType="lpstr">
      <vt:lpstr>Arial</vt:lpstr>
      <vt:lpstr>Calibri</vt:lpstr>
      <vt:lpstr>Dom Casual</vt:lpstr>
      <vt:lpstr>inherit</vt:lpstr>
      <vt:lpstr>Tema de Office</vt:lpstr>
      <vt:lpstr>TI 3001 C Analítica de datos y herramientas de inteligencia artificial</vt:lpstr>
      <vt:lpstr>¿Cómo usar las expresiones regulares?</vt:lpstr>
      <vt:lpstr>¿Cómo usar las expresiones regulares?</vt:lpstr>
      <vt:lpstr>Método search</vt:lpstr>
      <vt:lpstr>Método search</vt:lpstr>
      <vt:lpstr>Método search</vt:lpstr>
      <vt:lpstr>Método match</vt:lpstr>
      <vt:lpstr>Método match</vt:lpstr>
      <vt:lpstr>Método findall</vt:lpstr>
      <vt:lpstr>Método findall</vt:lpstr>
      <vt:lpstr>¿Cómo usar las expresiones regulares?</vt:lpstr>
      <vt:lpstr>Método split</vt:lpstr>
      <vt:lpstr>Método split</vt:lpstr>
      <vt:lpstr>Método sub</vt:lpstr>
      <vt:lpstr>Método sub</vt:lpstr>
      <vt:lpstr>Método sub</vt:lpstr>
      <vt:lpstr>Método re y expresiones regulares</vt:lpstr>
      <vt:lpstr>Expresiones regulares: \d</vt:lpstr>
      <vt:lpstr>Expresiones regulares: \d</vt:lpstr>
      <vt:lpstr>Metacaracteres</vt:lpstr>
      <vt:lpstr>Metacaracteres</vt:lpstr>
      <vt:lpstr>Metacaracteres</vt:lpstr>
      <vt:lpstr>Metacaracteres</vt:lpstr>
      <vt:lpstr>Presentación de PowerPoint</vt:lpstr>
      <vt:lpstr>Metacaracteres</vt:lpstr>
      <vt:lpstr>Metacaracteres</vt:lpstr>
      <vt:lpstr>Metacaracteres</vt:lpstr>
      <vt:lpstr>Metacaracteres</vt:lpstr>
      <vt:lpstr>Metacaracteres</vt:lpstr>
      <vt:lpstr>Metacaracteres</vt:lpstr>
      <vt:lpstr>Metacaracteres</vt:lpstr>
      <vt:lpstr>Metacaracteres</vt:lpstr>
      <vt:lpstr>Metacaracteres</vt:lpstr>
      <vt:lpstr>Metacaracteres</vt:lpstr>
      <vt:lpstr>Metacaracteres</vt:lpstr>
      <vt:lpstr>Metacaracteres</vt:lpstr>
      <vt:lpstr>Metacaracteres</vt:lpstr>
      <vt:lpstr>Secuencias especiales</vt:lpstr>
      <vt:lpstr>Ejercicio</vt:lpstr>
      <vt:lpstr>Flags</vt:lpstr>
      <vt:lpstr>Flags</vt:lpstr>
      <vt:lpstr>Flags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TC1017  Solución de problemas con programación</dc:title>
  <dc:creator>profesor</dc:creator>
  <cp:lastModifiedBy>Lizethe Pérez Fuertes</cp:lastModifiedBy>
  <cp:revision>306</cp:revision>
  <cp:lastPrinted>2026-03-05T23:14:19Z</cp:lastPrinted>
  <dcterms:created xsi:type="dcterms:W3CDTF">2013-06-24T20:15:42Z</dcterms:created>
  <dcterms:modified xsi:type="dcterms:W3CDTF">2026-03-06T00:00:46Z</dcterms:modified>
</cp:coreProperties>
</file>