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93" r:id="rId2"/>
    <p:sldId id="294" r:id="rId3"/>
    <p:sldId id="295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85" r:id="rId16"/>
    <p:sldId id="270" r:id="rId17"/>
    <p:sldId id="272" r:id="rId18"/>
    <p:sldId id="296" r:id="rId19"/>
    <p:sldId id="297" r:id="rId20"/>
    <p:sldId id="275" r:id="rId21"/>
    <p:sldId id="287" r:id="rId22"/>
    <p:sldId id="280" r:id="rId23"/>
    <p:sldId id="298" r:id="rId24"/>
    <p:sldId id="282" r:id="rId25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66"/>
    <a:srgbClr val="D60093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D78E06-E06A-405F-9E34-F15F4929BD48}" v="1" dt="2026-08-11T16:39:10.0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31" autoAdjust="0"/>
    <p:restoredTop sz="94660"/>
  </p:normalViewPr>
  <p:slideViewPr>
    <p:cSldViewPr>
      <p:cViewPr varScale="1">
        <p:scale>
          <a:sx n="117" d="100"/>
          <a:sy n="117" d="100"/>
        </p:scale>
        <p:origin x="1110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modSld">
      <pc:chgData name="Lizethe Pérez Fuertes" userId="4ae9ef87-2a7d-42f8-8dfa-0a501a9e2ff4" providerId="ADAL" clId="{FDDD45CB-1330-4033-A842-3D2746AFF7C7}" dt="2026-08-11T16:39:10.081" v="0"/>
      <pc:docMkLst>
        <pc:docMk/>
      </pc:docMkLst>
      <pc:sldChg chg="modSp">
        <pc:chgData name="Lizethe Pérez Fuertes" userId="4ae9ef87-2a7d-42f8-8dfa-0a501a9e2ff4" providerId="ADAL" clId="{FDDD45CB-1330-4033-A842-3D2746AFF7C7}" dt="2026-08-11T16:39:10.081" v="0"/>
        <pc:sldMkLst>
          <pc:docMk/>
          <pc:sldMk cId="542782376" sldId="293"/>
        </pc:sldMkLst>
        <pc:spChg chg="mod">
          <ac:chgData name="Lizethe Pérez Fuertes" userId="4ae9ef87-2a7d-42f8-8dfa-0a501a9e2ff4" providerId="ADAL" clId="{FDDD45CB-1330-4033-A842-3D2746AFF7C7}" dt="2026-08-11T16:39:10.081" v="0"/>
          <ac:spMkLst>
            <pc:docMk/>
            <pc:sldMk cId="542782376" sldId="293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E721D5-655F-45D2-B717-3C4CD78C8568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AB4312-99A1-4CE9-ACE7-4C62E9FD90EE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5965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8412875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196558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286285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722814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930889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387888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72441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21648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01803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55717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53546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8721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01238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47227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8792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41642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50951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742785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/>
            <a:fld id="{81D60167-4931-47E6-BA6A-407CBD079E47}" type="slidenum">
              <a:rPr lang="es-MX" spc="-10" smtClean="0">
                <a:solidFill>
                  <a:srgbClr val="18BAD4"/>
                </a:solidFill>
                <a:cs typeface="Calibri"/>
              </a:rPr>
              <a:pPr marL="25400"/>
              <a:t>‹Nº›</a:t>
            </a:fld>
            <a:endParaRPr lang="es-MX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35315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64661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6630" y="404664"/>
            <a:ext cx="7669826" cy="1470025"/>
          </a:xfrm>
        </p:spPr>
        <p:txBody>
          <a:bodyPr rtlCol="0">
            <a:normAutofit fontScale="90000"/>
          </a:bodyPr>
          <a:lstStyle/>
          <a:p>
            <a:pPr algn="l">
              <a:defRPr/>
            </a:pPr>
            <a:r>
              <a:rPr lang="es-MX" sz="3200">
                <a:solidFill>
                  <a:schemeClr val="bg2">
                    <a:lumMod val="50000"/>
                  </a:schemeClr>
                </a:solidFill>
              </a:rPr>
              <a:t>TI 3008 C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Analítica de datos y herramientas de inteligencia artificial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600" y="1988840"/>
            <a:ext cx="7342584" cy="1368152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Funciones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Tecnológico de Monterrey</a:t>
            </a:r>
          </a:p>
        </p:txBody>
      </p:sp>
      <p:pic>
        <p:nvPicPr>
          <p:cNvPr id="6" name="Imagen 5" descr="Imagen que contiene estructuras metálicas, rueda&#10;&#10;Descripción generada automáticamente">
            <a:extLst>
              <a:ext uri="{FF2B5EF4-FFF2-40B4-BE49-F238E27FC236}">
                <a16:creationId xmlns:a16="http://schemas.microsoft.com/office/drawing/2014/main" id="{8E5E0852-D377-47F8-9539-EFCB8850E5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760" y="3212976"/>
            <a:ext cx="3879662" cy="302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782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12 Imagen">
            <a:extLst>
              <a:ext uri="{FF2B5EF4-FFF2-40B4-BE49-F238E27FC236}">
                <a16:creationId xmlns:a16="http://schemas.microsoft.com/office/drawing/2014/main" id="{C012060C-61C5-48FC-83C1-819F5AC9A7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0112" y="3789040"/>
            <a:ext cx="2315934" cy="2016224"/>
          </a:xfrm>
          <a:prstGeom prst="rect">
            <a:avLst/>
          </a:prstGeom>
        </p:spPr>
      </p:pic>
      <p:sp>
        <p:nvSpPr>
          <p:cNvPr id="40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899592" y="1700808"/>
            <a:ext cx="7200800" cy="3600400"/>
          </a:xfrm>
        </p:spPr>
        <p:txBody>
          <a:bodyPr>
            <a:noAutofit/>
          </a:bodyPr>
          <a:lstStyle/>
          <a:p>
            <a:pPr marL="0" indent="0" algn="just">
              <a:lnSpc>
                <a:spcPts val="4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s-ES" sz="2400" dirty="0">
                <a:solidFill>
                  <a:schemeClr val="bg2">
                    <a:lumMod val="25000"/>
                  </a:schemeClr>
                </a:solidFill>
                <a:cs typeface="Arial" pitchFamily="34" charset="0"/>
              </a:rPr>
              <a:t>Una función es un bloque de código con un nombre asociado que, recibe cero o más argumentos como entrada, sigue una secuencia de instrucciones, las cuales ejecuta y:</a:t>
            </a:r>
          </a:p>
          <a:p>
            <a:pPr marL="457200" indent="-457200" algn="just">
              <a:lnSpc>
                <a:spcPts val="4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cs typeface="Arial" pitchFamily="34" charset="0"/>
              </a:rPr>
              <a:t>Devuelve un valor y/o </a:t>
            </a:r>
          </a:p>
          <a:p>
            <a:pPr marL="457200" indent="-457200" algn="just">
              <a:lnSpc>
                <a:spcPts val="4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cs typeface="Arial" pitchFamily="34" charset="0"/>
              </a:rPr>
              <a:t>Realiza una tarea</a:t>
            </a:r>
            <a:endParaRPr lang="es-MX" sz="2400" dirty="0">
              <a:solidFill>
                <a:schemeClr val="bg2">
                  <a:lumMod val="25000"/>
                </a:schemeClr>
              </a:solidFill>
              <a:cs typeface="Arial" pitchFamily="34" charset="0"/>
            </a:endParaRPr>
          </a:p>
        </p:txBody>
      </p:sp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395288" y="274638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¿Qué es una función?</a:t>
            </a:r>
          </a:p>
        </p:txBody>
      </p:sp>
    </p:spTree>
    <p:extLst>
      <p:ext uri="{BB962C8B-B14F-4D97-AF65-F5344CB8AC3E}">
        <p14:creationId xmlns:p14="http://schemas.microsoft.com/office/powerpoint/2010/main" val="708267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55452" y="1268761"/>
            <a:ext cx="7633096" cy="3240360"/>
          </a:xfrm>
        </p:spPr>
        <p:txBody>
          <a:bodyPr>
            <a:noAutofit/>
          </a:bodyPr>
          <a:lstStyle/>
          <a:p>
            <a:pPr marL="0" indent="0" algn="just">
              <a:lnSpc>
                <a:spcPts val="4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lang="es-ES" sz="2400" dirty="0">
                <a:solidFill>
                  <a:schemeClr val="bg2">
                    <a:lumMod val="25000"/>
                  </a:schemeClr>
                </a:solidFill>
                <a:cs typeface="Arial" pitchFamily="34" charset="0"/>
              </a:rPr>
              <a:t>El uso de funciones tiene varias </a:t>
            </a:r>
            <a:r>
              <a:rPr lang="es-ES" sz="2400" b="1" dirty="0">
                <a:solidFill>
                  <a:schemeClr val="bg2">
                    <a:lumMod val="25000"/>
                  </a:schemeClr>
                </a:solidFill>
                <a:cs typeface="Arial" pitchFamily="34" charset="0"/>
              </a:rPr>
              <a:t>ventajas</a:t>
            </a:r>
            <a:r>
              <a:rPr lang="es-ES" sz="2400" dirty="0">
                <a:solidFill>
                  <a:schemeClr val="bg2">
                    <a:lumMod val="25000"/>
                  </a:schemeClr>
                </a:solidFill>
                <a:cs typeface="Arial" pitchFamily="34" charset="0"/>
              </a:rPr>
              <a:t>:</a:t>
            </a:r>
          </a:p>
          <a:p>
            <a:pPr>
              <a:lnSpc>
                <a:spcPts val="4000"/>
              </a:lnSpc>
              <a:spcBef>
                <a:spcPts val="1200"/>
              </a:spcBef>
            </a:pP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cs typeface="Arial" pitchFamily="34" charset="0"/>
              </a:rPr>
              <a:t>Modularización:</a:t>
            </a:r>
            <a:r>
              <a:rPr lang="es-ES" sz="2400" dirty="0">
                <a:solidFill>
                  <a:schemeClr val="bg2">
                    <a:lumMod val="25000"/>
                  </a:schemeClr>
                </a:solidFill>
                <a:cs typeface="Arial" pitchFamily="34" charset="0"/>
              </a:rPr>
              <a:t> permite segmentar un programa complejo en una serie de partes o módulos más simples.</a:t>
            </a:r>
          </a:p>
          <a:p>
            <a:pPr>
              <a:lnSpc>
                <a:spcPts val="4000"/>
              </a:lnSpc>
              <a:spcBef>
                <a:spcPts val="1200"/>
              </a:spcBef>
            </a:pP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cs typeface="Arial" pitchFamily="34" charset="0"/>
              </a:rPr>
              <a:t>Reutilización: </a:t>
            </a:r>
            <a:r>
              <a:rPr lang="es-ES" sz="2400" dirty="0">
                <a:solidFill>
                  <a:schemeClr val="bg2">
                    <a:lumMod val="25000"/>
                  </a:schemeClr>
                </a:solidFill>
                <a:cs typeface="Arial" pitchFamily="34" charset="0"/>
              </a:rPr>
              <a:t>permite reutilizar una misma función en distintos programas.</a:t>
            </a:r>
            <a:endParaRPr lang="es-MX" sz="2000" dirty="0">
              <a:solidFill>
                <a:schemeClr val="bg2">
                  <a:lumMod val="25000"/>
                </a:schemeClr>
              </a:solidFill>
              <a:cs typeface="Arial" pitchFamily="34" charset="0"/>
            </a:endParaRPr>
          </a:p>
        </p:txBody>
      </p:sp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34944"/>
            <a:ext cx="82296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Funciones</a:t>
            </a:r>
          </a:p>
        </p:txBody>
      </p:sp>
      <p:pic>
        <p:nvPicPr>
          <p:cNvPr id="20" name="12 Imagen">
            <a:extLst>
              <a:ext uri="{FF2B5EF4-FFF2-40B4-BE49-F238E27FC236}">
                <a16:creationId xmlns:a16="http://schemas.microsoft.com/office/drawing/2014/main" id="{38DB262D-1C5A-410E-ADFF-ADAB8CCC37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136" y="4077072"/>
            <a:ext cx="2315934" cy="201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938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60525"/>
            <a:ext cx="940308" cy="8961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420623" y="2533650"/>
            <a:ext cx="2065020" cy="17891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-4572" y="3987546"/>
            <a:ext cx="1778508" cy="20482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762000" y="1735074"/>
            <a:ext cx="819912" cy="710184"/>
          </a:xfrm>
          <a:custGeom>
            <a:avLst/>
            <a:gdLst/>
            <a:ahLst/>
            <a:cxnLst/>
            <a:rect l="l" t="t" r="r" b="b"/>
            <a:pathLst>
              <a:path w="819912" h="710184">
                <a:moveTo>
                  <a:pt x="0" y="355091"/>
                </a:moveTo>
                <a:lnTo>
                  <a:pt x="203657" y="710184"/>
                </a:lnTo>
                <a:lnTo>
                  <a:pt x="616204" y="710184"/>
                </a:lnTo>
                <a:lnTo>
                  <a:pt x="819912" y="355091"/>
                </a:lnTo>
                <a:lnTo>
                  <a:pt x="616204" y="0"/>
                </a:lnTo>
                <a:lnTo>
                  <a:pt x="203657" y="0"/>
                </a:lnTo>
                <a:lnTo>
                  <a:pt x="0" y="355091"/>
                </a:lnTo>
                <a:close/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996721" y="2050541"/>
            <a:ext cx="82270" cy="184404"/>
          </a:xfrm>
          <a:custGeom>
            <a:avLst/>
            <a:gdLst/>
            <a:ahLst/>
            <a:cxnLst/>
            <a:rect l="l" t="t" r="r" b="b"/>
            <a:pathLst>
              <a:path w="82270" h="184404">
                <a:moveTo>
                  <a:pt x="82270" y="0"/>
                </a:moveTo>
                <a:lnTo>
                  <a:pt x="0" y="0"/>
                </a:lnTo>
                <a:lnTo>
                  <a:pt x="0" y="184404"/>
                </a:lnTo>
                <a:lnTo>
                  <a:pt x="82270" y="184404"/>
                </a:lnTo>
                <a:lnTo>
                  <a:pt x="82270" y="50546"/>
                </a:lnTo>
                <a:lnTo>
                  <a:pt x="50571" y="50546"/>
                </a:lnTo>
                <a:lnTo>
                  <a:pt x="47510" y="50037"/>
                </a:lnTo>
                <a:lnTo>
                  <a:pt x="35750" y="35813"/>
                </a:lnTo>
                <a:lnTo>
                  <a:pt x="36283" y="32766"/>
                </a:lnTo>
                <a:lnTo>
                  <a:pt x="50571" y="20955"/>
                </a:lnTo>
                <a:lnTo>
                  <a:pt x="82270" y="20955"/>
                </a:lnTo>
                <a:lnTo>
                  <a:pt x="82270" y="0"/>
                </a:lnTo>
                <a:close/>
              </a:path>
              <a:path w="82270" h="184404">
                <a:moveTo>
                  <a:pt x="82270" y="20955"/>
                </a:moveTo>
                <a:lnTo>
                  <a:pt x="50571" y="20955"/>
                </a:lnTo>
                <a:lnTo>
                  <a:pt x="53644" y="21462"/>
                </a:lnTo>
                <a:lnTo>
                  <a:pt x="58750" y="23495"/>
                </a:lnTo>
                <a:lnTo>
                  <a:pt x="62852" y="27559"/>
                </a:lnTo>
                <a:lnTo>
                  <a:pt x="64376" y="30099"/>
                </a:lnTo>
                <a:lnTo>
                  <a:pt x="64884" y="32766"/>
                </a:lnTo>
                <a:lnTo>
                  <a:pt x="65405" y="35813"/>
                </a:lnTo>
                <a:lnTo>
                  <a:pt x="64884" y="38862"/>
                </a:lnTo>
                <a:lnTo>
                  <a:pt x="50571" y="50546"/>
                </a:lnTo>
                <a:lnTo>
                  <a:pt x="82270" y="50546"/>
                </a:lnTo>
                <a:lnTo>
                  <a:pt x="82270" y="20955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1091209" y="1928622"/>
            <a:ext cx="256006" cy="324612"/>
          </a:xfrm>
          <a:custGeom>
            <a:avLst/>
            <a:gdLst/>
            <a:ahLst/>
            <a:cxnLst/>
            <a:rect l="l" t="t" r="r" b="b"/>
            <a:pathLst>
              <a:path w="256006" h="324612">
                <a:moveTo>
                  <a:pt x="131800" y="0"/>
                </a:moveTo>
                <a:lnTo>
                  <a:pt x="103822" y="30606"/>
                </a:lnTo>
                <a:lnTo>
                  <a:pt x="99758" y="42417"/>
                </a:lnTo>
                <a:lnTo>
                  <a:pt x="80911" y="82168"/>
                </a:lnTo>
                <a:lnTo>
                  <a:pt x="76327" y="86740"/>
                </a:lnTo>
                <a:lnTo>
                  <a:pt x="69202" y="93979"/>
                </a:lnTo>
                <a:lnTo>
                  <a:pt x="52400" y="109727"/>
                </a:lnTo>
                <a:lnTo>
                  <a:pt x="30022" y="130175"/>
                </a:lnTo>
                <a:lnTo>
                  <a:pt x="0" y="130175"/>
                </a:lnTo>
                <a:lnTo>
                  <a:pt x="0" y="280669"/>
                </a:lnTo>
                <a:lnTo>
                  <a:pt x="31546" y="280669"/>
                </a:lnTo>
                <a:lnTo>
                  <a:pt x="41732" y="285876"/>
                </a:lnTo>
                <a:lnTo>
                  <a:pt x="55968" y="291973"/>
                </a:lnTo>
                <a:lnTo>
                  <a:pt x="94665" y="306704"/>
                </a:lnTo>
                <a:lnTo>
                  <a:pt x="138925" y="319024"/>
                </a:lnTo>
                <a:lnTo>
                  <a:pt x="149618" y="321563"/>
                </a:lnTo>
                <a:lnTo>
                  <a:pt x="160312" y="323088"/>
                </a:lnTo>
                <a:lnTo>
                  <a:pt x="169976" y="324103"/>
                </a:lnTo>
                <a:lnTo>
                  <a:pt x="179679" y="324612"/>
                </a:lnTo>
                <a:lnTo>
                  <a:pt x="195935" y="324612"/>
                </a:lnTo>
                <a:lnTo>
                  <a:pt x="232638" y="310768"/>
                </a:lnTo>
                <a:lnTo>
                  <a:pt x="234162" y="296037"/>
                </a:lnTo>
                <a:lnTo>
                  <a:pt x="233654" y="292480"/>
                </a:lnTo>
                <a:lnTo>
                  <a:pt x="232638" y="289432"/>
                </a:lnTo>
                <a:lnTo>
                  <a:pt x="230479" y="286385"/>
                </a:lnTo>
                <a:lnTo>
                  <a:pt x="227558" y="283717"/>
                </a:lnTo>
                <a:lnTo>
                  <a:pt x="230098" y="283337"/>
                </a:lnTo>
                <a:lnTo>
                  <a:pt x="232638" y="282193"/>
                </a:lnTo>
                <a:lnTo>
                  <a:pt x="235178" y="281177"/>
                </a:lnTo>
                <a:lnTo>
                  <a:pt x="237210" y="279145"/>
                </a:lnTo>
                <a:lnTo>
                  <a:pt x="243306" y="250570"/>
                </a:lnTo>
                <a:lnTo>
                  <a:pt x="243306" y="245999"/>
                </a:lnTo>
                <a:lnTo>
                  <a:pt x="242798" y="243458"/>
                </a:lnTo>
                <a:lnTo>
                  <a:pt x="241782" y="241426"/>
                </a:lnTo>
                <a:lnTo>
                  <a:pt x="239242" y="237870"/>
                </a:lnTo>
                <a:lnTo>
                  <a:pt x="236194" y="234823"/>
                </a:lnTo>
                <a:lnTo>
                  <a:pt x="238734" y="234314"/>
                </a:lnTo>
                <a:lnTo>
                  <a:pt x="250418" y="202056"/>
                </a:lnTo>
                <a:lnTo>
                  <a:pt x="250418" y="196976"/>
                </a:lnTo>
                <a:lnTo>
                  <a:pt x="249910" y="194437"/>
                </a:lnTo>
                <a:lnTo>
                  <a:pt x="247878" y="190373"/>
                </a:lnTo>
                <a:lnTo>
                  <a:pt x="244830" y="187325"/>
                </a:lnTo>
                <a:lnTo>
                  <a:pt x="242798" y="185800"/>
                </a:lnTo>
                <a:lnTo>
                  <a:pt x="244830" y="185292"/>
                </a:lnTo>
                <a:lnTo>
                  <a:pt x="256006" y="153162"/>
                </a:lnTo>
                <a:lnTo>
                  <a:pt x="254990" y="147954"/>
                </a:lnTo>
                <a:lnTo>
                  <a:pt x="220319" y="130175"/>
                </a:lnTo>
                <a:lnTo>
                  <a:pt x="131800" y="123062"/>
                </a:lnTo>
                <a:lnTo>
                  <a:pt x="135369" y="116839"/>
                </a:lnTo>
                <a:lnTo>
                  <a:pt x="147574" y="77088"/>
                </a:lnTo>
                <a:lnTo>
                  <a:pt x="152158" y="32130"/>
                </a:lnTo>
                <a:lnTo>
                  <a:pt x="152158" y="16890"/>
                </a:lnTo>
                <a:lnTo>
                  <a:pt x="135890" y="507"/>
                </a:lnTo>
                <a:lnTo>
                  <a:pt x="13180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373380" y="1752612"/>
            <a:ext cx="111251" cy="0"/>
          </a:xfrm>
          <a:custGeom>
            <a:avLst/>
            <a:gdLst/>
            <a:ahLst/>
            <a:cxnLst/>
            <a:rect l="l" t="t" r="r" b="b"/>
            <a:pathLst>
              <a:path w="111251">
                <a:moveTo>
                  <a:pt x="0" y="0"/>
                </a:moveTo>
                <a:lnTo>
                  <a:pt x="111251" y="0"/>
                </a:lnTo>
              </a:path>
            </a:pathLst>
          </a:custGeom>
          <a:ln w="57633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379475" y="1774698"/>
            <a:ext cx="99060" cy="28955"/>
          </a:xfrm>
          <a:custGeom>
            <a:avLst/>
            <a:gdLst/>
            <a:ahLst/>
            <a:cxnLst/>
            <a:rect l="l" t="t" r="r" b="b"/>
            <a:pathLst>
              <a:path w="99059" h="28955">
                <a:moveTo>
                  <a:pt x="0" y="0"/>
                </a:moveTo>
                <a:lnTo>
                  <a:pt x="0" y="4190"/>
                </a:lnTo>
                <a:lnTo>
                  <a:pt x="584" y="7747"/>
                </a:lnTo>
                <a:lnTo>
                  <a:pt x="2374" y="11302"/>
                </a:lnTo>
                <a:lnTo>
                  <a:pt x="4724" y="14224"/>
                </a:lnTo>
                <a:lnTo>
                  <a:pt x="8255" y="16001"/>
                </a:lnTo>
                <a:lnTo>
                  <a:pt x="45389" y="28321"/>
                </a:lnTo>
                <a:lnTo>
                  <a:pt x="49530" y="28955"/>
                </a:lnTo>
                <a:lnTo>
                  <a:pt x="53644" y="28321"/>
                </a:lnTo>
                <a:lnTo>
                  <a:pt x="90805" y="16001"/>
                </a:lnTo>
                <a:lnTo>
                  <a:pt x="94335" y="14224"/>
                </a:lnTo>
                <a:lnTo>
                  <a:pt x="96685" y="11302"/>
                </a:lnTo>
                <a:lnTo>
                  <a:pt x="98450" y="7747"/>
                </a:lnTo>
                <a:lnTo>
                  <a:pt x="99060" y="4190"/>
                </a:lnTo>
                <a:lnTo>
                  <a:pt x="99060" y="0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368834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161543"/>
                </a:moveTo>
                <a:lnTo>
                  <a:pt x="14477" y="68961"/>
                </a:lnTo>
                <a:lnTo>
                  <a:pt x="0" y="0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304800" y="1410463"/>
            <a:ext cx="248412" cy="297179"/>
          </a:xfrm>
          <a:custGeom>
            <a:avLst/>
            <a:gdLst/>
            <a:ahLst/>
            <a:cxnLst/>
            <a:rect l="l" t="t" r="r" b="b"/>
            <a:pathLst>
              <a:path w="248412" h="297179">
                <a:moveTo>
                  <a:pt x="173659" y="297179"/>
                </a:moveTo>
                <a:lnTo>
                  <a:pt x="176606" y="284225"/>
                </a:lnTo>
                <a:lnTo>
                  <a:pt x="180708" y="271907"/>
                </a:lnTo>
                <a:lnTo>
                  <a:pt x="185432" y="260096"/>
                </a:lnTo>
                <a:lnTo>
                  <a:pt x="190715" y="249427"/>
                </a:lnTo>
                <a:lnTo>
                  <a:pt x="196621" y="239522"/>
                </a:lnTo>
                <a:lnTo>
                  <a:pt x="202488" y="229488"/>
                </a:lnTo>
                <a:lnTo>
                  <a:pt x="215442" y="210692"/>
                </a:lnTo>
                <a:lnTo>
                  <a:pt x="221919" y="201295"/>
                </a:lnTo>
                <a:lnTo>
                  <a:pt x="227799" y="191897"/>
                </a:lnTo>
                <a:lnTo>
                  <a:pt x="245465" y="149478"/>
                </a:lnTo>
                <a:lnTo>
                  <a:pt x="247802" y="130683"/>
                </a:lnTo>
                <a:lnTo>
                  <a:pt x="248412" y="124205"/>
                </a:lnTo>
                <a:lnTo>
                  <a:pt x="247230" y="111251"/>
                </a:lnTo>
                <a:lnTo>
                  <a:pt x="245465" y="98933"/>
                </a:lnTo>
                <a:lnTo>
                  <a:pt x="227215" y="54737"/>
                </a:lnTo>
                <a:lnTo>
                  <a:pt x="193662" y="21209"/>
                </a:lnTo>
                <a:lnTo>
                  <a:pt x="148932" y="2412"/>
                </a:lnTo>
                <a:lnTo>
                  <a:pt x="124206" y="0"/>
                </a:lnTo>
                <a:lnTo>
                  <a:pt x="75946" y="10033"/>
                </a:lnTo>
                <a:lnTo>
                  <a:pt x="36499" y="36449"/>
                </a:lnTo>
                <a:lnTo>
                  <a:pt x="10007" y="75946"/>
                </a:lnTo>
                <a:lnTo>
                  <a:pt x="0" y="124205"/>
                </a:lnTo>
                <a:lnTo>
                  <a:pt x="10007" y="171830"/>
                </a:lnTo>
                <a:lnTo>
                  <a:pt x="32969" y="210692"/>
                </a:lnTo>
                <a:lnTo>
                  <a:pt x="45923" y="229488"/>
                </a:lnTo>
                <a:lnTo>
                  <a:pt x="51790" y="239522"/>
                </a:lnTo>
                <a:lnTo>
                  <a:pt x="57696" y="249427"/>
                </a:lnTo>
                <a:lnTo>
                  <a:pt x="62979" y="260096"/>
                </a:lnTo>
                <a:lnTo>
                  <a:pt x="67703" y="271907"/>
                </a:lnTo>
                <a:lnTo>
                  <a:pt x="71805" y="284225"/>
                </a:lnTo>
                <a:lnTo>
                  <a:pt x="74752" y="297179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454178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0"/>
                </a:moveTo>
                <a:lnTo>
                  <a:pt x="20523" y="68961"/>
                </a:lnTo>
                <a:lnTo>
                  <a:pt x="0" y="161543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385598" y="1540001"/>
            <a:ext cx="86817" cy="19812"/>
          </a:xfrm>
          <a:custGeom>
            <a:avLst/>
            <a:gdLst/>
            <a:ahLst/>
            <a:cxnLst/>
            <a:rect l="l" t="t" r="r" b="b"/>
            <a:pathLst>
              <a:path w="86817" h="19812">
                <a:moveTo>
                  <a:pt x="0" y="1905"/>
                </a:moveTo>
                <a:lnTo>
                  <a:pt x="19939" y="19812"/>
                </a:lnTo>
                <a:lnTo>
                  <a:pt x="39890" y="1905"/>
                </a:lnTo>
                <a:lnTo>
                  <a:pt x="41656" y="635"/>
                </a:lnTo>
                <a:lnTo>
                  <a:pt x="43408" y="0"/>
                </a:lnTo>
                <a:lnTo>
                  <a:pt x="45161" y="635"/>
                </a:lnTo>
                <a:lnTo>
                  <a:pt x="46926" y="1905"/>
                </a:lnTo>
                <a:lnTo>
                  <a:pt x="66878" y="19812"/>
                </a:lnTo>
                <a:lnTo>
                  <a:pt x="86817" y="1905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379475" y="1710689"/>
            <a:ext cx="99060" cy="0"/>
          </a:xfrm>
          <a:custGeom>
            <a:avLst/>
            <a:gdLst/>
            <a:ahLst/>
            <a:cxnLst/>
            <a:rect l="l" t="t" r="r" b="b"/>
            <a:pathLst>
              <a:path w="99059">
                <a:moveTo>
                  <a:pt x="0" y="0"/>
                </a:moveTo>
                <a:lnTo>
                  <a:pt x="99060" y="0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5" name="object 15"/>
          <p:cNvSpPr/>
          <p:nvPr/>
        </p:nvSpPr>
        <p:spPr>
          <a:xfrm>
            <a:off x="739140" y="957835"/>
            <a:ext cx="428244" cy="371855"/>
          </a:xfrm>
          <a:custGeom>
            <a:avLst/>
            <a:gdLst/>
            <a:ahLst/>
            <a:cxnLst/>
            <a:rect l="l" t="t" r="r" b="b"/>
            <a:pathLst>
              <a:path w="428244" h="371855">
                <a:moveTo>
                  <a:pt x="321602" y="0"/>
                </a:moveTo>
                <a:lnTo>
                  <a:pt x="106641" y="0"/>
                </a:lnTo>
                <a:lnTo>
                  <a:pt x="0" y="185927"/>
                </a:lnTo>
                <a:lnTo>
                  <a:pt x="106641" y="371855"/>
                </a:lnTo>
                <a:lnTo>
                  <a:pt x="321602" y="371855"/>
                </a:lnTo>
                <a:lnTo>
                  <a:pt x="428244" y="185927"/>
                </a:lnTo>
                <a:lnTo>
                  <a:pt x="321602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6" name="object 16"/>
          <p:cNvSpPr/>
          <p:nvPr/>
        </p:nvSpPr>
        <p:spPr>
          <a:xfrm>
            <a:off x="421386" y="857251"/>
            <a:ext cx="358140" cy="246125"/>
          </a:xfrm>
          <a:custGeom>
            <a:avLst/>
            <a:gdLst/>
            <a:ahLst/>
            <a:cxnLst/>
            <a:rect l="l" t="t" r="r" b="b"/>
            <a:pathLst>
              <a:path w="358140" h="246125">
                <a:moveTo>
                  <a:pt x="0" y="90677"/>
                </a:moveTo>
                <a:lnTo>
                  <a:pt x="89154" y="246125"/>
                </a:lnTo>
                <a:lnTo>
                  <a:pt x="268986" y="246125"/>
                </a:lnTo>
                <a:lnTo>
                  <a:pt x="358140" y="90677"/>
                </a:lnTo>
                <a:lnTo>
                  <a:pt x="306133" y="0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21386" y="857251"/>
            <a:ext cx="52006" cy="90677"/>
          </a:xfrm>
          <a:custGeom>
            <a:avLst/>
            <a:gdLst/>
            <a:ahLst/>
            <a:cxnLst/>
            <a:rect l="l" t="t" r="r" b="b"/>
            <a:pathLst>
              <a:path w="52006" h="90677">
                <a:moveTo>
                  <a:pt x="52006" y="0"/>
                </a:moveTo>
                <a:lnTo>
                  <a:pt x="0" y="90677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8" name="object 18"/>
          <p:cNvSpPr/>
          <p:nvPr/>
        </p:nvSpPr>
        <p:spPr>
          <a:xfrm>
            <a:off x="336804" y="2309623"/>
            <a:ext cx="185902" cy="207263"/>
          </a:xfrm>
          <a:custGeom>
            <a:avLst/>
            <a:gdLst/>
            <a:ahLst/>
            <a:cxnLst/>
            <a:rect l="l" t="t" r="r" b="b"/>
            <a:pathLst>
              <a:path w="185902" h="207263">
                <a:moveTo>
                  <a:pt x="133807" y="0"/>
                </a:moveTo>
                <a:lnTo>
                  <a:pt x="128866" y="762"/>
                </a:lnTo>
                <a:lnTo>
                  <a:pt x="123939" y="1397"/>
                </a:lnTo>
                <a:lnTo>
                  <a:pt x="119011" y="2793"/>
                </a:lnTo>
                <a:lnTo>
                  <a:pt x="88734" y="27686"/>
                </a:lnTo>
                <a:lnTo>
                  <a:pt x="82397" y="52577"/>
                </a:lnTo>
                <a:lnTo>
                  <a:pt x="83083" y="60325"/>
                </a:lnTo>
                <a:lnTo>
                  <a:pt x="85216" y="68199"/>
                </a:lnTo>
                <a:lnTo>
                  <a:pt x="88023" y="75183"/>
                </a:lnTo>
                <a:lnTo>
                  <a:pt x="91541" y="81661"/>
                </a:lnTo>
                <a:lnTo>
                  <a:pt x="0" y="190245"/>
                </a:lnTo>
                <a:lnTo>
                  <a:pt x="10579" y="197992"/>
                </a:lnTo>
                <a:lnTo>
                  <a:pt x="20446" y="207263"/>
                </a:lnTo>
                <a:lnTo>
                  <a:pt x="111975" y="99313"/>
                </a:lnTo>
                <a:lnTo>
                  <a:pt x="155713" y="99313"/>
                </a:lnTo>
                <a:lnTo>
                  <a:pt x="158457" y="97916"/>
                </a:lnTo>
                <a:lnTo>
                  <a:pt x="184480" y="62483"/>
                </a:lnTo>
                <a:lnTo>
                  <a:pt x="185902" y="52577"/>
                </a:lnTo>
                <a:lnTo>
                  <a:pt x="185204" y="46862"/>
                </a:lnTo>
                <a:lnTo>
                  <a:pt x="184480" y="41910"/>
                </a:lnTo>
                <a:lnTo>
                  <a:pt x="183070" y="36956"/>
                </a:lnTo>
                <a:lnTo>
                  <a:pt x="181686" y="31876"/>
                </a:lnTo>
                <a:lnTo>
                  <a:pt x="162661" y="9270"/>
                </a:lnTo>
                <a:lnTo>
                  <a:pt x="158457" y="6350"/>
                </a:lnTo>
                <a:lnTo>
                  <a:pt x="154216" y="4317"/>
                </a:lnTo>
                <a:lnTo>
                  <a:pt x="149288" y="2793"/>
                </a:lnTo>
                <a:lnTo>
                  <a:pt x="144348" y="1397"/>
                </a:lnTo>
                <a:lnTo>
                  <a:pt x="133807" y="0"/>
                </a:lnTo>
                <a:close/>
              </a:path>
              <a:path w="185902" h="207263">
                <a:moveTo>
                  <a:pt x="155713" y="99313"/>
                </a:moveTo>
                <a:lnTo>
                  <a:pt x="111975" y="99313"/>
                </a:lnTo>
                <a:lnTo>
                  <a:pt x="116903" y="101473"/>
                </a:lnTo>
                <a:lnTo>
                  <a:pt x="122529" y="102997"/>
                </a:lnTo>
                <a:lnTo>
                  <a:pt x="133807" y="104266"/>
                </a:lnTo>
                <a:lnTo>
                  <a:pt x="139420" y="103631"/>
                </a:lnTo>
                <a:lnTo>
                  <a:pt x="144348" y="102997"/>
                </a:lnTo>
                <a:lnTo>
                  <a:pt x="149288" y="102235"/>
                </a:lnTo>
                <a:lnTo>
                  <a:pt x="154216" y="100075"/>
                </a:lnTo>
                <a:lnTo>
                  <a:pt x="155713" y="99313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9" name="object 19"/>
          <p:cNvSpPr/>
          <p:nvPr/>
        </p:nvSpPr>
        <p:spPr>
          <a:xfrm>
            <a:off x="53339" y="2340102"/>
            <a:ext cx="149326" cy="172212"/>
          </a:xfrm>
          <a:custGeom>
            <a:avLst/>
            <a:gdLst/>
            <a:ahLst/>
            <a:cxnLst/>
            <a:rect l="l" t="t" r="r" b="b"/>
            <a:pathLst>
              <a:path w="149326" h="172212">
                <a:moveTo>
                  <a:pt x="106254" y="99949"/>
                </a:moveTo>
                <a:lnTo>
                  <a:pt x="71822" y="99949"/>
                </a:lnTo>
                <a:lnTo>
                  <a:pt x="127977" y="172212"/>
                </a:lnTo>
                <a:lnTo>
                  <a:pt x="137934" y="163702"/>
                </a:lnTo>
                <a:lnTo>
                  <a:pt x="149326" y="155956"/>
                </a:lnTo>
                <a:lnTo>
                  <a:pt x="106254" y="99949"/>
                </a:lnTo>
                <a:close/>
              </a:path>
              <a:path w="149326" h="172212">
                <a:moveTo>
                  <a:pt x="56188" y="0"/>
                </a:moveTo>
                <a:lnTo>
                  <a:pt x="45504" y="0"/>
                </a:lnTo>
                <a:lnTo>
                  <a:pt x="40525" y="762"/>
                </a:lnTo>
                <a:lnTo>
                  <a:pt x="35547" y="2159"/>
                </a:lnTo>
                <a:lnTo>
                  <a:pt x="31296" y="4318"/>
                </a:lnTo>
                <a:lnTo>
                  <a:pt x="26318" y="6350"/>
                </a:lnTo>
                <a:lnTo>
                  <a:pt x="2153" y="36830"/>
                </a:lnTo>
                <a:lnTo>
                  <a:pt x="0" y="47498"/>
                </a:lnTo>
                <a:lnTo>
                  <a:pt x="0" y="58165"/>
                </a:lnTo>
                <a:lnTo>
                  <a:pt x="727" y="63119"/>
                </a:lnTo>
                <a:lnTo>
                  <a:pt x="2153" y="68072"/>
                </a:lnTo>
                <a:lnTo>
                  <a:pt x="4279" y="72262"/>
                </a:lnTo>
                <a:lnTo>
                  <a:pt x="6404" y="77215"/>
                </a:lnTo>
                <a:lnTo>
                  <a:pt x="9258" y="80772"/>
                </a:lnTo>
                <a:lnTo>
                  <a:pt x="12081" y="85089"/>
                </a:lnTo>
                <a:lnTo>
                  <a:pt x="15662" y="88519"/>
                </a:lnTo>
                <a:lnTo>
                  <a:pt x="49783" y="103505"/>
                </a:lnTo>
                <a:lnTo>
                  <a:pt x="57616" y="103505"/>
                </a:lnTo>
                <a:lnTo>
                  <a:pt x="64719" y="101981"/>
                </a:lnTo>
                <a:lnTo>
                  <a:pt x="71822" y="99949"/>
                </a:lnTo>
                <a:lnTo>
                  <a:pt x="106254" y="99949"/>
                </a:lnTo>
                <a:lnTo>
                  <a:pt x="93167" y="82931"/>
                </a:lnTo>
                <a:lnTo>
                  <a:pt x="96710" y="77977"/>
                </a:lnTo>
                <a:lnTo>
                  <a:pt x="99542" y="73025"/>
                </a:lnTo>
                <a:lnTo>
                  <a:pt x="101688" y="67310"/>
                </a:lnTo>
                <a:lnTo>
                  <a:pt x="103124" y="60960"/>
                </a:lnTo>
                <a:lnTo>
                  <a:pt x="103822" y="56007"/>
                </a:lnTo>
                <a:lnTo>
                  <a:pt x="103822" y="45338"/>
                </a:lnTo>
                <a:lnTo>
                  <a:pt x="84632" y="11302"/>
                </a:lnTo>
                <a:lnTo>
                  <a:pt x="61167" y="762"/>
                </a:lnTo>
                <a:lnTo>
                  <a:pt x="5618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0" name="object 20"/>
          <p:cNvSpPr/>
          <p:nvPr/>
        </p:nvSpPr>
        <p:spPr>
          <a:xfrm>
            <a:off x="0" y="2637283"/>
            <a:ext cx="158496" cy="126491"/>
          </a:xfrm>
          <a:custGeom>
            <a:avLst/>
            <a:gdLst/>
            <a:ahLst/>
            <a:cxnLst/>
            <a:rect l="l" t="t" r="r" b="b"/>
            <a:pathLst>
              <a:path w="158496" h="126491">
                <a:moveTo>
                  <a:pt x="3491" y="22605"/>
                </a:moveTo>
                <a:lnTo>
                  <a:pt x="0" y="23142"/>
                </a:lnTo>
                <a:lnTo>
                  <a:pt x="0" y="126491"/>
                </a:lnTo>
                <a:lnTo>
                  <a:pt x="4911" y="126491"/>
                </a:lnTo>
                <a:lnTo>
                  <a:pt x="9866" y="125729"/>
                </a:lnTo>
                <a:lnTo>
                  <a:pt x="19777" y="122935"/>
                </a:lnTo>
                <a:lnTo>
                  <a:pt x="24037" y="121538"/>
                </a:lnTo>
                <a:lnTo>
                  <a:pt x="28267" y="118744"/>
                </a:lnTo>
                <a:lnTo>
                  <a:pt x="32527" y="115823"/>
                </a:lnTo>
                <a:lnTo>
                  <a:pt x="36758" y="113029"/>
                </a:lnTo>
                <a:lnTo>
                  <a:pt x="53740" y="76326"/>
                </a:lnTo>
                <a:lnTo>
                  <a:pt x="53044" y="67817"/>
                </a:lnTo>
                <a:lnTo>
                  <a:pt x="113391" y="43179"/>
                </a:lnTo>
                <a:lnTo>
                  <a:pt x="43134" y="43179"/>
                </a:lnTo>
                <a:lnTo>
                  <a:pt x="32527" y="32512"/>
                </a:lnTo>
                <a:lnTo>
                  <a:pt x="27572" y="29717"/>
                </a:lnTo>
                <a:lnTo>
                  <a:pt x="23312" y="27558"/>
                </a:lnTo>
                <a:lnTo>
                  <a:pt x="18357" y="25400"/>
                </a:lnTo>
                <a:lnTo>
                  <a:pt x="13402" y="24002"/>
                </a:lnTo>
                <a:lnTo>
                  <a:pt x="8446" y="23367"/>
                </a:lnTo>
                <a:lnTo>
                  <a:pt x="3491" y="22605"/>
                </a:lnTo>
                <a:close/>
              </a:path>
              <a:path w="158496" h="126491">
                <a:moveTo>
                  <a:pt x="147891" y="0"/>
                </a:moveTo>
                <a:lnTo>
                  <a:pt x="43134" y="43179"/>
                </a:lnTo>
                <a:lnTo>
                  <a:pt x="113391" y="43179"/>
                </a:lnTo>
                <a:lnTo>
                  <a:pt x="158496" y="24764"/>
                </a:lnTo>
                <a:lnTo>
                  <a:pt x="152120" y="12700"/>
                </a:lnTo>
                <a:lnTo>
                  <a:pt x="147891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1" name="object 21"/>
          <p:cNvSpPr/>
          <p:nvPr/>
        </p:nvSpPr>
        <p:spPr>
          <a:xfrm>
            <a:off x="204241" y="2724151"/>
            <a:ext cx="103606" cy="185927"/>
          </a:xfrm>
          <a:custGeom>
            <a:avLst/>
            <a:gdLst/>
            <a:ahLst/>
            <a:cxnLst/>
            <a:rect l="l" t="t" r="r" b="b"/>
            <a:pathLst>
              <a:path w="103606" h="185927">
                <a:moveTo>
                  <a:pt x="43294" y="0"/>
                </a:moveTo>
                <a:lnTo>
                  <a:pt x="40449" y="83057"/>
                </a:lnTo>
                <a:lnTo>
                  <a:pt x="34785" y="84455"/>
                </a:lnTo>
                <a:lnTo>
                  <a:pt x="29082" y="87249"/>
                </a:lnTo>
                <a:lnTo>
                  <a:pt x="23418" y="90169"/>
                </a:lnTo>
                <a:lnTo>
                  <a:pt x="18453" y="93725"/>
                </a:lnTo>
                <a:lnTo>
                  <a:pt x="14185" y="97281"/>
                </a:lnTo>
                <a:lnTo>
                  <a:pt x="11366" y="101473"/>
                </a:lnTo>
                <a:lnTo>
                  <a:pt x="7785" y="105791"/>
                </a:lnTo>
                <a:lnTo>
                  <a:pt x="0" y="139064"/>
                </a:lnTo>
                <a:lnTo>
                  <a:pt x="698" y="144018"/>
                </a:lnTo>
                <a:lnTo>
                  <a:pt x="12064" y="166750"/>
                </a:lnTo>
                <a:lnTo>
                  <a:pt x="15608" y="171069"/>
                </a:lnTo>
                <a:lnTo>
                  <a:pt x="19151" y="174625"/>
                </a:lnTo>
                <a:lnTo>
                  <a:pt x="23418" y="177419"/>
                </a:lnTo>
                <a:lnTo>
                  <a:pt x="27660" y="179577"/>
                </a:lnTo>
                <a:lnTo>
                  <a:pt x="32626" y="181610"/>
                </a:lnTo>
                <a:lnTo>
                  <a:pt x="36906" y="183769"/>
                </a:lnTo>
                <a:lnTo>
                  <a:pt x="46837" y="185293"/>
                </a:lnTo>
                <a:lnTo>
                  <a:pt x="51803" y="185927"/>
                </a:lnTo>
                <a:lnTo>
                  <a:pt x="56768" y="185293"/>
                </a:lnTo>
                <a:lnTo>
                  <a:pt x="92252" y="166116"/>
                </a:lnTo>
                <a:lnTo>
                  <a:pt x="95059" y="161798"/>
                </a:lnTo>
                <a:lnTo>
                  <a:pt x="97917" y="157480"/>
                </a:lnTo>
                <a:lnTo>
                  <a:pt x="100037" y="153288"/>
                </a:lnTo>
                <a:lnTo>
                  <a:pt x="102882" y="143382"/>
                </a:lnTo>
                <a:lnTo>
                  <a:pt x="103513" y="139064"/>
                </a:lnTo>
                <a:lnTo>
                  <a:pt x="103606" y="128397"/>
                </a:lnTo>
                <a:lnTo>
                  <a:pt x="102882" y="123443"/>
                </a:lnTo>
                <a:lnTo>
                  <a:pt x="80187" y="90169"/>
                </a:lnTo>
                <a:lnTo>
                  <a:pt x="67411" y="84455"/>
                </a:lnTo>
                <a:lnTo>
                  <a:pt x="70234" y="1397"/>
                </a:lnTo>
                <a:lnTo>
                  <a:pt x="61747" y="1397"/>
                </a:lnTo>
                <a:lnTo>
                  <a:pt x="52501" y="762"/>
                </a:lnTo>
                <a:lnTo>
                  <a:pt x="43294" y="0"/>
                </a:lnTo>
                <a:close/>
              </a:path>
              <a:path w="103606" h="185927">
                <a:moveTo>
                  <a:pt x="70256" y="762"/>
                </a:moveTo>
                <a:lnTo>
                  <a:pt x="61747" y="1397"/>
                </a:lnTo>
                <a:lnTo>
                  <a:pt x="70234" y="1397"/>
                </a:lnTo>
                <a:lnTo>
                  <a:pt x="70256" y="762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2" name="object 22"/>
          <p:cNvSpPr/>
          <p:nvPr/>
        </p:nvSpPr>
        <p:spPr>
          <a:xfrm>
            <a:off x="387122" y="2582417"/>
            <a:ext cx="187401" cy="103632"/>
          </a:xfrm>
          <a:custGeom>
            <a:avLst/>
            <a:gdLst/>
            <a:ahLst/>
            <a:cxnLst/>
            <a:rect l="l" t="t" r="r" b="b"/>
            <a:pathLst>
              <a:path w="187401" h="103632">
                <a:moveTo>
                  <a:pt x="2844" y="21844"/>
                </a:moveTo>
                <a:lnTo>
                  <a:pt x="2120" y="35179"/>
                </a:lnTo>
                <a:lnTo>
                  <a:pt x="0" y="47879"/>
                </a:lnTo>
                <a:lnTo>
                  <a:pt x="84150" y="58547"/>
                </a:lnTo>
                <a:lnTo>
                  <a:pt x="84874" y="64135"/>
                </a:lnTo>
                <a:lnTo>
                  <a:pt x="86982" y="69723"/>
                </a:lnTo>
                <a:lnTo>
                  <a:pt x="89090" y="74041"/>
                </a:lnTo>
                <a:lnTo>
                  <a:pt x="91236" y="78994"/>
                </a:lnTo>
                <a:lnTo>
                  <a:pt x="94043" y="83185"/>
                </a:lnTo>
                <a:lnTo>
                  <a:pt x="97586" y="86741"/>
                </a:lnTo>
                <a:lnTo>
                  <a:pt x="101117" y="90170"/>
                </a:lnTo>
                <a:lnTo>
                  <a:pt x="104673" y="93726"/>
                </a:lnTo>
                <a:lnTo>
                  <a:pt x="128015" y="102870"/>
                </a:lnTo>
                <a:lnTo>
                  <a:pt x="132930" y="103632"/>
                </a:lnTo>
                <a:lnTo>
                  <a:pt x="137883" y="103632"/>
                </a:lnTo>
                <a:lnTo>
                  <a:pt x="142836" y="102870"/>
                </a:lnTo>
                <a:lnTo>
                  <a:pt x="147789" y="102235"/>
                </a:lnTo>
                <a:lnTo>
                  <a:pt x="152742" y="100076"/>
                </a:lnTo>
                <a:lnTo>
                  <a:pt x="157695" y="98679"/>
                </a:lnTo>
                <a:lnTo>
                  <a:pt x="162636" y="95885"/>
                </a:lnTo>
                <a:lnTo>
                  <a:pt x="166903" y="93091"/>
                </a:lnTo>
                <a:lnTo>
                  <a:pt x="177495" y="82423"/>
                </a:lnTo>
                <a:lnTo>
                  <a:pt x="179603" y="78232"/>
                </a:lnTo>
                <a:lnTo>
                  <a:pt x="182448" y="74041"/>
                </a:lnTo>
                <a:lnTo>
                  <a:pt x="185280" y="64135"/>
                </a:lnTo>
                <a:lnTo>
                  <a:pt x="186702" y="59944"/>
                </a:lnTo>
                <a:lnTo>
                  <a:pt x="187401" y="54229"/>
                </a:lnTo>
                <a:lnTo>
                  <a:pt x="187401" y="49403"/>
                </a:lnTo>
                <a:lnTo>
                  <a:pt x="185978" y="39497"/>
                </a:lnTo>
                <a:lnTo>
                  <a:pt x="182942" y="32385"/>
                </a:lnTo>
                <a:lnTo>
                  <a:pt x="87680" y="32385"/>
                </a:lnTo>
                <a:lnTo>
                  <a:pt x="2844" y="21844"/>
                </a:lnTo>
                <a:close/>
              </a:path>
              <a:path w="187401" h="103632">
                <a:moveTo>
                  <a:pt x="132930" y="0"/>
                </a:moveTo>
                <a:lnTo>
                  <a:pt x="95465" y="19050"/>
                </a:lnTo>
                <a:lnTo>
                  <a:pt x="87680" y="32385"/>
                </a:lnTo>
                <a:lnTo>
                  <a:pt x="182942" y="32385"/>
                </a:lnTo>
                <a:lnTo>
                  <a:pt x="161950" y="7747"/>
                </a:lnTo>
                <a:lnTo>
                  <a:pt x="157695" y="4953"/>
                </a:lnTo>
                <a:lnTo>
                  <a:pt x="142836" y="762"/>
                </a:lnTo>
                <a:lnTo>
                  <a:pt x="137883" y="762"/>
                </a:lnTo>
                <a:lnTo>
                  <a:pt x="13293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3" name="object 23"/>
          <p:cNvSpPr/>
          <p:nvPr/>
        </p:nvSpPr>
        <p:spPr>
          <a:xfrm>
            <a:off x="156971" y="2490977"/>
            <a:ext cx="219430" cy="220980"/>
          </a:xfrm>
          <a:custGeom>
            <a:avLst/>
            <a:gdLst/>
            <a:ahLst/>
            <a:cxnLst/>
            <a:rect l="l" t="t" r="r" b="b"/>
            <a:pathLst>
              <a:path w="219430" h="220980">
                <a:moveTo>
                  <a:pt x="109728" y="0"/>
                </a:moveTo>
                <a:lnTo>
                  <a:pt x="67233" y="8509"/>
                </a:lnTo>
                <a:lnTo>
                  <a:pt x="32550" y="32638"/>
                </a:lnTo>
                <a:lnTo>
                  <a:pt x="8496" y="67563"/>
                </a:lnTo>
                <a:lnTo>
                  <a:pt x="0" y="110109"/>
                </a:lnTo>
                <a:lnTo>
                  <a:pt x="698" y="121538"/>
                </a:lnTo>
                <a:lnTo>
                  <a:pt x="13449" y="162687"/>
                </a:lnTo>
                <a:lnTo>
                  <a:pt x="40347" y="195325"/>
                </a:lnTo>
                <a:lnTo>
                  <a:pt x="67233" y="211709"/>
                </a:lnTo>
                <a:lnTo>
                  <a:pt x="77152" y="216026"/>
                </a:lnTo>
                <a:lnTo>
                  <a:pt x="87757" y="218186"/>
                </a:lnTo>
                <a:lnTo>
                  <a:pt x="98399" y="220218"/>
                </a:lnTo>
                <a:lnTo>
                  <a:pt x="109728" y="220980"/>
                </a:lnTo>
                <a:lnTo>
                  <a:pt x="121031" y="220218"/>
                </a:lnTo>
                <a:lnTo>
                  <a:pt x="162102" y="207518"/>
                </a:lnTo>
                <a:lnTo>
                  <a:pt x="194652" y="180467"/>
                </a:lnTo>
                <a:lnTo>
                  <a:pt x="215201" y="143510"/>
                </a:lnTo>
                <a:lnTo>
                  <a:pt x="219430" y="121538"/>
                </a:lnTo>
                <a:lnTo>
                  <a:pt x="219430" y="99441"/>
                </a:lnTo>
                <a:lnTo>
                  <a:pt x="217309" y="88137"/>
                </a:lnTo>
                <a:lnTo>
                  <a:pt x="215201" y="77470"/>
                </a:lnTo>
                <a:lnTo>
                  <a:pt x="210934" y="67563"/>
                </a:lnTo>
                <a:lnTo>
                  <a:pt x="206705" y="57531"/>
                </a:lnTo>
                <a:lnTo>
                  <a:pt x="179781" y="25654"/>
                </a:lnTo>
                <a:lnTo>
                  <a:pt x="142278" y="4952"/>
                </a:lnTo>
                <a:lnTo>
                  <a:pt x="121031" y="762"/>
                </a:lnTo>
                <a:lnTo>
                  <a:pt x="10972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4" name="object 24"/>
          <p:cNvSpPr txBox="1"/>
          <p:nvPr/>
        </p:nvSpPr>
        <p:spPr>
          <a:xfrm>
            <a:off x="3059832" y="2533650"/>
            <a:ext cx="3888432" cy="226558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4000" b="1" dirty="0">
                <a:solidFill>
                  <a:srgbClr val="002060"/>
                </a:solidFill>
                <a:cs typeface="Calibri"/>
              </a:rPr>
              <a:t>Funciones que devuelven un valor</a:t>
            </a:r>
            <a:endParaRPr sz="4000" b="1" dirty="0">
              <a:solidFill>
                <a:srgbClr val="002060"/>
              </a:solidFill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75715" y="3021076"/>
            <a:ext cx="334645" cy="774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4800" b="1" spc="-25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4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899344" y="1783357"/>
            <a:ext cx="7633096" cy="4525963"/>
          </a:xfrm>
        </p:spPr>
        <p:txBody>
          <a:bodyPr>
            <a:normAutofit/>
          </a:bodyPr>
          <a:lstStyle/>
          <a:p>
            <a:pPr marL="0" indent="0" algn="just" eaLnBrk="1" hangingPunct="1">
              <a:lnSpc>
                <a:spcPts val="4000"/>
              </a:lnSpc>
              <a:spcBef>
                <a:spcPct val="0"/>
              </a:spcBef>
              <a:buFontTx/>
              <a:buNone/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Una función la podemos ver como un proceso que recibe valores de entrada y a partir de ellos produce un valor de salida. </a:t>
            </a:r>
          </a:p>
          <a:p>
            <a:pPr algn="just" eaLnBrk="1" hangingPunct="1">
              <a:lnSpc>
                <a:spcPts val="4000"/>
              </a:lnSpc>
              <a:spcBef>
                <a:spcPct val="0"/>
              </a:spcBef>
              <a:buFontTx/>
              <a:buNone/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pPr marL="0" indent="0" algn="just" eaLnBrk="1" hangingPunct="1">
              <a:lnSpc>
                <a:spcPts val="4000"/>
              </a:lnSpc>
              <a:spcBef>
                <a:spcPct val="0"/>
              </a:spcBef>
              <a:buFontTx/>
              <a:buNone/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Por ejemplo: </a:t>
            </a:r>
            <a:endParaRPr lang="es-MX" sz="24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84323" name="Picture 3" descr="fun0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3447256"/>
            <a:ext cx="1798638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575432" y="372322"/>
            <a:ext cx="7993136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MX" sz="49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Funciones que devuelven un valor</a:t>
            </a:r>
            <a:endParaRPr lang="es-MX" b="1"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616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TIG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ChangeArrowheads="1"/>
          </p:cNvSpPr>
          <p:nvPr/>
        </p:nvSpPr>
        <p:spPr bwMode="auto">
          <a:xfrm>
            <a:off x="323850" y="5949950"/>
            <a:ext cx="2447925" cy="9080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 dirty="0"/>
          </a:p>
        </p:txBody>
      </p:sp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>
          <a:xfrm>
            <a:off x="811522" y="214759"/>
            <a:ext cx="7513638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Funciones que devuelven un valor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1412875"/>
            <a:ext cx="7992119" cy="1872110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ts val="4000"/>
              </a:lnSpc>
              <a:spcBef>
                <a:spcPct val="0"/>
              </a:spcBef>
            </a:pP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La función </a:t>
            </a:r>
            <a:r>
              <a:rPr lang="es-ES_tradnl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Promedio</a:t>
            </a: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recibe dos valores (</a:t>
            </a:r>
            <a:r>
              <a:rPr lang="es-ES_tradnl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10</a:t>
            </a: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y </a:t>
            </a:r>
            <a:r>
              <a:rPr lang="es-ES_tradnl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6 </a:t>
            </a: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) dos valores al azar, y lleva a cabo el cálculo para obtener el promedio de estos dos números y regresar el valor resultante, en nuestro ejemplo 8.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                     </a:t>
            </a:r>
          </a:p>
        </p:txBody>
      </p:sp>
      <p:pic>
        <p:nvPicPr>
          <p:cNvPr id="5125" name="Picture 4" descr="fun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507"/>
          <a:stretch>
            <a:fillRect/>
          </a:stretch>
        </p:blipFill>
        <p:spPr bwMode="auto">
          <a:xfrm>
            <a:off x="827584" y="3606800"/>
            <a:ext cx="1905000" cy="280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7701" name="Picture 5" descr="fun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959"/>
          <a:stretch>
            <a:fillRect/>
          </a:stretch>
        </p:blipFill>
        <p:spPr bwMode="auto">
          <a:xfrm>
            <a:off x="6948264" y="3638128"/>
            <a:ext cx="16002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7702" name="Text Box 6"/>
          <p:cNvSpPr txBox="1">
            <a:spLocks noChangeArrowheads="1"/>
          </p:cNvSpPr>
          <p:nvPr/>
        </p:nvSpPr>
        <p:spPr bwMode="auto">
          <a:xfrm>
            <a:off x="2339752" y="3717032"/>
            <a:ext cx="4572000" cy="18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lnSpc>
                <a:spcPts val="3600"/>
              </a:lnSpc>
            </a:pPr>
            <a:r>
              <a:rPr lang="es-ES_tradnl" sz="2000" dirty="0">
                <a:solidFill>
                  <a:schemeClr val="bg2">
                    <a:lumMod val="25000"/>
                  </a:schemeClr>
                </a:solidFill>
              </a:rPr>
              <a:t>Una vez definida una función, esta puede ser aplicada a diferentes valores y obtener en cada caso el resultado correspondiente.</a:t>
            </a:r>
            <a:endParaRPr lang="es-ES_tradnl" sz="2400" dirty="0"/>
          </a:p>
        </p:txBody>
      </p:sp>
    </p:spTree>
    <p:extLst>
      <p:ext uri="{BB962C8B-B14F-4D97-AF65-F5344CB8AC3E}">
        <p14:creationId xmlns:p14="http://schemas.microsoft.com/office/powerpoint/2010/main" val="2250901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77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77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RENAD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7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7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RENAD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702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6"/>
          <p:cNvSpPr>
            <a:spLocks noChangeArrowheads="1"/>
          </p:cNvSpPr>
          <p:nvPr/>
        </p:nvSpPr>
        <p:spPr bwMode="auto">
          <a:xfrm>
            <a:off x="323850" y="5949950"/>
            <a:ext cx="2447925" cy="9080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 dirty="0"/>
          </a:p>
        </p:txBody>
      </p:sp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0"/>
            <a:ext cx="84963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¿Cómo se define una función?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341438"/>
            <a:ext cx="8496300" cy="908050"/>
          </a:xfrm>
        </p:spPr>
        <p:txBody>
          <a:bodyPr/>
          <a:lstStyle/>
          <a:p>
            <a:pPr algn="just" eaLnBrk="1" hangingPunct="1"/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En Python, la definición de la función promedio sería la siguiente: </a:t>
            </a:r>
            <a:endParaRPr lang="es-ES_tradnl" dirty="0"/>
          </a:p>
          <a:p>
            <a:pPr eaLnBrk="1" hangingPunct="1"/>
            <a:endParaRPr lang="es-ES_tradnl" dirty="0"/>
          </a:p>
          <a:p>
            <a:pPr eaLnBrk="1" hangingPunct="1"/>
            <a:endParaRPr lang="es-ES_tradnl" dirty="0"/>
          </a:p>
          <a:p>
            <a:pPr eaLnBrk="1" hangingPunct="1"/>
            <a:endParaRPr lang="es-ES_tradnl" dirty="0"/>
          </a:p>
          <a:p>
            <a:pPr eaLnBrk="1" hangingPunct="1"/>
            <a:endParaRPr lang="es-ES_tradnl" dirty="0"/>
          </a:p>
        </p:txBody>
      </p:sp>
      <p:sp>
        <p:nvSpPr>
          <p:cNvPr id="158725" name="Text Box 5"/>
          <p:cNvSpPr txBox="1">
            <a:spLocks noChangeArrowheads="1"/>
          </p:cNvSpPr>
          <p:nvPr/>
        </p:nvSpPr>
        <p:spPr bwMode="auto">
          <a:xfrm>
            <a:off x="419107" y="4505221"/>
            <a:ext cx="8604250" cy="1586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2857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5715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ts val="3500"/>
              </a:lnSpc>
              <a:spcBef>
                <a:spcPct val="20000"/>
              </a:spcBef>
              <a:buFontTx/>
              <a:buChar char="•"/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</a:rPr>
              <a:t>La definición de una función está compuesta de dos partes: </a:t>
            </a:r>
          </a:p>
          <a:p>
            <a:pPr lvl="1">
              <a:lnSpc>
                <a:spcPts val="3500"/>
              </a:lnSpc>
              <a:spcBef>
                <a:spcPct val="20000"/>
              </a:spcBef>
              <a:buFontTx/>
              <a:buChar char="–"/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</a:rPr>
              <a:t>  </a:t>
            </a:r>
            <a:r>
              <a:rPr lang="es-ES_tradnl" sz="2400" b="1" dirty="0">
                <a:solidFill>
                  <a:srgbClr val="0070C0"/>
                </a:solidFill>
              </a:rPr>
              <a:t>Encabezado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</a:rPr>
              <a:t> de la función. </a:t>
            </a:r>
          </a:p>
          <a:p>
            <a:pPr lvl="1">
              <a:lnSpc>
                <a:spcPts val="3500"/>
              </a:lnSpc>
              <a:spcBef>
                <a:spcPct val="20000"/>
              </a:spcBef>
              <a:buFontTx/>
              <a:buChar char="–"/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</a:rPr>
              <a:t>  </a:t>
            </a:r>
            <a:r>
              <a:rPr lang="es-ES_tradnl" sz="2400" b="1" dirty="0">
                <a:solidFill>
                  <a:srgbClr val="FF0000"/>
                </a:solidFill>
              </a:rPr>
              <a:t>Cuerpo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</a:rPr>
              <a:t> de la función.</a:t>
            </a:r>
            <a:endParaRPr lang="es-ES_tradnl" sz="2400" dirty="0">
              <a:solidFill>
                <a:schemeClr val="bg2">
                  <a:lumMod val="25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32ED214C-E0B7-408E-B924-41B737D6E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7196" y="2540602"/>
            <a:ext cx="3929608" cy="144016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defTabSz="762000">
              <a:lnSpc>
                <a:spcPts val="3000"/>
              </a:lnSpc>
            </a:pPr>
            <a:r>
              <a:rPr lang="es-ES_tradnl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def promedio (a, b):</a:t>
            </a:r>
          </a:p>
          <a:p>
            <a:pPr defTabSz="762000">
              <a:lnSpc>
                <a:spcPts val="3000"/>
              </a:lnSpc>
            </a:pPr>
            <a:r>
              <a:rPr lang="es-ES_tradnl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     return (a+b)/2 </a:t>
            </a:r>
          </a:p>
        </p:txBody>
      </p:sp>
    </p:spTree>
    <p:extLst>
      <p:ext uri="{BB962C8B-B14F-4D97-AF65-F5344CB8AC3E}">
        <p14:creationId xmlns:p14="http://schemas.microsoft.com/office/powerpoint/2010/main" val="2091173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87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87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RENAD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87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87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RENAD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87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87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RENAD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25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>
          <a:xfrm>
            <a:off x="760413" y="115888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Partes de una función</a:t>
            </a:r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584" y="4148832"/>
            <a:ext cx="6120680" cy="2376512"/>
          </a:xfrm>
        </p:spPr>
        <p:txBody>
          <a:bodyPr>
            <a:normAutofit/>
          </a:bodyPr>
          <a:lstStyle/>
          <a:p>
            <a:pPr marL="0" indent="0" eaLnBrk="1" hangingPunct="1">
              <a:lnSpc>
                <a:spcPts val="4000"/>
              </a:lnSpc>
              <a:spcBef>
                <a:spcPct val="0"/>
              </a:spcBef>
              <a:buNone/>
            </a:pPr>
            <a:r>
              <a:rPr lang="es-ES_tradnl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En el </a:t>
            </a:r>
            <a:r>
              <a:rPr lang="es-ES_tradnl" sz="20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encabezado</a:t>
            </a:r>
            <a:r>
              <a:rPr lang="es-ES_tradnl" sz="2000" b="1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se define: </a:t>
            </a:r>
          </a:p>
          <a:p>
            <a:pPr>
              <a:lnSpc>
                <a:spcPts val="4000"/>
              </a:lnSpc>
              <a:spcBef>
                <a:spcPct val="0"/>
              </a:spcBef>
            </a:pPr>
            <a:r>
              <a:rPr lang="es-ES_tradnl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El </a:t>
            </a:r>
            <a:r>
              <a:rPr lang="es-ES_tradnl" sz="2000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nombre</a:t>
            </a:r>
            <a:r>
              <a:rPr lang="es-ES_tradnl" sz="2000" b="1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de la función </a:t>
            </a:r>
          </a:p>
          <a:p>
            <a:pPr>
              <a:lnSpc>
                <a:spcPts val="4000"/>
              </a:lnSpc>
              <a:spcBef>
                <a:spcPct val="0"/>
              </a:spcBef>
            </a:pPr>
            <a:r>
              <a:rPr lang="es-ES_tradnl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y los </a:t>
            </a:r>
            <a:r>
              <a:rPr lang="es-ES_tradnl" sz="2000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parámetros</a:t>
            </a:r>
            <a:r>
              <a:rPr lang="es-ES_tradnl" sz="2000" b="1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de la función</a:t>
            </a:r>
          </a:p>
        </p:txBody>
      </p:sp>
      <p:grpSp>
        <p:nvGrpSpPr>
          <p:cNvPr id="7172" name="Group 4"/>
          <p:cNvGrpSpPr>
            <a:grpSpLocks/>
          </p:cNvGrpSpPr>
          <p:nvPr/>
        </p:nvGrpSpPr>
        <p:grpSpPr bwMode="auto">
          <a:xfrm>
            <a:off x="1042988" y="1604517"/>
            <a:ext cx="7239000" cy="1752600"/>
            <a:chOff x="192" y="685"/>
            <a:chExt cx="4560" cy="1104"/>
          </a:xfrm>
        </p:grpSpPr>
        <p:grpSp>
          <p:nvGrpSpPr>
            <p:cNvPr id="7173" name="Group 5"/>
            <p:cNvGrpSpPr>
              <a:grpSpLocks/>
            </p:cNvGrpSpPr>
            <p:nvPr/>
          </p:nvGrpSpPr>
          <p:grpSpPr bwMode="auto">
            <a:xfrm>
              <a:off x="1728" y="685"/>
              <a:ext cx="3024" cy="1104"/>
              <a:chOff x="1356" y="685"/>
              <a:chExt cx="3024" cy="1104"/>
            </a:xfrm>
          </p:grpSpPr>
          <p:sp>
            <p:nvSpPr>
              <p:cNvPr id="7178" name="Rectangle 6"/>
              <p:cNvSpPr>
                <a:spLocks noChangeArrowheads="1"/>
              </p:cNvSpPr>
              <p:nvPr/>
            </p:nvSpPr>
            <p:spPr bwMode="auto">
              <a:xfrm>
                <a:off x="1440" y="685"/>
                <a:ext cx="2928" cy="11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CC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762000">
                  <a:lnSpc>
                    <a:spcPct val="150000"/>
                  </a:lnSpc>
                </a:pPr>
                <a:r>
                  <a:rPr lang="es-ES_tradnl" sz="2400" b="1" dirty="0"/>
                  <a:t>def promedio (a, b):</a:t>
                </a:r>
              </a:p>
              <a:p>
                <a:pPr defTabSz="762000">
                  <a:lnSpc>
                    <a:spcPct val="150000"/>
                  </a:lnSpc>
                </a:pPr>
                <a:endParaRPr lang="es-ES_tradnl" sz="800" b="1" dirty="0"/>
              </a:p>
              <a:p>
                <a:pPr defTabSz="762000">
                  <a:lnSpc>
                    <a:spcPct val="150000"/>
                  </a:lnSpc>
                </a:pPr>
                <a:r>
                  <a:rPr lang="es-ES_tradnl" sz="2400" b="1" dirty="0"/>
                  <a:t>       return (a+b)/2</a:t>
                </a:r>
              </a:p>
            </p:txBody>
          </p:sp>
          <p:sp>
            <p:nvSpPr>
              <p:cNvPr id="7179" name="Rectangle 7"/>
              <p:cNvSpPr>
                <a:spLocks noChangeArrowheads="1"/>
              </p:cNvSpPr>
              <p:nvPr/>
            </p:nvSpPr>
            <p:spPr bwMode="auto">
              <a:xfrm>
                <a:off x="1356" y="888"/>
                <a:ext cx="3024" cy="336"/>
              </a:xfrm>
              <a:prstGeom prst="rect">
                <a:avLst/>
              </a:prstGeom>
              <a:noFill/>
              <a:ln w="38100">
                <a:solidFill>
                  <a:srgbClr val="0070C0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7180" name="Rectangle 8"/>
              <p:cNvSpPr>
                <a:spLocks noChangeArrowheads="1"/>
              </p:cNvSpPr>
              <p:nvPr/>
            </p:nvSpPr>
            <p:spPr bwMode="auto">
              <a:xfrm>
                <a:off x="1356" y="1260"/>
                <a:ext cx="3024" cy="463"/>
              </a:xfrm>
              <a:prstGeom prst="rect">
                <a:avLst/>
              </a:prstGeom>
              <a:noFill/>
              <a:ln w="38100">
                <a:solidFill>
                  <a:srgbClr val="FF3300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</p:grpSp>
        <p:sp>
          <p:nvSpPr>
            <p:cNvPr id="7174" name="Text Box 9"/>
            <p:cNvSpPr txBox="1">
              <a:spLocks noChangeArrowheads="1"/>
            </p:cNvSpPr>
            <p:nvPr/>
          </p:nvSpPr>
          <p:spPr bwMode="auto">
            <a:xfrm>
              <a:off x="192" y="720"/>
              <a:ext cx="12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_tradnl" sz="2400" b="1" dirty="0">
                  <a:solidFill>
                    <a:srgbClr val="0070C0"/>
                  </a:solidFill>
                </a:rPr>
                <a:t>Encabezado</a:t>
              </a:r>
            </a:p>
          </p:txBody>
        </p:sp>
        <p:sp>
          <p:nvSpPr>
            <p:cNvPr id="7175" name="Text Box 10"/>
            <p:cNvSpPr txBox="1">
              <a:spLocks noChangeArrowheads="1"/>
            </p:cNvSpPr>
            <p:nvPr/>
          </p:nvSpPr>
          <p:spPr bwMode="auto">
            <a:xfrm>
              <a:off x="624" y="1440"/>
              <a:ext cx="7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_tradnl" sz="2400" b="1" dirty="0">
                  <a:solidFill>
                    <a:srgbClr val="FF3300"/>
                  </a:solidFill>
                </a:rPr>
                <a:t>Cuerpo</a:t>
              </a:r>
              <a:endParaRPr lang="es-ES_tradnl" sz="2400" b="1" dirty="0">
                <a:solidFill>
                  <a:schemeClr val="accent2"/>
                </a:solidFill>
              </a:endParaRPr>
            </a:p>
          </p:txBody>
        </p:sp>
        <p:cxnSp>
          <p:nvCxnSpPr>
            <p:cNvPr id="7176" name="AutoShape 11"/>
            <p:cNvCxnSpPr>
              <a:cxnSpLocks noChangeShapeType="1"/>
              <a:endCxn id="7179" idx="1"/>
            </p:cNvCxnSpPr>
            <p:nvPr/>
          </p:nvCxnSpPr>
          <p:spPr bwMode="auto">
            <a:xfrm>
              <a:off x="1488" y="864"/>
              <a:ext cx="228" cy="192"/>
            </a:xfrm>
            <a:prstGeom prst="straightConnector1">
              <a:avLst/>
            </a:prstGeom>
            <a:noFill/>
            <a:ln w="28575">
              <a:solidFill>
                <a:srgbClr val="3333CC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77" name="AutoShape 12"/>
            <p:cNvCxnSpPr>
              <a:cxnSpLocks noChangeShapeType="1"/>
              <a:stCxn id="7175" idx="3"/>
              <a:endCxn id="7180" idx="1"/>
            </p:cNvCxnSpPr>
            <p:nvPr/>
          </p:nvCxnSpPr>
          <p:spPr bwMode="auto">
            <a:xfrm flipV="1">
              <a:off x="1412" y="1492"/>
              <a:ext cx="316" cy="92"/>
            </a:xfrm>
            <a:prstGeom prst="straightConnector1">
              <a:avLst/>
            </a:prstGeom>
            <a:noFill/>
            <a:ln w="28575">
              <a:solidFill>
                <a:srgbClr val="FF33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pic>
        <p:nvPicPr>
          <p:cNvPr id="13" name="12 Imagen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573" y="4448329"/>
            <a:ext cx="2160240" cy="1880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277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59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59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59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47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1"/>
          <p:cNvSpPr>
            <a:spLocks noChangeArrowheads="1"/>
          </p:cNvSpPr>
          <p:nvPr/>
        </p:nvSpPr>
        <p:spPr bwMode="auto">
          <a:xfrm>
            <a:off x="252413" y="5949950"/>
            <a:ext cx="2447925" cy="9080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 dirty="0"/>
          </a:p>
        </p:txBody>
      </p:sp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8032" y="-27384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Encabezado de una función</a:t>
            </a:r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0040" y="3515196"/>
            <a:ext cx="7916416" cy="2722116"/>
          </a:xfrm>
        </p:spPr>
        <p:txBody>
          <a:bodyPr>
            <a:normAutofit/>
          </a:bodyPr>
          <a:lstStyle/>
          <a:p>
            <a:pPr marL="0" indent="0" algn="just" eaLnBrk="1" hangingPunct="1">
              <a:lnSpc>
                <a:spcPct val="200000"/>
              </a:lnSpc>
              <a:spcBef>
                <a:spcPts val="1200"/>
              </a:spcBef>
              <a:buNone/>
            </a:pPr>
            <a:r>
              <a:rPr lang="es-ES_tradnl" sz="19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Los parámetros de la función son una lista de variables que nos permiten identificar los valores de entrada de la función. </a:t>
            </a:r>
            <a:r>
              <a:rPr lang="es-ES_tradnl" sz="19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En este caso, el primer valor de entrada va a ser identificado por la variable</a:t>
            </a:r>
            <a:r>
              <a:rPr lang="es-ES_tradnl" sz="19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1900" b="1" dirty="0">
                <a:solidFill>
                  <a:srgbClr val="FF330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s-ES_tradnl" sz="19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y el segundo valor de entrada va a ser identificado por la letra </a:t>
            </a:r>
            <a:r>
              <a:rPr lang="es-ES_tradnl" sz="1900" b="1" dirty="0">
                <a:solidFill>
                  <a:srgbClr val="FF3300"/>
                </a:solidFill>
                <a:latin typeface="Arial" pitchFamily="34" charset="0"/>
                <a:cs typeface="Arial" pitchFamily="34" charset="0"/>
              </a:rPr>
              <a:t>b</a:t>
            </a:r>
            <a:r>
              <a:rPr lang="es-ES_tradnl" sz="19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8197" name="Rectangle 4"/>
          <p:cNvSpPr>
            <a:spLocks noChangeArrowheads="1"/>
          </p:cNvSpPr>
          <p:nvPr/>
        </p:nvSpPr>
        <p:spPr bwMode="auto">
          <a:xfrm>
            <a:off x="2152748" y="1446337"/>
            <a:ext cx="464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CC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762000"/>
            <a:r>
              <a:rPr lang="es-ES_tradnl" sz="2400" b="1" dirty="0">
                <a:solidFill>
                  <a:srgbClr val="008000"/>
                </a:solidFill>
                <a:cs typeface="Arial" pitchFamily="34" charset="0"/>
              </a:rPr>
              <a:t>def</a:t>
            </a:r>
            <a:r>
              <a:rPr lang="es-ES_tradnl" sz="2000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</a:rPr>
              <a:t>Promedio  (</a:t>
            </a:r>
            <a:r>
              <a:rPr lang="es-ES_tradnl" sz="2400" b="1" dirty="0">
                <a:solidFill>
                  <a:srgbClr val="FF0000"/>
                </a:solidFill>
              </a:rPr>
              <a:t>a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</a:rPr>
              <a:t>, </a:t>
            </a:r>
            <a:r>
              <a:rPr lang="es-ES_tradnl" sz="2400" b="1" dirty="0">
                <a:solidFill>
                  <a:srgbClr val="FF0000"/>
                </a:solidFill>
              </a:rPr>
              <a:t>b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</a:rPr>
              <a:t>):</a:t>
            </a:r>
            <a:endParaRPr lang="es-ES_tradnl" sz="8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8199" name="Rectangle 6"/>
          <p:cNvSpPr>
            <a:spLocks noChangeArrowheads="1"/>
          </p:cNvSpPr>
          <p:nvPr/>
        </p:nvSpPr>
        <p:spPr bwMode="auto">
          <a:xfrm>
            <a:off x="4067944" y="1427287"/>
            <a:ext cx="911400" cy="533400"/>
          </a:xfrm>
          <a:prstGeom prst="rect">
            <a:avLst/>
          </a:prstGeom>
          <a:noFill/>
          <a:ln w="38100">
            <a:solidFill>
              <a:srgbClr val="0070C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 dirty="0"/>
          </a:p>
        </p:txBody>
      </p:sp>
      <p:sp>
        <p:nvSpPr>
          <p:cNvPr id="160776" name="Text Box 8"/>
          <p:cNvSpPr txBox="1">
            <a:spLocks noChangeArrowheads="1"/>
          </p:cNvSpPr>
          <p:nvPr/>
        </p:nvSpPr>
        <p:spPr bwMode="auto">
          <a:xfrm>
            <a:off x="5426247" y="2204750"/>
            <a:ext cx="2746153" cy="936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3500"/>
              </a:lnSpc>
            </a:pPr>
            <a:r>
              <a:rPr lang="es-ES_tradnl" sz="2000" b="1" dirty="0">
                <a:solidFill>
                  <a:srgbClr val="FF3300"/>
                </a:solidFill>
              </a:rPr>
              <a:t>Parámetros:</a:t>
            </a:r>
            <a:r>
              <a:rPr lang="es-ES_tradnl" sz="2000" b="1" dirty="0">
                <a:solidFill>
                  <a:srgbClr val="008000"/>
                </a:solidFill>
              </a:rPr>
              <a:t> </a:t>
            </a:r>
            <a:r>
              <a:rPr lang="es-ES_tradnl" sz="2000" b="1" dirty="0">
                <a:solidFill>
                  <a:schemeClr val="bg2">
                    <a:lumMod val="25000"/>
                  </a:schemeClr>
                </a:solidFill>
              </a:rPr>
              <a:t>valores de entrada</a:t>
            </a:r>
          </a:p>
        </p:txBody>
      </p:sp>
      <p:cxnSp>
        <p:nvCxnSpPr>
          <p:cNvPr id="160777" name="AutoShape 9"/>
          <p:cNvCxnSpPr>
            <a:cxnSpLocks noChangeShapeType="1"/>
            <a:stCxn id="160776" idx="1"/>
            <a:endCxn id="8199" idx="2"/>
          </p:cNvCxnSpPr>
          <p:nvPr/>
        </p:nvCxnSpPr>
        <p:spPr bwMode="auto">
          <a:xfrm rot="10800000">
            <a:off x="4523645" y="1960687"/>
            <a:ext cx="902603" cy="712172"/>
          </a:xfrm>
          <a:prstGeom prst="bentConnector2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960468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07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07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TIG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07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07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TIG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160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1" grpId="0" build="p" autoUpdateAnimBg="0"/>
      <p:bldP spid="160776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8264" y="44624"/>
            <a:ext cx="2176986" cy="1800200"/>
          </a:xfrm>
          <a:prstGeom prst="rect">
            <a:avLst/>
          </a:prstGeom>
        </p:spPr>
      </p:pic>
      <p:sp>
        <p:nvSpPr>
          <p:cNvPr id="9218" name="Rectangle 4"/>
          <p:cNvSpPr>
            <a:spLocks noChangeArrowheads="1"/>
          </p:cNvSpPr>
          <p:nvPr/>
        </p:nvSpPr>
        <p:spPr bwMode="auto">
          <a:xfrm>
            <a:off x="323850" y="5949950"/>
            <a:ext cx="2447925" cy="9080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 dirty="0"/>
          </a:p>
        </p:txBody>
      </p:sp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>
          <a:xfrm>
            <a:off x="412576" y="358552"/>
            <a:ext cx="7255768" cy="838200"/>
          </a:xfrm>
        </p:spPr>
        <p:txBody>
          <a:bodyPr/>
          <a:lstStyle/>
          <a:p>
            <a:pPr algn="l" eaLnBrk="1" hangingPunct="1">
              <a:defRPr/>
            </a:pPr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Parámetros de una función</a:t>
            </a:r>
          </a:p>
        </p:txBody>
      </p:sp>
      <p:sp>
        <p:nvSpPr>
          <p:cNvPr id="161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4149080"/>
            <a:ext cx="8496944" cy="2088232"/>
          </a:xfrm>
        </p:spPr>
        <p:txBody>
          <a:bodyPr>
            <a:noAutofit/>
          </a:bodyPr>
          <a:lstStyle/>
          <a:p>
            <a:pPr algn="just" eaLnBrk="1" hangingPunct="1">
              <a:lnSpc>
                <a:spcPts val="4000"/>
              </a:lnSpc>
              <a:spcBef>
                <a:spcPts val="1200"/>
              </a:spcBef>
            </a:pP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Las variables definidas en la lista de parámetros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0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sólo podrán ser utilizadas en el cuerpo de la función</a:t>
            </a:r>
            <a:r>
              <a:rPr lang="es-ES_tradnl" sz="20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.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Una vez que la función haya terminado de hacer sus cálculos y haya regresado el resultado, </a:t>
            </a:r>
            <a:r>
              <a:rPr lang="es-ES_tradnl" sz="20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las variables de los parámetros son desechadas. 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79511" y="1556792"/>
            <a:ext cx="7857246" cy="26642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 algn="just">
              <a:lnSpc>
                <a:spcPts val="4000"/>
              </a:lnSpc>
              <a:spcBef>
                <a:spcPts val="1200"/>
              </a:spcBef>
              <a:buFont typeface="Arial" pitchFamily="34" charset="0"/>
              <a:buChar char="•"/>
            </a:pP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La cantidad de variables que se definan en la </a:t>
            </a:r>
            <a:r>
              <a:rPr lang="es-ES_tradnl" sz="2000" b="1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lista de parámetros</a:t>
            </a:r>
            <a:r>
              <a:rPr lang="es-ES_tradnl" sz="2000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dependerá de los valores de entrada que necesite la función. Si requiere </a:t>
            </a:r>
            <a:r>
              <a:rPr lang="es-ES_tradnl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5 datos de entrada</a:t>
            </a: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, tendrá </a:t>
            </a:r>
            <a:r>
              <a:rPr lang="es-ES_tradnl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5 variables.</a:t>
            </a: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Si no requiere de valores de entrada, entonces la lista será vacía, (paréntesis vacíos). </a:t>
            </a:r>
          </a:p>
          <a:p>
            <a:pPr algn="just">
              <a:lnSpc>
                <a:spcPts val="4000"/>
              </a:lnSpc>
              <a:spcBef>
                <a:spcPts val="1200"/>
              </a:spcBef>
            </a:pPr>
            <a:endParaRPr lang="es-ES_tradnl" sz="2000" b="1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2995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61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795" grpId="0" build="p" autoUpdateAnimBg="0"/>
      <p:bldP spid="6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ChangeArrowheads="1"/>
          </p:cNvSpPr>
          <p:nvPr>
            <p:ph type="title"/>
          </p:nvPr>
        </p:nvSpPr>
        <p:spPr>
          <a:xfrm>
            <a:off x="1547664" y="269875"/>
            <a:ext cx="6281936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Cuerpo de la función</a:t>
            </a:r>
          </a:p>
        </p:txBody>
      </p:sp>
      <p:sp>
        <p:nvSpPr>
          <p:cNvPr id="162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6096" y="1700808"/>
            <a:ext cx="7632328" cy="3168352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ts val="3500"/>
              </a:lnSpc>
              <a:spcBef>
                <a:spcPts val="1800"/>
              </a:spcBef>
            </a:pP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El </a:t>
            </a:r>
            <a:r>
              <a:rPr lang="es-ES_tradnl" sz="2000" b="1" dirty="0">
                <a:solidFill>
                  <a:srgbClr val="FF3300"/>
                </a:solidFill>
                <a:latin typeface="Arial" pitchFamily="34" charset="0"/>
                <a:cs typeface="Arial" pitchFamily="34" charset="0"/>
              </a:rPr>
              <a:t>cuerpo </a:t>
            </a: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de la función es una lista de instrucciones de Phyton. Esta lista de instrucciones define el proceso que la función debe llevar a cabo.  </a:t>
            </a:r>
          </a:p>
          <a:p>
            <a:pPr algn="just" eaLnBrk="1" hangingPunct="1">
              <a:lnSpc>
                <a:spcPts val="3500"/>
              </a:lnSpc>
              <a:spcBef>
                <a:spcPts val="1800"/>
              </a:spcBef>
            </a:pP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Para indicar el resultado de la función se utiliza la palabra </a:t>
            </a:r>
            <a:r>
              <a:rPr lang="es-ES_tradnl" sz="2000" b="1" dirty="0">
                <a:solidFill>
                  <a:srgbClr val="3333CC"/>
                </a:solidFill>
                <a:latin typeface="Arial" pitchFamily="34" charset="0"/>
                <a:cs typeface="Arial" pitchFamily="34" charset="0"/>
              </a:rPr>
              <a:t>return</a:t>
            </a: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, seguida de la expresión que calcula el valor resultante. </a:t>
            </a:r>
          </a:p>
        </p:txBody>
      </p:sp>
      <p:pic>
        <p:nvPicPr>
          <p:cNvPr id="6" name="5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0152" y="4369788"/>
            <a:ext cx="2376264" cy="206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609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62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62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819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913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¿Cómo se utiliza una función?</a:t>
            </a:r>
          </a:p>
        </p:txBody>
      </p:sp>
      <p:sp>
        <p:nvSpPr>
          <p:cNvPr id="163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4046" y="1556792"/>
            <a:ext cx="8075240" cy="4525962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ts val="3500"/>
              </a:lnSpc>
              <a:spcBef>
                <a:spcPct val="30000"/>
              </a:spcBef>
            </a:pP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Cuando una función es llamada es necesario que nos hagamos cargo del valor resultante, asignando la función a una variable o formando parte de una expresión mayor.  </a:t>
            </a:r>
          </a:p>
          <a:p>
            <a:pPr algn="just" eaLnBrk="1" hangingPunct="1">
              <a:lnSpc>
                <a:spcPts val="3500"/>
              </a:lnSpc>
              <a:spcBef>
                <a:spcPct val="30000"/>
              </a:spcBef>
            </a:pP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Por ejemplo: </a:t>
            </a:r>
          </a:p>
          <a:p>
            <a:pPr marL="819150" lvl="1" algn="just" eaLnBrk="1" hangingPunct="1">
              <a:lnSpc>
                <a:spcPts val="3500"/>
              </a:lnSpc>
              <a:spcBef>
                <a:spcPct val="0"/>
              </a:spcBef>
              <a:buFontTx/>
              <a:buNone/>
            </a:pPr>
            <a:r>
              <a:rPr lang="es-ES_tradnl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x = </a:t>
            </a:r>
            <a:r>
              <a:rPr lang="es-ES_tradnl" sz="20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promedio</a:t>
            </a:r>
            <a:r>
              <a:rPr lang="es-ES_tradnl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s-ES_tradnl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4</a:t>
            </a:r>
            <a:r>
              <a:rPr lang="es-ES_tradnl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s-ES_tradnl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8</a:t>
            </a:r>
            <a:r>
              <a:rPr lang="es-ES_tradnl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)</a:t>
            </a:r>
          </a:p>
          <a:p>
            <a:pPr marL="819150" lvl="1" algn="just" eaLnBrk="1" hangingPunct="1">
              <a:lnSpc>
                <a:spcPts val="3500"/>
              </a:lnSpc>
              <a:spcBef>
                <a:spcPct val="0"/>
              </a:spcBef>
              <a:buFontTx/>
              <a:buNone/>
            </a:pPr>
            <a:r>
              <a:rPr lang="es-ES_tradnl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y = </a:t>
            </a:r>
            <a:r>
              <a:rPr lang="es-ES_tradnl" sz="20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promedio</a:t>
            </a:r>
            <a:r>
              <a:rPr lang="es-ES_tradnl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s-ES_tradnl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9</a:t>
            </a:r>
            <a:r>
              <a:rPr lang="es-ES_tradnl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s-ES_tradnl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es-ES_tradnl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) + </a:t>
            </a:r>
            <a:r>
              <a:rPr lang="es-ES_tradnl" sz="20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promedio</a:t>
            </a:r>
            <a:r>
              <a:rPr lang="es-ES_tradnl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s-ES_tradnl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es-ES_tradnl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s-ES_tradnl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es-ES_tradnl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)</a:t>
            </a:r>
          </a:p>
          <a:p>
            <a:pPr marL="819150" lvl="1" algn="just" eaLnBrk="1" hangingPunct="1">
              <a:lnSpc>
                <a:spcPts val="3500"/>
              </a:lnSpc>
              <a:spcBef>
                <a:spcPct val="0"/>
              </a:spcBef>
              <a:buFontTx/>
              <a:buNone/>
            </a:pPr>
            <a:r>
              <a:rPr lang="es-ES_tradnl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z = </a:t>
            </a:r>
            <a:r>
              <a:rPr lang="es-ES_tradnl" sz="20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promedio</a:t>
            </a:r>
            <a:r>
              <a:rPr lang="es-ES_tradnl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s-ES_tradnl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11</a:t>
            </a:r>
            <a:r>
              <a:rPr lang="es-ES_tradnl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s-ES_tradnl" sz="20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promedio</a:t>
            </a:r>
            <a:r>
              <a:rPr lang="es-ES_tradnl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s-ES_tradnl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12</a:t>
            </a:r>
            <a:r>
              <a:rPr lang="es-ES_tradnl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,</a:t>
            </a:r>
            <a:r>
              <a:rPr lang="es-ES_tradnl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18</a:t>
            </a:r>
            <a:r>
              <a:rPr lang="es-ES_tradnl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))</a:t>
            </a:r>
            <a:endParaRPr lang="es-ES_tradnl" sz="20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3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8130" y="2924944"/>
            <a:ext cx="2784310" cy="36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372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TIG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3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3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TIG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3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3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TIG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3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3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TIG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3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3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TIG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43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23528" y="1484784"/>
            <a:ext cx="8280920" cy="4876800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ts val="3500"/>
              </a:lnSpc>
              <a:spcBef>
                <a:spcPct val="30000"/>
              </a:spcBef>
            </a:pP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La manera de llamar a una función consiste en escribir el nombre de la función y después entre paréntesis la lista de los valores de entrada.</a:t>
            </a:r>
          </a:p>
          <a:p>
            <a:pPr marL="400050" lvl="1" indent="0" algn="just">
              <a:lnSpc>
                <a:spcPts val="3500"/>
              </a:lnSpc>
              <a:spcBef>
                <a:spcPct val="30000"/>
              </a:spcBef>
              <a:buNone/>
            </a:pP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Por ejemplo: </a:t>
            </a:r>
          </a:p>
          <a:p>
            <a:pPr algn="just" eaLnBrk="1" hangingPunct="1">
              <a:lnSpc>
                <a:spcPts val="3500"/>
              </a:lnSpc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		        </a:t>
            </a:r>
            <a:r>
              <a:rPr lang="es-ES_tradnl" sz="22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nombre( valor1, valor2, ..., valorn)</a:t>
            </a: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pPr algn="just" eaLnBrk="1" hangingPunct="1">
              <a:lnSpc>
                <a:spcPts val="3500"/>
              </a:lnSpc>
              <a:spcBef>
                <a:spcPts val="1200"/>
              </a:spcBef>
            </a:pP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Cuando la función es llamada, cada uno de los valores de entrada son asignados a las variables de la </a:t>
            </a:r>
            <a:r>
              <a:rPr lang="es-ES_tradnl" sz="2200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lista de parámetros</a:t>
            </a:r>
            <a:r>
              <a:rPr lang="es-ES_tradnl" sz="22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de la función, </a:t>
            </a:r>
            <a:r>
              <a:rPr lang="es-ES_tradnl" sz="2200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en el mismo orden como fueron definidas. </a:t>
            </a:r>
          </a:p>
        </p:txBody>
      </p:sp>
      <p:sp>
        <p:nvSpPr>
          <p:cNvPr id="164867" name="Rectangle 3"/>
          <p:cNvSpPr>
            <a:spLocks noGrp="1" noChangeArrowheads="1"/>
          </p:cNvSpPr>
          <p:nvPr>
            <p:ph type="title"/>
          </p:nvPr>
        </p:nvSpPr>
        <p:spPr>
          <a:xfrm>
            <a:off x="179388" y="125413"/>
            <a:ext cx="8694737" cy="1143000"/>
          </a:xfrm>
        </p:spPr>
        <p:txBody>
          <a:bodyPr lIns="92075" tIns="46038" rIns="92075" bIns="46038"/>
          <a:lstStyle/>
          <a:p>
            <a:pPr eaLnBrk="1" hangingPunct="1">
              <a:defRPr/>
            </a:pPr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¿Cómo se utiliza una función?</a:t>
            </a:r>
          </a:p>
        </p:txBody>
      </p:sp>
      <p:pic>
        <p:nvPicPr>
          <p:cNvPr id="2" name="1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2492896"/>
            <a:ext cx="1825774" cy="192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3955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95237" y="1412776"/>
            <a:ext cx="7777163" cy="4114800"/>
          </a:xfrm>
        </p:spPr>
        <p:txBody>
          <a:bodyPr>
            <a:normAutofit/>
          </a:bodyPr>
          <a:lstStyle/>
          <a:p>
            <a:pPr eaLnBrk="1" hangingPunct="1">
              <a:lnSpc>
                <a:spcPts val="3500"/>
              </a:lnSpc>
            </a:pP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Por ejemplo, cuando se hace la llamada: </a:t>
            </a:r>
          </a:p>
          <a:p>
            <a:pPr eaLnBrk="1" hangingPunct="1">
              <a:lnSpc>
                <a:spcPts val="3500"/>
              </a:lnSpc>
              <a:spcBef>
                <a:spcPts val="1200"/>
              </a:spcBef>
              <a:spcAft>
                <a:spcPts val="1200"/>
              </a:spcAft>
              <a:buFontTx/>
              <a:buNone/>
            </a:pPr>
            <a:r>
              <a:rPr lang="es-ES_tradnl" sz="2200" dirty="0">
                <a:latin typeface="Arial" pitchFamily="34" charset="0"/>
                <a:cs typeface="Arial" pitchFamily="34" charset="0"/>
              </a:rPr>
              <a:t>                         </a:t>
            </a:r>
            <a:r>
              <a:rPr lang="es-ES_tradnl" sz="2200" b="1" dirty="0">
                <a:latin typeface="Arial" pitchFamily="34" charset="0"/>
                <a:cs typeface="Arial" pitchFamily="34" charset="0"/>
              </a:rPr>
              <a:t>promedio( </a:t>
            </a:r>
            <a:r>
              <a:rPr lang="es-ES_tradnl" sz="2200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4</a:t>
            </a:r>
            <a:r>
              <a:rPr lang="es-ES_tradnl" sz="2200" b="1" dirty="0">
                <a:latin typeface="Arial" pitchFamily="34" charset="0"/>
                <a:cs typeface="Arial" pitchFamily="34" charset="0"/>
              </a:rPr>
              <a:t>, </a:t>
            </a:r>
            <a:r>
              <a:rPr lang="es-ES_tradnl" sz="2200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8</a:t>
            </a:r>
            <a:r>
              <a:rPr lang="es-ES_tradnl" sz="2200" b="1" dirty="0">
                <a:latin typeface="Arial" pitchFamily="34" charset="0"/>
                <a:cs typeface="Arial" pitchFamily="34" charset="0"/>
              </a:rPr>
              <a:t> )</a:t>
            </a:r>
            <a:r>
              <a:rPr lang="es-ES_tradnl" sz="2200" dirty="0">
                <a:latin typeface="Arial" pitchFamily="34" charset="0"/>
                <a:cs typeface="Arial" pitchFamily="34" charset="0"/>
              </a:rPr>
              <a:t> </a:t>
            </a:r>
          </a:p>
          <a:p>
            <a:pPr eaLnBrk="1" hangingPunct="1">
              <a:lnSpc>
                <a:spcPts val="3500"/>
              </a:lnSpc>
            </a:pP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la variable </a:t>
            </a:r>
            <a:r>
              <a:rPr lang="es-ES_tradnl" sz="2200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s-ES_tradnl" sz="22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de la definición de la función toma el valor de </a:t>
            </a:r>
            <a:r>
              <a:rPr lang="es-ES_tradnl" sz="2200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4</a:t>
            </a:r>
            <a:r>
              <a:rPr lang="es-ES_tradnl" sz="22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y la variable </a:t>
            </a:r>
            <a:r>
              <a:rPr lang="es-ES_tradnl" sz="2200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b</a:t>
            </a:r>
            <a:r>
              <a:rPr lang="es-ES_tradnl" sz="22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toma el valor de </a:t>
            </a:r>
            <a:r>
              <a:rPr lang="es-ES_tradnl" sz="2200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8</a:t>
            </a:r>
            <a:r>
              <a:rPr lang="es-ES_tradnl" sz="2200" dirty="0"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165891" name="Rectangle 3"/>
          <p:cNvSpPr>
            <a:spLocks noGrp="1" noChangeArrowheads="1"/>
          </p:cNvSpPr>
          <p:nvPr>
            <p:ph type="title"/>
          </p:nvPr>
        </p:nvSpPr>
        <p:spPr>
          <a:xfrm>
            <a:off x="0" y="282352"/>
            <a:ext cx="8945563" cy="914400"/>
          </a:xfrm>
        </p:spPr>
        <p:txBody>
          <a:bodyPr lIns="92075" tIns="46038" rIns="92075" bIns="46038"/>
          <a:lstStyle/>
          <a:p>
            <a:pPr eaLnBrk="1" hangingPunct="1">
              <a:defRPr/>
            </a:pPr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¿Cómo se utiliza una función?</a:t>
            </a:r>
          </a:p>
        </p:txBody>
      </p:sp>
      <p:grpSp>
        <p:nvGrpSpPr>
          <p:cNvPr id="165892" name="Group 4"/>
          <p:cNvGrpSpPr>
            <a:grpSpLocks/>
          </p:cNvGrpSpPr>
          <p:nvPr/>
        </p:nvGrpSpPr>
        <p:grpSpPr bwMode="auto">
          <a:xfrm>
            <a:off x="2771800" y="3716857"/>
            <a:ext cx="3560763" cy="2967038"/>
            <a:chOff x="368" y="2200"/>
            <a:chExt cx="2243" cy="1869"/>
          </a:xfrm>
        </p:grpSpPr>
        <p:sp>
          <p:nvSpPr>
            <p:cNvPr id="13317" name="Rectangle 5"/>
            <p:cNvSpPr>
              <a:spLocks noChangeArrowheads="1"/>
            </p:cNvSpPr>
            <p:nvPr/>
          </p:nvSpPr>
          <p:spPr bwMode="auto">
            <a:xfrm>
              <a:off x="368" y="2717"/>
              <a:ext cx="2243" cy="687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762000"/>
              <a:r>
                <a:rPr lang="es-ES_tradnl" sz="2400" b="1" dirty="0">
                  <a:solidFill>
                    <a:schemeClr val="bg1"/>
                  </a:solidFill>
                </a:rPr>
                <a:t>def promedio ( a, b ):</a:t>
              </a:r>
            </a:p>
            <a:p>
              <a:pPr defTabSz="762000"/>
              <a:r>
                <a:rPr lang="es-ES_tradnl" sz="2400" b="1" dirty="0">
                  <a:solidFill>
                    <a:schemeClr val="bg1"/>
                  </a:solidFill>
                </a:rPr>
                <a:t>       return (a+b)/2</a:t>
              </a:r>
            </a:p>
          </p:txBody>
        </p:sp>
        <p:sp>
          <p:nvSpPr>
            <p:cNvPr id="13318" name="Text Box 6"/>
            <p:cNvSpPr txBox="1">
              <a:spLocks noChangeArrowheads="1"/>
            </p:cNvSpPr>
            <p:nvPr/>
          </p:nvSpPr>
          <p:spPr bwMode="auto">
            <a:xfrm>
              <a:off x="388" y="2200"/>
              <a:ext cx="165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s-ES_tradnl" sz="2400" b="1" dirty="0"/>
                <a:t>x=promedio(</a:t>
              </a:r>
              <a:r>
                <a:rPr lang="es-ES_tradnl" sz="2800" dirty="0">
                  <a:solidFill>
                    <a:schemeClr val="accent2"/>
                  </a:solidFill>
                </a:rPr>
                <a:t>4</a:t>
              </a:r>
              <a:r>
                <a:rPr lang="es-ES_tradnl" sz="2400" b="1" dirty="0"/>
                <a:t>,</a:t>
              </a:r>
              <a:r>
                <a:rPr lang="es-ES_tradnl" sz="2800" dirty="0">
                  <a:solidFill>
                    <a:schemeClr val="accent2"/>
                  </a:solidFill>
                </a:rPr>
                <a:t>8</a:t>
              </a:r>
              <a:r>
                <a:rPr lang="es-ES_tradnl" sz="2400" b="1" dirty="0"/>
                <a:t>)</a:t>
              </a:r>
            </a:p>
          </p:txBody>
        </p:sp>
        <p:sp>
          <p:nvSpPr>
            <p:cNvPr id="13319" name="Line 7"/>
            <p:cNvSpPr>
              <a:spLocks noChangeShapeType="1"/>
            </p:cNvSpPr>
            <p:nvPr/>
          </p:nvSpPr>
          <p:spPr bwMode="auto">
            <a:xfrm>
              <a:off x="1654" y="2499"/>
              <a:ext cx="0" cy="3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13320" name="Line 8"/>
            <p:cNvSpPr>
              <a:spLocks noChangeShapeType="1"/>
            </p:cNvSpPr>
            <p:nvPr/>
          </p:nvSpPr>
          <p:spPr bwMode="auto">
            <a:xfrm>
              <a:off x="1881" y="2491"/>
              <a:ext cx="0" cy="35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13321" name="Line 9"/>
            <p:cNvSpPr>
              <a:spLocks noChangeShapeType="1"/>
            </p:cNvSpPr>
            <p:nvPr/>
          </p:nvSpPr>
          <p:spPr bwMode="auto">
            <a:xfrm>
              <a:off x="1453" y="3425"/>
              <a:ext cx="0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13322" name="Text Box 10"/>
            <p:cNvSpPr txBox="1">
              <a:spLocks noChangeArrowheads="1"/>
            </p:cNvSpPr>
            <p:nvPr/>
          </p:nvSpPr>
          <p:spPr bwMode="auto">
            <a:xfrm>
              <a:off x="1332" y="3742"/>
              <a:ext cx="2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s-ES_tradnl" sz="2800" dirty="0">
                  <a:solidFill>
                    <a:schemeClr val="accent2"/>
                  </a:solidFill>
                </a:rPr>
                <a:t>6</a:t>
              </a:r>
              <a:endParaRPr lang="es-ES_tradnl" sz="2400" b="1" dirty="0"/>
            </a:p>
          </p:txBody>
        </p:sp>
      </p:grpSp>
      <p:pic>
        <p:nvPicPr>
          <p:cNvPr id="12" name="11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1918" y="4929200"/>
            <a:ext cx="1259606" cy="16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766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58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5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TIG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ChangeArrowheads="1"/>
          </p:cNvSpPr>
          <p:nvPr/>
        </p:nvSpPr>
        <p:spPr bwMode="auto">
          <a:xfrm>
            <a:off x="669925" y="372194"/>
            <a:ext cx="7772400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sp>
        <p:nvSpPr>
          <p:cNvPr id="63491" name="Text Box 3"/>
          <p:cNvSpPr txBox="1">
            <a:spLocks noChangeArrowheads="1"/>
          </p:cNvSpPr>
          <p:nvPr/>
        </p:nvSpPr>
        <p:spPr bwMode="auto">
          <a:xfrm>
            <a:off x="959600" y="1916832"/>
            <a:ext cx="7224799" cy="1305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s-MX" sz="2800" dirty="0">
                <a:solidFill>
                  <a:schemeClr val="bg2">
                    <a:lumMod val="25000"/>
                  </a:schemeClr>
                </a:solidFill>
              </a:rPr>
              <a:t>Definir el algoritmo y el programa en Python que </a:t>
            </a:r>
            <a:r>
              <a:rPr lang="es-MX" sz="2800" b="1" dirty="0">
                <a:solidFill>
                  <a:schemeClr val="accent6">
                    <a:lumMod val="75000"/>
                  </a:schemeClr>
                </a:solidFill>
              </a:rPr>
              <a:t>eleve al cuadrado un numero real.</a:t>
            </a:r>
            <a:r>
              <a:rPr lang="es-MX" sz="2800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3501008"/>
            <a:ext cx="3744416" cy="2481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15071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>
            <a:extLst>
              <a:ext uri="{FF2B5EF4-FFF2-40B4-BE49-F238E27FC236}">
                <a16:creationId xmlns:a16="http://schemas.microsoft.com/office/drawing/2014/main" id="{AA9ED494-984A-45F3-AAAF-C1C4E5537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712" y="2204864"/>
            <a:ext cx="4248472" cy="1800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s-MX" dirty="0"/>
          </a:p>
        </p:txBody>
      </p:sp>
      <p:sp>
        <p:nvSpPr>
          <p:cNvPr id="167941" name="Rectangle 5"/>
          <p:cNvSpPr>
            <a:spLocks noChangeArrowheads="1"/>
          </p:cNvSpPr>
          <p:nvPr/>
        </p:nvSpPr>
        <p:spPr bwMode="auto">
          <a:xfrm>
            <a:off x="2195737" y="2060849"/>
            <a:ext cx="4032448" cy="1944216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/>
          <a:lstStyle/>
          <a:p>
            <a:pPr marL="609600" indent="-609600">
              <a:lnSpc>
                <a:spcPct val="110000"/>
              </a:lnSpc>
              <a:spcBef>
                <a:spcPct val="5000"/>
              </a:spcBef>
              <a:defRPr/>
            </a:pPr>
            <a:endParaRPr lang="es-ES_tradnl" sz="2400" b="1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  <a:p>
            <a:pPr marL="609600" indent="-609600">
              <a:lnSpc>
                <a:spcPts val="3800"/>
              </a:lnSpc>
              <a:spcBef>
                <a:spcPct val="5000"/>
              </a:spcBef>
              <a:defRPr/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función</a:t>
            </a:r>
            <a:r>
              <a:rPr lang="es-ES_tradnl" sz="24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_tradnl" sz="2400" b="1" dirty="0">
                <a:solidFill>
                  <a:srgbClr val="3333CC"/>
                </a:solidFill>
                <a:latin typeface="Arial" pitchFamily="34" charset="0"/>
                <a:cs typeface="Arial" pitchFamily="34" charset="0"/>
              </a:rPr>
              <a:t>cuadrado</a:t>
            </a:r>
            <a:r>
              <a:rPr lang="es-ES_tradnl" sz="24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(valor)</a:t>
            </a:r>
            <a:endParaRPr lang="es-ES_tradnl" sz="2400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  <a:p>
            <a:pPr marL="609600" indent="-609600">
              <a:lnSpc>
                <a:spcPts val="3800"/>
              </a:lnSpc>
              <a:spcBef>
                <a:spcPct val="5000"/>
              </a:spcBef>
              <a:defRPr/>
            </a:pPr>
            <a:r>
              <a:rPr lang="es-ES_tradnl" sz="24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  </a:t>
            </a:r>
            <a:r>
              <a:rPr lang="es-ES_tradnl" sz="2400" b="1" dirty="0">
                <a:solidFill>
                  <a:srgbClr val="3333CC"/>
                </a:solidFill>
                <a:latin typeface="Arial" pitchFamily="34" charset="0"/>
                <a:cs typeface="Arial" pitchFamily="34" charset="0"/>
              </a:rPr>
              <a:t>regresar 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valor*valor</a:t>
            </a:r>
          </a:p>
          <a:p>
            <a:pPr marL="609600" indent="-609600">
              <a:lnSpc>
                <a:spcPts val="3800"/>
              </a:lnSpc>
              <a:spcBef>
                <a:spcPct val="5000"/>
              </a:spcBef>
              <a:defRPr/>
            </a:pPr>
            <a:endParaRPr lang="es-ES_tradnl" sz="2400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444208" y="5735067"/>
            <a:ext cx="2592288" cy="1006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Solución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EC02842-8974-4080-855A-6FE5B644D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925" y="372194"/>
            <a:ext cx="7772400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Algoritmo: Función cuadrado</a:t>
            </a:r>
          </a:p>
        </p:txBody>
      </p:sp>
      <p:pic>
        <p:nvPicPr>
          <p:cNvPr id="9" name="1 Imagen">
            <a:extLst>
              <a:ext uri="{FF2B5EF4-FFF2-40B4-BE49-F238E27FC236}">
                <a16:creationId xmlns:a16="http://schemas.microsoft.com/office/drawing/2014/main" id="{B56D64C1-26C4-4D85-8BC7-52195BDF5C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256" y="4365104"/>
            <a:ext cx="1728192" cy="160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8245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3"/>
          <p:cNvSpPr>
            <a:spLocks noChangeArrowheads="1"/>
          </p:cNvSpPr>
          <p:nvPr/>
        </p:nvSpPr>
        <p:spPr bwMode="auto">
          <a:xfrm>
            <a:off x="108397" y="5977334"/>
            <a:ext cx="2447925" cy="9080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 dirty="0"/>
          </a:p>
        </p:txBody>
      </p:sp>
      <p:sp>
        <p:nvSpPr>
          <p:cNvPr id="17411" name="Rectangle 2"/>
          <p:cNvSpPr>
            <a:spLocks noChangeArrowheads="1"/>
          </p:cNvSpPr>
          <p:nvPr/>
        </p:nvSpPr>
        <p:spPr bwMode="auto">
          <a:xfrm>
            <a:off x="956099" y="1916832"/>
            <a:ext cx="3240608" cy="104002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s-MX" dirty="0"/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90280" y="2029510"/>
            <a:ext cx="2452886" cy="850117"/>
          </a:xfrm>
        </p:spPr>
        <p:txBody>
          <a:bodyPr>
            <a:noAutofit/>
          </a:bodyPr>
          <a:lstStyle/>
          <a:p>
            <a:pPr eaLnBrk="1" hangingPunct="1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s-ES_tradnl" sz="2400" b="1" dirty="0">
                <a:cs typeface="Arial" pitchFamily="34" charset="0"/>
              </a:rPr>
              <a:t>def </a:t>
            </a: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  <a:cs typeface="Arial" pitchFamily="34" charset="0"/>
              </a:rPr>
              <a:t>cuadrado (x)</a:t>
            </a:r>
            <a:r>
              <a:rPr lang="es-ES_tradnl" sz="2400" b="1" dirty="0">
                <a:cs typeface="Arial" pitchFamily="34" charset="0"/>
              </a:rPr>
              <a:t>:</a:t>
            </a: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s-ES_tradnl" sz="2400" b="1" dirty="0">
                <a:cs typeface="Arial" pitchFamily="34" charset="0"/>
              </a:rPr>
              <a:t>       return x*x</a:t>
            </a: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FontTx/>
              <a:buNone/>
            </a:pPr>
            <a:endParaRPr lang="es-ES_tradnl" sz="2100" b="1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7413" name="Line 4"/>
          <p:cNvSpPr>
            <a:spLocks noChangeShapeType="1"/>
          </p:cNvSpPr>
          <p:nvPr/>
        </p:nvSpPr>
        <p:spPr bwMode="auto">
          <a:xfrm>
            <a:off x="3718449" y="2347656"/>
            <a:ext cx="685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 dirty="0"/>
          </a:p>
        </p:txBody>
      </p:sp>
      <p:sp>
        <p:nvSpPr>
          <p:cNvPr id="17417" name="Text Box 8"/>
          <p:cNvSpPr txBox="1">
            <a:spLocks noChangeArrowheads="1"/>
          </p:cNvSpPr>
          <p:nvPr/>
        </p:nvSpPr>
        <p:spPr bwMode="auto">
          <a:xfrm>
            <a:off x="4554815" y="2140255"/>
            <a:ext cx="412164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800" b="1" dirty="0">
                <a:solidFill>
                  <a:schemeClr val="accent5">
                    <a:lumMod val="75000"/>
                  </a:schemeClr>
                </a:solidFill>
              </a:rPr>
              <a:t>Encabezado de la función cuadrado</a:t>
            </a:r>
          </a:p>
        </p:txBody>
      </p:sp>
      <p:sp>
        <p:nvSpPr>
          <p:cNvPr id="17418" name="Text Box 9"/>
          <p:cNvSpPr txBox="1">
            <a:spLocks noChangeArrowheads="1"/>
          </p:cNvSpPr>
          <p:nvPr/>
        </p:nvSpPr>
        <p:spPr bwMode="auto">
          <a:xfrm>
            <a:off x="4530443" y="2555612"/>
            <a:ext cx="358303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800" b="1" dirty="0">
                <a:solidFill>
                  <a:schemeClr val="accent5">
                    <a:lumMod val="75000"/>
                  </a:schemeClr>
                </a:solidFill>
              </a:rPr>
              <a:t>Cuerpo de la función cuadrado</a:t>
            </a:r>
          </a:p>
        </p:txBody>
      </p:sp>
      <p:sp>
        <p:nvSpPr>
          <p:cNvPr id="17419" name="Text Box 10"/>
          <p:cNvSpPr txBox="1">
            <a:spLocks noChangeArrowheads="1"/>
          </p:cNvSpPr>
          <p:nvPr/>
        </p:nvSpPr>
        <p:spPr bwMode="auto">
          <a:xfrm>
            <a:off x="4427984" y="3761124"/>
            <a:ext cx="3663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800" b="1" dirty="0">
                <a:solidFill>
                  <a:schemeClr val="accent5">
                    <a:lumMod val="75000"/>
                  </a:schemeClr>
                </a:solidFill>
              </a:rPr>
              <a:t>Llamada a la función cuadrado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238A2D9C-15CD-4B92-849F-602C69A40E4C}"/>
              </a:ext>
            </a:extLst>
          </p:cNvPr>
          <p:cNvSpPr txBox="1">
            <a:spLocks noChangeArrowheads="1"/>
          </p:cNvSpPr>
          <p:nvPr/>
        </p:nvSpPr>
        <p:spPr>
          <a:xfrm>
            <a:off x="943796" y="3183837"/>
            <a:ext cx="8020692" cy="16767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500"/>
              </a:lnSpc>
              <a:spcBef>
                <a:spcPct val="0"/>
              </a:spcBef>
              <a:buNone/>
            </a:pPr>
            <a:r>
              <a:rPr lang="es-ES_tradnl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Arial" pitchFamily="34" charset="0"/>
              </a:rPr>
              <a:t>num = float(input(</a:t>
            </a:r>
            <a:r>
              <a:rPr lang="es-MX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Arial" panose="020B0604020202020204" pitchFamily="34" charset="0"/>
              </a:rPr>
              <a:t>"</a:t>
            </a:r>
            <a:r>
              <a:rPr lang="es-ES_tradnl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Arial" pitchFamily="34" charset="0"/>
              </a:rPr>
              <a:t>Introduce un numero: </a:t>
            </a:r>
            <a:r>
              <a:rPr lang="es-MX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Arial" panose="020B0604020202020204" pitchFamily="34" charset="0"/>
              </a:rPr>
              <a:t>"</a:t>
            </a:r>
            <a:r>
              <a:rPr lang="es-ES_tradnl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Arial" pitchFamily="34" charset="0"/>
              </a:rPr>
              <a:t>))</a:t>
            </a:r>
          </a:p>
          <a:p>
            <a:pPr>
              <a:lnSpc>
                <a:spcPts val="3500"/>
              </a:lnSpc>
              <a:spcBef>
                <a:spcPct val="0"/>
              </a:spcBef>
              <a:buFont typeface="Arial" pitchFamily="34" charset="0"/>
              <a:buNone/>
            </a:pPr>
            <a:r>
              <a:rPr lang="es-ES_tradnl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Arial" pitchFamily="34" charset="0"/>
              </a:rPr>
              <a:t>resultado=</a:t>
            </a: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  <a:cs typeface="Arial" pitchFamily="34" charset="0"/>
              </a:rPr>
              <a:t>cuadrado(num)</a:t>
            </a:r>
          </a:p>
          <a:p>
            <a:pPr>
              <a:lnSpc>
                <a:spcPts val="3500"/>
              </a:lnSpc>
              <a:spcBef>
                <a:spcPct val="0"/>
              </a:spcBef>
              <a:buNone/>
            </a:pPr>
            <a:r>
              <a:rPr lang="es-ES_tradnl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Arial" pitchFamily="34" charset="0"/>
              </a:rPr>
              <a:t>print(</a:t>
            </a:r>
            <a:r>
              <a:rPr lang="es-MX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Arial" panose="020B0604020202020204" pitchFamily="34" charset="0"/>
              </a:rPr>
              <a:t>"%.2f </a:t>
            </a:r>
            <a:r>
              <a:rPr lang="es-ES_tradnl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Arial" pitchFamily="34" charset="0"/>
              </a:rPr>
              <a:t>elevado al cuadrado es %.2f</a:t>
            </a:r>
            <a:r>
              <a:rPr lang="es-MX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Arial" panose="020B0604020202020204" pitchFamily="34" charset="0"/>
              </a:rPr>
              <a:t> "</a:t>
            </a:r>
            <a:r>
              <a:rPr lang="es-ES_tradnl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Arial" pitchFamily="34" charset="0"/>
              </a:rPr>
              <a:t> % (num, resultado))</a:t>
            </a:r>
          </a:p>
          <a:p>
            <a:pPr>
              <a:lnSpc>
                <a:spcPts val="3500"/>
              </a:lnSpc>
              <a:spcBef>
                <a:spcPct val="0"/>
              </a:spcBef>
              <a:buNone/>
            </a:pPr>
            <a:endParaRPr lang="es-ES_tradnl" sz="2400" b="1" dirty="0">
              <a:solidFill>
                <a:schemeClr val="tx1">
                  <a:lumMod val="95000"/>
                  <a:lumOff val="5000"/>
                </a:schemeClr>
              </a:solidFill>
              <a:cs typeface="Arial" pitchFamily="34" charset="0"/>
            </a:endParaRP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F6A42801-1478-45A5-AC7F-B966D4383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636" y="12154"/>
            <a:ext cx="7772400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Programa: Función cuadrado</a:t>
            </a:r>
          </a:p>
        </p:txBody>
      </p:sp>
      <p:pic>
        <p:nvPicPr>
          <p:cNvPr id="13" name="1 Imagen">
            <a:extLst>
              <a:ext uri="{FF2B5EF4-FFF2-40B4-BE49-F238E27FC236}">
                <a16:creationId xmlns:a16="http://schemas.microsoft.com/office/drawing/2014/main" id="{07ACC259-6B00-4C9B-93F9-16F83A9C8C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532" y="5087580"/>
            <a:ext cx="1365496" cy="1267258"/>
          </a:xfrm>
          <a:prstGeom prst="rect">
            <a:avLst/>
          </a:prstGeom>
        </p:spPr>
      </p:pic>
      <p:sp>
        <p:nvSpPr>
          <p:cNvPr id="18" name="Line 4">
            <a:extLst>
              <a:ext uri="{FF2B5EF4-FFF2-40B4-BE49-F238E27FC236}">
                <a16:creationId xmlns:a16="http://schemas.microsoft.com/office/drawing/2014/main" id="{18190005-ABA4-42B4-ADDB-F5F1C7923824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8449" y="2780928"/>
            <a:ext cx="685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E403E43-DD60-4594-8A3C-13E01DB8C3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9231" y="5013176"/>
            <a:ext cx="4467225" cy="126682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581154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60525"/>
            <a:ext cx="940308" cy="8961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420623" y="2533650"/>
            <a:ext cx="2065020" cy="17891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-4572" y="3987546"/>
            <a:ext cx="1778508" cy="20482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762000" y="1735074"/>
            <a:ext cx="819912" cy="710184"/>
          </a:xfrm>
          <a:custGeom>
            <a:avLst/>
            <a:gdLst/>
            <a:ahLst/>
            <a:cxnLst/>
            <a:rect l="l" t="t" r="r" b="b"/>
            <a:pathLst>
              <a:path w="819912" h="710184">
                <a:moveTo>
                  <a:pt x="0" y="355091"/>
                </a:moveTo>
                <a:lnTo>
                  <a:pt x="203657" y="710184"/>
                </a:lnTo>
                <a:lnTo>
                  <a:pt x="616204" y="710184"/>
                </a:lnTo>
                <a:lnTo>
                  <a:pt x="819912" y="355091"/>
                </a:lnTo>
                <a:lnTo>
                  <a:pt x="616204" y="0"/>
                </a:lnTo>
                <a:lnTo>
                  <a:pt x="203657" y="0"/>
                </a:lnTo>
                <a:lnTo>
                  <a:pt x="0" y="355091"/>
                </a:lnTo>
                <a:close/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996721" y="2050541"/>
            <a:ext cx="82270" cy="184404"/>
          </a:xfrm>
          <a:custGeom>
            <a:avLst/>
            <a:gdLst/>
            <a:ahLst/>
            <a:cxnLst/>
            <a:rect l="l" t="t" r="r" b="b"/>
            <a:pathLst>
              <a:path w="82270" h="184404">
                <a:moveTo>
                  <a:pt x="82270" y="0"/>
                </a:moveTo>
                <a:lnTo>
                  <a:pt x="0" y="0"/>
                </a:lnTo>
                <a:lnTo>
                  <a:pt x="0" y="184404"/>
                </a:lnTo>
                <a:lnTo>
                  <a:pt x="82270" y="184404"/>
                </a:lnTo>
                <a:lnTo>
                  <a:pt x="82270" y="50546"/>
                </a:lnTo>
                <a:lnTo>
                  <a:pt x="50571" y="50546"/>
                </a:lnTo>
                <a:lnTo>
                  <a:pt x="47510" y="50037"/>
                </a:lnTo>
                <a:lnTo>
                  <a:pt x="35750" y="35813"/>
                </a:lnTo>
                <a:lnTo>
                  <a:pt x="36283" y="32766"/>
                </a:lnTo>
                <a:lnTo>
                  <a:pt x="50571" y="20955"/>
                </a:lnTo>
                <a:lnTo>
                  <a:pt x="82270" y="20955"/>
                </a:lnTo>
                <a:lnTo>
                  <a:pt x="82270" y="0"/>
                </a:lnTo>
                <a:close/>
              </a:path>
              <a:path w="82270" h="184404">
                <a:moveTo>
                  <a:pt x="82270" y="20955"/>
                </a:moveTo>
                <a:lnTo>
                  <a:pt x="50571" y="20955"/>
                </a:lnTo>
                <a:lnTo>
                  <a:pt x="53644" y="21462"/>
                </a:lnTo>
                <a:lnTo>
                  <a:pt x="58750" y="23495"/>
                </a:lnTo>
                <a:lnTo>
                  <a:pt x="62852" y="27559"/>
                </a:lnTo>
                <a:lnTo>
                  <a:pt x="64376" y="30099"/>
                </a:lnTo>
                <a:lnTo>
                  <a:pt x="64884" y="32766"/>
                </a:lnTo>
                <a:lnTo>
                  <a:pt x="65405" y="35813"/>
                </a:lnTo>
                <a:lnTo>
                  <a:pt x="64884" y="38862"/>
                </a:lnTo>
                <a:lnTo>
                  <a:pt x="50571" y="50546"/>
                </a:lnTo>
                <a:lnTo>
                  <a:pt x="82270" y="50546"/>
                </a:lnTo>
                <a:lnTo>
                  <a:pt x="82270" y="20955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1091209" y="1928622"/>
            <a:ext cx="256006" cy="324612"/>
          </a:xfrm>
          <a:custGeom>
            <a:avLst/>
            <a:gdLst/>
            <a:ahLst/>
            <a:cxnLst/>
            <a:rect l="l" t="t" r="r" b="b"/>
            <a:pathLst>
              <a:path w="256006" h="324612">
                <a:moveTo>
                  <a:pt x="131800" y="0"/>
                </a:moveTo>
                <a:lnTo>
                  <a:pt x="103822" y="30606"/>
                </a:lnTo>
                <a:lnTo>
                  <a:pt x="99758" y="42417"/>
                </a:lnTo>
                <a:lnTo>
                  <a:pt x="80911" y="82168"/>
                </a:lnTo>
                <a:lnTo>
                  <a:pt x="76327" y="86740"/>
                </a:lnTo>
                <a:lnTo>
                  <a:pt x="69202" y="93979"/>
                </a:lnTo>
                <a:lnTo>
                  <a:pt x="52400" y="109727"/>
                </a:lnTo>
                <a:lnTo>
                  <a:pt x="30022" y="130175"/>
                </a:lnTo>
                <a:lnTo>
                  <a:pt x="0" y="130175"/>
                </a:lnTo>
                <a:lnTo>
                  <a:pt x="0" y="280669"/>
                </a:lnTo>
                <a:lnTo>
                  <a:pt x="31546" y="280669"/>
                </a:lnTo>
                <a:lnTo>
                  <a:pt x="41732" y="285876"/>
                </a:lnTo>
                <a:lnTo>
                  <a:pt x="55968" y="291973"/>
                </a:lnTo>
                <a:lnTo>
                  <a:pt x="94665" y="306704"/>
                </a:lnTo>
                <a:lnTo>
                  <a:pt x="138925" y="319024"/>
                </a:lnTo>
                <a:lnTo>
                  <a:pt x="149618" y="321563"/>
                </a:lnTo>
                <a:lnTo>
                  <a:pt x="160312" y="323088"/>
                </a:lnTo>
                <a:lnTo>
                  <a:pt x="169976" y="324103"/>
                </a:lnTo>
                <a:lnTo>
                  <a:pt x="179679" y="324612"/>
                </a:lnTo>
                <a:lnTo>
                  <a:pt x="195935" y="324612"/>
                </a:lnTo>
                <a:lnTo>
                  <a:pt x="232638" y="310768"/>
                </a:lnTo>
                <a:lnTo>
                  <a:pt x="234162" y="296037"/>
                </a:lnTo>
                <a:lnTo>
                  <a:pt x="233654" y="292480"/>
                </a:lnTo>
                <a:lnTo>
                  <a:pt x="232638" y="289432"/>
                </a:lnTo>
                <a:lnTo>
                  <a:pt x="230479" y="286385"/>
                </a:lnTo>
                <a:lnTo>
                  <a:pt x="227558" y="283717"/>
                </a:lnTo>
                <a:lnTo>
                  <a:pt x="230098" y="283337"/>
                </a:lnTo>
                <a:lnTo>
                  <a:pt x="232638" y="282193"/>
                </a:lnTo>
                <a:lnTo>
                  <a:pt x="235178" y="281177"/>
                </a:lnTo>
                <a:lnTo>
                  <a:pt x="237210" y="279145"/>
                </a:lnTo>
                <a:lnTo>
                  <a:pt x="243306" y="250570"/>
                </a:lnTo>
                <a:lnTo>
                  <a:pt x="243306" y="245999"/>
                </a:lnTo>
                <a:lnTo>
                  <a:pt x="242798" y="243458"/>
                </a:lnTo>
                <a:lnTo>
                  <a:pt x="241782" y="241426"/>
                </a:lnTo>
                <a:lnTo>
                  <a:pt x="239242" y="237870"/>
                </a:lnTo>
                <a:lnTo>
                  <a:pt x="236194" y="234823"/>
                </a:lnTo>
                <a:lnTo>
                  <a:pt x="238734" y="234314"/>
                </a:lnTo>
                <a:lnTo>
                  <a:pt x="250418" y="202056"/>
                </a:lnTo>
                <a:lnTo>
                  <a:pt x="250418" y="196976"/>
                </a:lnTo>
                <a:lnTo>
                  <a:pt x="249910" y="194437"/>
                </a:lnTo>
                <a:lnTo>
                  <a:pt x="247878" y="190373"/>
                </a:lnTo>
                <a:lnTo>
                  <a:pt x="244830" y="187325"/>
                </a:lnTo>
                <a:lnTo>
                  <a:pt x="242798" y="185800"/>
                </a:lnTo>
                <a:lnTo>
                  <a:pt x="244830" y="185292"/>
                </a:lnTo>
                <a:lnTo>
                  <a:pt x="256006" y="153162"/>
                </a:lnTo>
                <a:lnTo>
                  <a:pt x="254990" y="147954"/>
                </a:lnTo>
                <a:lnTo>
                  <a:pt x="220319" y="130175"/>
                </a:lnTo>
                <a:lnTo>
                  <a:pt x="131800" y="123062"/>
                </a:lnTo>
                <a:lnTo>
                  <a:pt x="135369" y="116839"/>
                </a:lnTo>
                <a:lnTo>
                  <a:pt x="147574" y="77088"/>
                </a:lnTo>
                <a:lnTo>
                  <a:pt x="152158" y="32130"/>
                </a:lnTo>
                <a:lnTo>
                  <a:pt x="152158" y="16890"/>
                </a:lnTo>
                <a:lnTo>
                  <a:pt x="135890" y="507"/>
                </a:lnTo>
                <a:lnTo>
                  <a:pt x="13180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373380" y="1752612"/>
            <a:ext cx="111251" cy="0"/>
          </a:xfrm>
          <a:custGeom>
            <a:avLst/>
            <a:gdLst/>
            <a:ahLst/>
            <a:cxnLst/>
            <a:rect l="l" t="t" r="r" b="b"/>
            <a:pathLst>
              <a:path w="111251">
                <a:moveTo>
                  <a:pt x="0" y="0"/>
                </a:moveTo>
                <a:lnTo>
                  <a:pt x="111251" y="0"/>
                </a:lnTo>
              </a:path>
            </a:pathLst>
          </a:custGeom>
          <a:ln w="57633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379475" y="1774698"/>
            <a:ext cx="99060" cy="28955"/>
          </a:xfrm>
          <a:custGeom>
            <a:avLst/>
            <a:gdLst/>
            <a:ahLst/>
            <a:cxnLst/>
            <a:rect l="l" t="t" r="r" b="b"/>
            <a:pathLst>
              <a:path w="99059" h="28955">
                <a:moveTo>
                  <a:pt x="0" y="0"/>
                </a:moveTo>
                <a:lnTo>
                  <a:pt x="0" y="4190"/>
                </a:lnTo>
                <a:lnTo>
                  <a:pt x="584" y="7747"/>
                </a:lnTo>
                <a:lnTo>
                  <a:pt x="2374" y="11302"/>
                </a:lnTo>
                <a:lnTo>
                  <a:pt x="4724" y="14224"/>
                </a:lnTo>
                <a:lnTo>
                  <a:pt x="8255" y="16001"/>
                </a:lnTo>
                <a:lnTo>
                  <a:pt x="45389" y="28321"/>
                </a:lnTo>
                <a:lnTo>
                  <a:pt x="49530" y="28955"/>
                </a:lnTo>
                <a:lnTo>
                  <a:pt x="53644" y="28321"/>
                </a:lnTo>
                <a:lnTo>
                  <a:pt x="90805" y="16001"/>
                </a:lnTo>
                <a:lnTo>
                  <a:pt x="94335" y="14224"/>
                </a:lnTo>
                <a:lnTo>
                  <a:pt x="96685" y="11302"/>
                </a:lnTo>
                <a:lnTo>
                  <a:pt x="98450" y="7747"/>
                </a:lnTo>
                <a:lnTo>
                  <a:pt x="99060" y="4190"/>
                </a:lnTo>
                <a:lnTo>
                  <a:pt x="99060" y="0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368834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161543"/>
                </a:moveTo>
                <a:lnTo>
                  <a:pt x="14477" y="68961"/>
                </a:lnTo>
                <a:lnTo>
                  <a:pt x="0" y="0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304800" y="1410463"/>
            <a:ext cx="248412" cy="297179"/>
          </a:xfrm>
          <a:custGeom>
            <a:avLst/>
            <a:gdLst/>
            <a:ahLst/>
            <a:cxnLst/>
            <a:rect l="l" t="t" r="r" b="b"/>
            <a:pathLst>
              <a:path w="248412" h="297179">
                <a:moveTo>
                  <a:pt x="173659" y="297179"/>
                </a:moveTo>
                <a:lnTo>
                  <a:pt x="176606" y="284225"/>
                </a:lnTo>
                <a:lnTo>
                  <a:pt x="180708" y="271907"/>
                </a:lnTo>
                <a:lnTo>
                  <a:pt x="185432" y="260096"/>
                </a:lnTo>
                <a:lnTo>
                  <a:pt x="190715" y="249427"/>
                </a:lnTo>
                <a:lnTo>
                  <a:pt x="196621" y="239522"/>
                </a:lnTo>
                <a:lnTo>
                  <a:pt x="202488" y="229488"/>
                </a:lnTo>
                <a:lnTo>
                  <a:pt x="215442" y="210692"/>
                </a:lnTo>
                <a:lnTo>
                  <a:pt x="221919" y="201295"/>
                </a:lnTo>
                <a:lnTo>
                  <a:pt x="227799" y="191897"/>
                </a:lnTo>
                <a:lnTo>
                  <a:pt x="245465" y="149478"/>
                </a:lnTo>
                <a:lnTo>
                  <a:pt x="247802" y="130683"/>
                </a:lnTo>
                <a:lnTo>
                  <a:pt x="248412" y="124205"/>
                </a:lnTo>
                <a:lnTo>
                  <a:pt x="247230" y="111251"/>
                </a:lnTo>
                <a:lnTo>
                  <a:pt x="245465" y="98933"/>
                </a:lnTo>
                <a:lnTo>
                  <a:pt x="227215" y="54737"/>
                </a:lnTo>
                <a:lnTo>
                  <a:pt x="193662" y="21209"/>
                </a:lnTo>
                <a:lnTo>
                  <a:pt x="148932" y="2412"/>
                </a:lnTo>
                <a:lnTo>
                  <a:pt x="124206" y="0"/>
                </a:lnTo>
                <a:lnTo>
                  <a:pt x="75946" y="10033"/>
                </a:lnTo>
                <a:lnTo>
                  <a:pt x="36499" y="36449"/>
                </a:lnTo>
                <a:lnTo>
                  <a:pt x="10007" y="75946"/>
                </a:lnTo>
                <a:lnTo>
                  <a:pt x="0" y="124205"/>
                </a:lnTo>
                <a:lnTo>
                  <a:pt x="10007" y="171830"/>
                </a:lnTo>
                <a:lnTo>
                  <a:pt x="32969" y="210692"/>
                </a:lnTo>
                <a:lnTo>
                  <a:pt x="45923" y="229488"/>
                </a:lnTo>
                <a:lnTo>
                  <a:pt x="51790" y="239522"/>
                </a:lnTo>
                <a:lnTo>
                  <a:pt x="57696" y="249427"/>
                </a:lnTo>
                <a:lnTo>
                  <a:pt x="62979" y="260096"/>
                </a:lnTo>
                <a:lnTo>
                  <a:pt x="67703" y="271907"/>
                </a:lnTo>
                <a:lnTo>
                  <a:pt x="71805" y="284225"/>
                </a:lnTo>
                <a:lnTo>
                  <a:pt x="74752" y="297179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454178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0"/>
                </a:moveTo>
                <a:lnTo>
                  <a:pt x="20523" y="68961"/>
                </a:lnTo>
                <a:lnTo>
                  <a:pt x="0" y="161543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385598" y="1540001"/>
            <a:ext cx="86817" cy="19812"/>
          </a:xfrm>
          <a:custGeom>
            <a:avLst/>
            <a:gdLst/>
            <a:ahLst/>
            <a:cxnLst/>
            <a:rect l="l" t="t" r="r" b="b"/>
            <a:pathLst>
              <a:path w="86817" h="19812">
                <a:moveTo>
                  <a:pt x="0" y="1905"/>
                </a:moveTo>
                <a:lnTo>
                  <a:pt x="19939" y="19812"/>
                </a:lnTo>
                <a:lnTo>
                  <a:pt x="39890" y="1905"/>
                </a:lnTo>
                <a:lnTo>
                  <a:pt x="41656" y="635"/>
                </a:lnTo>
                <a:lnTo>
                  <a:pt x="43408" y="0"/>
                </a:lnTo>
                <a:lnTo>
                  <a:pt x="45161" y="635"/>
                </a:lnTo>
                <a:lnTo>
                  <a:pt x="46926" y="1905"/>
                </a:lnTo>
                <a:lnTo>
                  <a:pt x="66878" y="19812"/>
                </a:lnTo>
                <a:lnTo>
                  <a:pt x="86817" y="1905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379475" y="1710689"/>
            <a:ext cx="99060" cy="0"/>
          </a:xfrm>
          <a:custGeom>
            <a:avLst/>
            <a:gdLst/>
            <a:ahLst/>
            <a:cxnLst/>
            <a:rect l="l" t="t" r="r" b="b"/>
            <a:pathLst>
              <a:path w="99059">
                <a:moveTo>
                  <a:pt x="0" y="0"/>
                </a:moveTo>
                <a:lnTo>
                  <a:pt x="99060" y="0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5" name="object 15"/>
          <p:cNvSpPr/>
          <p:nvPr/>
        </p:nvSpPr>
        <p:spPr>
          <a:xfrm>
            <a:off x="739140" y="957835"/>
            <a:ext cx="428244" cy="371855"/>
          </a:xfrm>
          <a:custGeom>
            <a:avLst/>
            <a:gdLst/>
            <a:ahLst/>
            <a:cxnLst/>
            <a:rect l="l" t="t" r="r" b="b"/>
            <a:pathLst>
              <a:path w="428244" h="371855">
                <a:moveTo>
                  <a:pt x="321602" y="0"/>
                </a:moveTo>
                <a:lnTo>
                  <a:pt x="106641" y="0"/>
                </a:lnTo>
                <a:lnTo>
                  <a:pt x="0" y="185927"/>
                </a:lnTo>
                <a:lnTo>
                  <a:pt x="106641" y="371855"/>
                </a:lnTo>
                <a:lnTo>
                  <a:pt x="321602" y="371855"/>
                </a:lnTo>
                <a:lnTo>
                  <a:pt x="428244" y="185927"/>
                </a:lnTo>
                <a:lnTo>
                  <a:pt x="321602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6" name="object 16"/>
          <p:cNvSpPr/>
          <p:nvPr/>
        </p:nvSpPr>
        <p:spPr>
          <a:xfrm>
            <a:off x="421386" y="857251"/>
            <a:ext cx="358140" cy="246125"/>
          </a:xfrm>
          <a:custGeom>
            <a:avLst/>
            <a:gdLst/>
            <a:ahLst/>
            <a:cxnLst/>
            <a:rect l="l" t="t" r="r" b="b"/>
            <a:pathLst>
              <a:path w="358140" h="246125">
                <a:moveTo>
                  <a:pt x="0" y="90677"/>
                </a:moveTo>
                <a:lnTo>
                  <a:pt x="89154" y="246125"/>
                </a:lnTo>
                <a:lnTo>
                  <a:pt x="268986" y="246125"/>
                </a:lnTo>
                <a:lnTo>
                  <a:pt x="358140" y="90677"/>
                </a:lnTo>
                <a:lnTo>
                  <a:pt x="306133" y="0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21386" y="857251"/>
            <a:ext cx="52006" cy="90677"/>
          </a:xfrm>
          <a:custGeom>
            <a:avLst/>
            <a:gdLst/>
            <a:ahLst/>
            <a:cxnLst/>
            <a:rect l="l" t="t" r="r" b="b"/>
            <a:pathLst>
              <a:path w="52006" h="90677">
                <a:moveTo>
                  <a:pt x="52006" y="0"/>
                </a:moveTo>
                <a:lnTo>
                  <a:pt x="0" y="90677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8" name="object 18"/>
          <p:cNvSpPr/>
          <p:nvPr/>
        </p:nvSpPr>
        <p:spPr>
          <a:xfrm>
            <a:off x="336804" y="2309623"/>
            <a:ext cx="185902" cy="207263"/>
          </a:xfrm>
          <a:custGeom>
            <a:avLst/>
            <a:gdLst/>
            <a:ahLst/>
            <a:cxnLst/>
            <a:rect l="l" t="t" r="r" b="b"/>
            <a:pathLst>
              <a:path w="185902" h="207263">
                <a:moveTo>
                  <a:pt x="133807" y="0"/>
                </a:moveTo>
                <a:lnTo>
                  <a:pt x="128866" y="762"/>
                </a:lnTo>
                <a:lnTo>
                  <a:pt x="123939" y="1397"/>
                </a:lnTo>
                <a:lnTo>
                  <a:pt x="119011" y="2793"/>
                </a:lnTo>
                <a:lnTo>
                  <a:pt x="88734" y="27686"/>
                </a:lnTo>
                <a:lnTo>
                  <a:pt x="82397" y="52577"/>
                </a:lnTo>
                <a:lnTo>
                  <a:pt x="83083" y="60325"/>
                </a:lnTo>
                <a:lnTo>
                  <a:pt x="85216" y="68199"/>
                </a:lnTo>
                <a:lnTo>
                  <a:pt x="88023" y="75183"/>
                </a:lnTo>
                <a:lnTo>
                  <a:pt x="91541" y="81661"/>
                </a:lnTo>
                <a:lnTo>
                  <a:pt x="0" y="190245"/>
                </a:lnTo>
                <a:lnTo>
                  <a:pt x="10579" y="197992"/>
                </a:lnTo>
                <a:lnTo>
                  <a:pt x="20446" y="207263"/>
                </a:lnTo>
                <a:lnTo>
                  <a:pt x="111975" y="99313"/>
                </a:lnTo>
                <a:lnTo>
                  <a:pt x="155713" y="99313"/>
                </a:lnTo>
                <a:lnTo>
                  <a:pt x="158457" y="97916"/>
                </a:lnTo>
                <a:lnTo>
                  <a:pt x="184480" y="62483"/>
                </a:lnTo>
                <a:lnTo>
                  <a:pt x="185902" y="52577"/>
                </a:lnTo>
                <a:lnTo>
                  <a:pt x="185204" y="46862"/>
                </a:lnTo>
                <a:lnTo>
                  <a:pt x="184480" y="41910"/>
                </a:lnTo>
                <a:lnTo>
                  <a:pt x="183070" y="36956"/>
                </a:lnTo>
                <a:lnTo>
                  <a:pt x="181686" y="31876"/>
                </a:lnTo>
                <a:lnTo>
                  <a:pt x="162661" y="9270"/>
                </a:lnTo>
                <a:lnTo>
                  <a:pt x="158457" y="6350"/>
                </a:lnTo>
                <a:lnTo>
                  <a:pt x="154216" y="4317"/>
                </a:lnTo>
                <a:lnTo>
                  <a:pt x="149288" y="2793"/>
                </a:lnTo>
                <a:lnTo>
                  <a:pt x="144348" y="1397"/>
                </a:lnTo>
                <a:lnTo>
                  <a:pt x="133807" y="0"/>
                </a:lnTo>
                <a:close/>
              </a:path>
              <a:path w="185902" h="207263">
                <a:moveTo>
                  <a:pt x="155713" y="99313"/>
                </a:moveTo>
                <a:lnTo>
                  <a:pt x="111975" y="99313"/>
                </a:lnTo>
                <a:lnTo>
                  <a:pt x="116903" y="101473"/>
                </a:lnTo>
                <a:lnTo>
                  <a:pt x="122529" y="102997"/>
                </a:lnTo>
                <a:lnTo>
                  <a:pt x="133807" y="104266"/>
                </a:lnTo>
                <a:lnTo>
                  <a:pt x="139420" y="103631"/>
                </a:lnTo>
                <a:lnTo>
                  <a:pt x="144348" y="102997"/>
                </a:lnTo>
                <a:lnTo>
                  <a:pt x="149288" y="102235"/>
                </a:lnTo>
                <a:lnTo>
                  <a:pt x="154216" y="100075"/>
                </a:lnTo>
                <a:lnTo>
                  <a:pt x="155713" y="99313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9" name="object 19"/>
          <p:cNvSpPr/>
          <p:nvPr/>
        </p:nvSpPr>
        <p:spPr>
          <a:xfrm>
            <a:off x="53339" y="2340102"/>
            <a:ext cx="149326" cy="172212"/>
          </a:xfrm>
          <a:custGeom>
            <a:avLst/>
            <a:gdLst/>
            <a:ahLst/>
            <a:cxnLst/>
            <a:rect l="l" t="t" r="r" b="b"/>
            <a:pathLst>
              <a:path w="149326" h="172212">
                <a:moveTo>
                  <a:pt x="106254" y="99949"/>
                </a:moveTo>
                <a:lnTo>
                  <a:pt x="71822" y="99949"/>
                </a:lnTo>
                <a:lnTo>
                  <a:pt x="127977" y="172212"/>
                </a:lnTo>
                <a:lnTo>
                  <a:pt x="137934" y="163702"/>
                </a:lnTo>
                <a:lnTo>
                  <a:pt x="149326" y="155956"/>
                </a:lnTo>
                <a:lnTo>
                  <a:pt x="106254" y="99949"/>
                </a:lnTo>
                <a:close/>
              </a:path>
              <a:path w="149326" h="172212">
                <a:moveTo>
                  <a:pt x="56188" y="0"/>
                </a:moveTo>
                <a:lnTo>
                  <a:pt x="45504" y="0"/>
                </a:lnTo>
                <a:lnTo>
                  <a:pt x="40525" y="762"/>
                </a:lnTo>
                <a:lnTo>
                  <a:pt x="35547" y="2159"/>
                </a:lnTo>
                <a:lnTo>
                  <a:pt x="31296" y="4318"/>
                </a:lnTo>
                <a:lnTo>
                  <a:pt x="26318" y="6350"/>
                </a:lnTo>
                <a:lnTo>
                  <a:pt x="2153" y="36830"/>
                </a:lnTo>
                <a:lnTo>
                  <a:pt x="0" y="47498"/>
                </a:lnTo>
                <a:lnTo>
                  <a:pt x="0" y="58165"/>
                </a:lnTo>
                <a:lnTo>
                  <a:pt x="727" y="63119"/>
                </a:lnTo>
                <a:lnTo>
                  <a:pt x="2153" y="68072"/>
                </a:lnTo>
                <a:lnTo>
                  <a:pt x="4279" y="72262"/>
                </a:lnTo>
                <a:lnTo>
                  <a:pt x="6404" y="77215"/>
                </a:lnTo>
                <a:lnTo>
                  <a:pt x="9258" y="80772"/>
                </a:lnTo>
                <a:lnTo>
                  <a:pt x="12081" y="85089"/>
                </a:lnTo>
                <a:lnTo>
                  <a:pt x="15662" y="88519"/>
                </a:lnTo>
                <a:lnTo>
                  <a:pt x="49783" y="103505"/>
                </a:lnTo>
                <a:lnTo>
                  <a:pt x="57616" y="103505"/>
                </a:lnTo>
                <a:lnTo>
                  <a:pt x="64719" y="101981"/>
                </a:lnTo>
                <a:lnTo>
                  <a:pt x="71822" y="99949"/>
                </a:lnTo>
                <a:lnTo>
                  <a:pt x="106254" y="99949"/>
                </a:lnTo>
                <a:lnTo>
                  <a:pt x="93167" y="82931"/>
                </a:lnTo>
                <a:lnTo>
                  <a:pt x="96710" y="77977"/>
                </a:lnTo>
                <a:lnTo>
                  <a:pt x="99542" y="73025"/>
                </a:lnTo>
                <a:lnTo>
                  <a:pt x="101688" y="67310"/>
                </a:lnTo>
                <a:lnTo>
                  <a:pt x="103124" y="60960"/>
                </a:lnTo>
                <a:lnTo>
                  <a:pt x="103822" y="56007"/>
                </a:lnTo>
                <a:lnTo>
                  <a:pt x="103822" y="45338"/>
                </a:lnTo>
                <a:lnTo>
                  <a:pt x="84632" y="11302"/>
                </a:lnTo>
                <a:lnTo>
                  <a:pt x="61167" y="762"/>
                </a:lnTo>
                <a:lnTo>
                  <a:pt x="5618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0" name="object 20"/>
          <p:cNvSpPr/>
          <p:nvPr/>
        </p:nvSpPr>
        <p:spPr>
          <a:xfrm>
            <a:off x="0" y="2637283"/>
            <a:ext cx="158496" cy="126491"/>
          </a:xfrm>
          <a:custGeom>
            <a:avLst/>
            <a:gdLst/>
            <a:ahLst/>
            <a:cxnLst/>
            <a:rect l="l" t="t" r="r" b="b"/>
            <a:pathLst>
              <a:path w="158496" h="126491">
                <a:moveTo>
                  <a:pt x="3491" y="22605"/>
                </a:moveTo>
                <a:lnTo>
                  <a:pt x="0" y="23142"/>
                </a:lnTo>
                <a:lnTo>
                  <a:pt x="0" y="126491"/>
                </a:lnTo>
                <a:lnTo>
                  <a:pt x="4911" y="126491"/>
                </a:lnTo>
                <a:lnTo>
                  <a:pt x="9866" y="125729"/>
                </a:lnTo>
                <a:lnTo>
                  <a:pt x="19777" y="122935"/>
                </a:lnTo>
                <a:lnTo>
                  <a:pt x="24037" y="121538"/>
                </a:lnTo>
                <a:lnTo>
                  <a:pt x="28267" y="118744"/>
                </a:lnTo>
                <a:lnTo>
                  <a:pt x="32527" y="115823"/>
                </a:lnTo>
                <a:lnTo>
                  <a:pt x="36758" y="113029"/>
                </a:lnTo>
                <a:lnTo>
                  <a:pt x="53740" y="76326"/>
                </a:lnTo>
                <a:lnTo>
                  <a:pt x="53044" y="67817"/>
                </a:lnTo>
                <a:lnTo>
                  <a:pt x="113391" y="43179"/>
                </a:lnTo>
                <a:lnTo>
                  <a:pt x="43134" y="43179"/>
                </a:lnTo>
                <a:lnTo>
                  <a:pt x="32527" y="32512"/>
                </a:lnTo>
                <a:lnTo>
                  <a:pt x="27572" y="29717"/>
                </a:lnTo>
                <a:lnTo>
                  <a:pt x="23312" y="27558"/>
                </a:lnTo>
                <a:lnTo>
                  <a:pt x="18357" y="25400"/>
                </a:lnTo>
                <a:lnTo>
                  <a:pt x="13402" y="24002"/>
                </a:lnTo>
                <a:lnTo>
                  <a:pt x="8446" y="23367"/>
                </a:lnTo>
                <a:lnTo>
                  <a:pt x="3491" y="22605"/>
                </a:lnTo>
                <a:close/>
              </a:path>
              <a:path w="158496" h="126491">
                <a:moveTo>
                  <a:pt x="147891" y="0"/>
                </a:moveTo>
                <a:lnTo>
                  <a:pt x="43134" y="43179"/>
                </a:lnTo>
                <a:lnTo>
                  <a:pt x="113391" y="43179"/>
                </a:lnTo>
                <a:lnTo>
                  <a:pt x="158496" y="24764"/>
                </a:lnTo>
                <a:lnTo>
                  <a:pt x="152120" y="12700"/>
                </a:lnTo>
                <a:lnTo>
                  <a:pt x="147891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1" name="object 21"/>
          <p:cNvSpPr/>
          <p:nvPr/>
        </p:nvSpPr>
        <p:spPr>
          <a:xfrm>
            <a:off x="204241" y="2724151"/>
            <a:ext cx="103606" cy="185927"/>
          </a:xfrm>
          <a:custGeom>
            <a:avLst/>
            <a:gdLst/>
            <a:ahLst/>
            <a:cxnLst/>
            <a:rect l="l" t="t" r="r" b="b"/>
            <a:pathLst>
              <a:path w="103606" h="185927">
                <a:moveTo>
                  <a:pt x="43294" y="0"/>
                </a:moveTo>
                <a:lnTo>
                  <a:pt x="40449" y="83057"/>
                </a:lnTo>
                <a:lnTo>
                  <a:pt x="34785" y="84455"/>
                </a:lnTo>
                <a:lnTo>
                  <a:pt x="29082" y="87249"/>
                </a:lnTo>
                <a:lnTo>
                  <a:pt x="23418" y="90169"/>
                </a:lnTo>
                <a:lnTo>
                  <a:pt x="18453" y="93725"/>
                </a:lnTo>
                <a:lnTo>
                  <a:pt x="14185" y="97281"/>
                </a:lnTo>
                <a:lnTo>
                  <a:pt x="11366" y="101473"/>
                </a:lnTo>
                <a:lnTo>
                  <a:pt x="7785" y="105791"/>
                </a:lnTo>
                <a:lnTo>
                  <a:pt x="0" y="139064"/>
                </a:lnTo>
                <a:lnTo>
                  <a:pt x="698" y="144018"/>
                </a:lnTo>
                <a:lnTo>
                  <a:pt x="12064" y="166750"/>
                </a:lnTo>
                <a:lnTo>
                  <a:pt x="15608" y="171069"/>
                </a:lnTo>
                <a:lnTo>
                  <a:pt x="19151" y="174625"/>
                </a:lnTo>
                <a:lnTo>
                  <a:pt x="23418" y="177419"/>
                </a:lnTo>
                <a:lnTo>
                  <a:pt x="27660" y="179577"/>
                </a:lnTo>
                <a:lnTo>
                  <a:pt x="32626" y="181610"/>
                </a:lnTo>
                <a:lnTo>
                  <a:pt x="36906" y="183769"/>
                </a:lnTo>
                <a:lnTo>
                  <a:pt x="46837" y="185293"/>
                </a:lnTo>
                <a:lnTo>
                  <a:pt x="51803" y="185927"/>
                </a:lnTo>
                <a:lnTo>
                  <a:pt x="56768" y="185293"/>
                </a:lnTo>
                <a:lnTo>
                  <a:pt x="92252" y="166116"/>
                </a:lnTo>
                <a:lnTo>
                  <a:pt x="95059" y="161798"/>
                </a:lnTo>
                <a:lnTo>
                  <a:pt x="97917" y="157480"/>
                </a:lnTo>
                <a:lnTo>
                  <a:pt x="100037" y="153288"/>
                </a:lnTo>
                <a:lnTo>
                  <a:pt x="102882" y="143382"/>
                </a:lnTo>
                <a:lnTo>
                  <a:pt x="103513" y="139064"/>
                </a:lnTo>
                <a:lnTo>
                  <a:pt x="103606" y="128397"/>
                </a:lnTo>
                <a:lnTo>
                  <a:pt x="102882" y="123443"/>
                </a:lnTo>
                <a:lnTo>
                  <a:pt x="80187" y="90169"/>
                </a:lnTo>
                <a:lnTo>
                  <a:pt x="67411" y="84455"/>
                </a:lnTo>
                <a:lnTo>
                  <a:pt x="70234" y="1397"/>
                </a:lnTo>
                <a:lnTo>
                  <a:pt x="61747" y="1397"/>
                </a:lnTo>
                <a:lnTo>
                  <a:pt x="52501" y="762"/>
                </a:lnTo>
                <a:lnTo>
                  <a:pt x="43294" y="0"/>
                </a:lnTo>
                <a:close/>
              </a:path>
              <a:path w="103606" h="185927">
                <a:moveTo>
                  <a:pt x="70256" y="762"/>
                </a:moveTo>
                <a:lnTo>
                  <a:pt x="61747" y="1397"/>
                </a:lnTo>
                <a:lnTo>
                  <a:pt x="70234" y="1397"/>
                </a:lnTo>
                <a:lnTo>
                  <a:pt x="70256" y="762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2" name="object 22"/>
          <p:cNvSpPr/>
          <p:nvPr/>
        </p:nvSpPr>
        <p:spPr>
          <a:xfrm>
            <a:off x="387122" y="2582417"/>
            <a:ext cx="187401" cy="103632"/>
          </a:xfrm>
          <a:custGeom>
            <a:avLst/>
            <a:gdLst/>
            <a:ahLst/>
            <a:cxnLst/>
            <a:rect l="l" t="t" r="r" b="b"/>
            <a:pathLst>
              <a:path w="187401" h="103632">
                <a:moveTo>
                  <a:pt x="2844" y="21844"/>
                </a:moveTo>
                <a:lnTo>
                  <a:pt x="2120" y="35179"/>
                </a:lnTo>
                <a:lnTo>
                  <a:pt x="0" y="47879"/>
                </a:lnTo>
                <a:lnTo>
                  <a:pt x="84150" y="58547"/>
                </a:lnTo>
                <a:lnTo>
                  <a:pt x="84874" y="64135"/>
                </a:lnTo>
                <a:lnTo>
                  <a:pt x="86982" y="69723"/>
                </a:lnTo>
                <a:lnTo>
                  <a:pt x="89090" y="74041"/>
                </a:lnTo>
                <a:lnTo>
                  <a:pt x="91236" y="78994"/>
                </a:lnTo>
                <a:lnTo>
                  <a:pt x="94043" y="83185"/>
                </a:lnTo>
                <a:lnTo>
                  <a:pt x="97586" y="86741"/>
                </a:lnTo>
                <a:lnTo>
                  <a:pt x="101117" y="90170"/>
                </a:lnTo>
                <a:lnTo>
                  <a:pt x="104673" y="93726"/>
                </a:lnTo>
                <a:lnTo>
                  <a:pt x="128015" y="102870"/>
                </a:lnTo>
                <a:lnTo>
                  <a:pt x="132930" y="103632"/>
                </a:lnTo>
                <a:lnTo>
                  <a:pt x="137883" y="103632"/>
                </a:lnTo>
                <a:lnTo>
                  <a:pt x="142836" y="102870"/>
                </a:lnTo>
                <a:lnTo>
                  <a:pt x="147789" y="102235"/>
                </a:lnTo>
                <a:lnTo>
                  <a:pt x="152742" y="100076"/>
                </a:lnTo>
                <a:lnTo>
                  <a:pt x="157695" y="98679"/>
                </a:lnTo>
                <a:lnTo>
                  <a:pt x="162636" y="95885"/>
                </a:lnTo>
                <a:lnTo>
                  <a:pt x="166903" y="93091"/>
                </a:lnTo>
                <a:lnTo>
                  <a:pt x="177495" y="82423"/>
                </a:lnTo>
                <a:lnTo>
                  <a:pt x="179603" y="78232"/>
                </a:lnTo>
                <a:lnTo>
                  <a:pt x="182448" y="74041"/>
                </a:lnTo>
                <a:lnTo>
                  <a:pt x="185280" y="64135"/>
                </a:lnTo>
                <a:lnTo>
                  <a:pt x="186702" y="59944"/>
                </a:lnTo>
                <a:lnTo>
                  <a:pt x="187401" y="54229"/>
                </a:lnTo>
                <a:lnTo>
                  <a:pt x="187401" y="49403"/>
                </a:lnTo>
                <a:lnTo>
                  <a:pt x="185978" y="39497"/>
                </a:lnTo>
                <a:lnTo>
                  <a:pt x="182942" y="32385"/>
                </a:lnTo>
                <a:lnTo>
                  <a:pt x="87680" y="32385"/>
                </a:lnTo>
                <a:lnTo>
                  <a:pt x="2844" y="21844"/>
                </a:lnTo>
                <a:close/>
              </a:path>
              <a:path w="187401" h="103632">
                <a:moveTo>
                  <a:pt x="132930" y="0"/>
                </a:moveTo>
                <a:lnTo>
                  <a:pt x="95465" y="19050"/>
                </a:lnTo>
                <a:lnTo>
                  <a:pt x="87680" y="32385"/>
                </a:lnTo>
                <a:lnTo>
                  <a:pt x="182942" y="32385"/>
                </a:lnTo>
                <a:lnTo>
                  <a:pt x="161950" y="7747"/>
                </a:lnTo>
                <a:lnTo>
                  <a:pt x="157695" y="4953"/>
                </a:lnTo>
                <a:lnTo>
                  <a:pt x="142836" y="762"/>
                </a:lnTo>
                <a:lnTo>
                  <a:pt x="137883" y="762"/>
                </a:lnTo>
                <a:lnTo>
                  <a:pt x="13293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3" name="object 23"/>
          <p:cNvSpPr/>
          <p:nvPr/>
        </p:nvSpPr>
        <p:spPr>
          <a:xfrm>
            <a:off x="156971" y="2490977"/>
            <a:ext cx="219430" cy="220980"/>
          </a:xfrm>
          <a:custGeom>
            <a:avLst/>
            <a:gdLst/>
            <a:ahLst/>
            <a:cxnLst/>
            <a:rect l="l" t="t" r="r" b="b"/>
            <a:pathLst>
              <a:path w="219430" h="220980">
                <a:moveTo>
                  <a:pt x="109728" y="0"/>
                </a:moveTo>
                <a:lnTo>
                  <a:pt x="67233" y="8509"/>
                </a:lnTo>
                <a:lnTo>
                  <a:pt x="32550" y="32638"/>
                </a:lnTo>
                <a:lnTo>
                  <a:pt x="8496" y="67563"/>
                </a:lnTo>
                <a:lnTo>
                  <a:pt x="0" y="110109"/>
                </a:lnTo>
                <a:lnTo>
                  <a:pt x="698" y="121538"/>
                </a:lnTo>
                <a:lnTo>
                  <a:pt x="13449" y="162687"/>
                </a:lnTo>
                <a:lnTo>
                  <a:pt x="40347" y="195325"/>
                </a:lnTo>
                <a:lnTo>
                  <a:pt x="67233" y="211709"/>
                </a:lnTo>
                <a:lnTo>
                  <a:pt x="77152" y="216026"/>
                </a:lnTo>
                <a:lnTo>
                  <a:pt x="87757" y="218186"/>
                </a:lnTo>
                <a:lnTo>
                  <a:pt x="98399" y="220218"/>
                </a:lnTo>
                <a:lnTo>
                  <a:pt x="109728" y="220980"/>
                </a:lnTo>
                <a:lnTo>
                  <a:pt x="121031" y="220218"/>
                </a:lnTo>
                <a:lnTo>
                  <a:pt x="162102" y="207518"/>
                </a:lnTo>
                <a:lnTo>
                  <a:pt x="194652" y="180467"/>
                </a:lnTo>
                <a:lnTo>
                  <a:pt x="215201" y="143510"/>
                </a:lnTo>
                <a:lnTo>
                  <a:pt x="219430" y="121538"/>
                </a:lnTo>
                <a:lnTo>
                  <a:pt x="219430" y="99441"/>
                </a:lnTo>
                <a:lnTo>
                  <a:pt x="217309" y="88137"/>
                </a:lnTo>
                <a:lnTo>
                  <a:pt x="215201" y="77470"/>
                </a:lnTo>
                <a:lnTo>
                  <a:pt x="210934" y="67563"/>
                </a:lnTo>
                <a:lnTo>
                  <a:pt x="206705" y="57531"/>
                </a:lnTo>
                <a:lnTo>
                  <a:pt x="179781" y="25654"/>
                </a:lnTo>
                <a:lnTo>
                  <a:pt x="142278" y="4952"/>
                </a:lnTo>
                <a:lnTo>
                  <a:pt x="121031" y="762"/>
                </a:lnTo>
                <a:lnTo>
                  <a:pt x="10972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4" name="object 24"/>
          <p:cNvSpPr txBox="1"/>
          <p:nvPr/>
        </p:nvSpPr>
        <p:spPr>
          <a:xfrm>
            <a:off x="3059832" y="2533650"/>
            <a:ext cx="3598527" cy="226558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4000" b="1" dirty="0">
                <a:solidFill>
                  <a:srgbClr val="002060"/>
                </a:solidFill>
                <a:cs typeface="Calibri"/>
              </a:rPr>
              <a:t>Funciones que realizan una tarea</a:t>
            </a:r>
            <a:endParaRPr sz="4000" b="1" dirty="0">
              <a:solidFill>
                <a:srgbClr val="002060"/>
              </a:solidFill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75715" y="3021076"/>
            <a:ext cx="334645" cy="774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ES" sz="4800" b="1" spc="-25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4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78447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84463" y="2492896"/>
            <a:ext cx="3875569" cy="2965447"/>
          </a:xfrm>
        </p:spPr>
        <p:txBody>
          <a:bodyPr>
            <a:normAutofit/>
          </a:bodyPr>
          <a:lstStyle/>
          <a:p>
            <a:pPr marL="0" indent="0">
              <a:lnSpc>
                <a:spcPts val="4000"/>
              </a:lnSpc>
              <a:spcBef>
                <a:spcPct val="0"/>
              </a:spcBef>
              <a:buNone/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Son funciones </a:t>
            </a:r>
            <a:r>
              <a:rPr lang="es-ES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que </a:t>
            </a: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no regresan ningún valor</a:t>
            </a:r>
            <a:r>
              <a:rPr lang="es-ES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, sólo llevan a cabo una secuencia de instrucciones.</a:t>
            </a:r>
            <a:endParaRPr lang="es-ES_tradnl" sz="24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899344" y="476672"/>
            <a:ext cx="7092912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MX" sz="49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Funciones que realizan una tarea</a:t>
            </a:r>
            <a:endParaRPr lang="es-MX" b="1"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240105A-D4FE-4AC7-8F67-CBC6D3BC3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088" y="2499604"/>
            <a:ext cx="2458616" cy="2937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232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title"/>
          </p:nvPr>
        </p:nvSpPr>
        <p:spPr>
          <a:xfrm>
            <a:off x="-270669" y="134875"/>
            <a:ext cx="9685338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ES_tradnl" sz="40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Funciones que realizan una tarea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27486D1-2852-48B3-AFBD-B36F2C325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573380"/>
            <a:ext cx="7236296" cy="3711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0926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Text Box 2"/>
          <p:cNvSpPr txBox="1">
            <a:spLocks noChangeArrowheads="1"/>
          </p:cNvSpPr>
          <p:nvPr/>
        </p:nvSpPr>
        <p:spPr bwMode="auto">
          <a:xfrm>
            <a:off x="971601" y="1574969"/>
            <a:ext cx="7127875" cy="181588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 defTabSz="762000" eaLnBrk="0" hangingPunct="0"/>
            <a:r>
              <a:rPr lang="es-MX" sz="2800" dirty="0">
                <a:solidFill>
                  <a:schemeClr val="bg2">
                    <a:lumMod val="25000"/>
                  </a:schemeClr>
                </a:solidFill>
              </a:rPr>
              <a:t>Declara la función </a:t>
            </a:r>
            <a:r>
              <a:rPr lang="es-MX" sz="2800" b="1" dirty="0">
                <a:solidFill>
                  <a:schemeClr val="accent6">
                    <a:lumMod val="75000"/>
                  </a:schemeClr>
                </a:solidFill>
              </a:rPr>
              <a:t>todos_positivos</a:t>
            </a:r>
            <a:r>
              <a:rPr lang="es-MX" sz="2800" dirty="0">
                <a:solidFill>
                  <a:schemeClr val="bg2">
                    <a:lumMod val="25000"/>
                  </a:schemeClr>
                </a:solidFill>
              </a:rPr>
              <a:t>, que recibe tres números enteros y regresa </a:t>
            </a:r>
            <a:r>
              <a:rPr lang="es-MX" sz="2800" b="1" dirty="0">
                <a:solidFill>
                  <a:srgbClr val="FF0000"/>
                </a:solidFill>
              </a:rPr>
              <a:t>1</a:t>
            </a:r>
            <a:r>
              <a:rPr lang="es-MX" sz="2800" dirty="0">
                <a:solidFill>
                  <a:schemeClr val="bg2">
                    <a:lumMod val="25000"/>
                  </a:schemeClr>
                </a:solidFill>
              </a:rPr>
              <a:t>, si exactamente los tres valores son positivos de lo contrario regresar </a:t>
            </a:r>
            <a:r>
              <a:rPr lang="es-MX" sz="2800" b="1" dirty="0">
                <a:solidFill>
                  <a:srgbClr val="FF0000"/>
                </a:solidFill>
              </a:rPr>
              <a:t>0</a:t>
            </a:r>
            <a:r>
              <a:rPr lang="es-MX" sz="2800" dirty="0">
                <a:solidFill>
                  <a:schemeClr val="bg2">
                    <a:lumMod val="25000"/>
                  </a:schemeClr>
                </a:solidFill>
              </a:rPr>
              <a:t>.</a:t>
            </a:r>
            <a:endParaRPr lang="es-ES" sz="2800" dirty="0">
              <a:solidFill>
                <a:schemeClr val="bg2">
                  <a:lumMod val="2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97284" name="Rectangle 4"/>
          <p:cNvSpPr>
            <a:spLocks noChangeArrowheads="1"/>
          </p:cNvSpPr>
          <p:nvPr/>
        </p:nvSpPr>
        <p:spPr bwMode="auto">
          <a:xfrm>
            <a:off x="971601" y="332656"/>
            <a:ext cx="6984775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algn="ctr" eaLnBrk="0" hangingPunct="0"/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  <a:endParaRPr lang="es-ES_tradnl" sz="24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pic>
        <p:nvPicPr>
          <p:cNvPr id="3" name="Imagen 2" descr="Imagen que contiene pequeño, juguete, tabla&#10;&#10;Descripción generada automáticamente">
            <a:extLst>
              <a:ext uri="{FF2B5EF4-FFF2-40B4-BE49-F238E27FC236}">
                <a16:creationId xmlns:a16="http://schemas.microsoft.com/office/drawing/2014/main" id="{3A3C0967-0E6C-4A3A-8403-74C8F5EE57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840" y="3650045"/>
            <a:ext cx="3171261" cy="287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579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7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7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2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1295400" y="1912495"/>
            <a:ext cx="6553200" cy="30330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571500" lvl="1" defTabSz="762000">
              <a:lnSpc>
                <a:spcPts val="3500"/>
              </a:lnSpc>
              <a:spcBef>
                <a:spcPct val="50000"/>
              </a:spcBef>
            </a:pP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def  </a:t>
            </a: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todos_positivos 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(x, y, z):</a:t>
            </a:r>
          </a:p>
          <a:p>
            <a:pPr marL="571500" lvl="1" defTabSz="762000">
              <a:lnSpc>
                <a:spcPts val="3500"/>
              </a:lnSpc>
              <a:spcBef>
                <a:spcPct val="50000"/>
              </a:spcBef>
            </a:pP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	     if (x &gt; </a:t>
            </a:r>
            <a:r>
              <a:rPr lang="es-ES_tradnl" sz="24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and  y &gt; </a:t>
            </a:r>
            <a:r>
              <a:rPr lang="es-ES_tradnl" sz="24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 and  z &gt; </a:t>
            </a:r>
            <a:r>
              <a:rPr lang="es-ES_tradnl" sz="24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):</a:t>
            </a:r>
          </a:p>
          <a:p>
            <a:pPr marL="571500" lvl="1" defTabSz="762000">
              <a:lnSpc>
                <a:spcPts val="3500"/>
              </a:lnSpc>
              <a:spcBef>
                <a:spcPct val="50000"/>
              </a:spcBef>
            </a:pP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	         return </a:t>
            </a:r>
            <a:r>
              <a:rPr lang="es-ES_tradnl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</a:t>
            </a:r>
            <a:endParaRPr lang="es-ES_tradnl" sz="2400" b="1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571500" lvl="1" defTabSz="762000">
              <a:lnSpc>
                <a:spcPts val="3500"/>
              </a:lnSpc>
              <a:spcBef>
                <a:spcPct val="50000"/>
              </a:spcBef>
            </a:pP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      else:</a:t>
            </a:r>
          </a:p>
          <a:p>
            <a:pPr marL="571500" lvl="1" defTabSz="762000">
              <a:lnSpc>
                <a:spcPts val="3500"/>
              </a:lnSpc>
              <a:spcBef>
                <a:spcPct val="50000"/>
              </a:spcBef>
            </a:pP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          return </a:t>
            </a:r>
            <a:r>
              <a:rPr lang="es-ES_tradnl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0</a:t>
            </a:r>
            <a:endParaRPr lang="es-ES_tradnl" sz="2400" b="1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4607E4A-252C-4A0F-AB73-E94E01B8A7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076" y="47006"/>
            <a:ext cx="7772400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Función todos_positivos</a:t>
            </a:r>
          </a:p>
        </p:txBody>
      </p:sp>
      <p:pic>
        <p:nvPicPr>
          <p:cNvPr id="9" name="1 Imagen">
            <a:extLst>
              <a:ext uri="{FF2B5EF4-FFF2-40B4-BE49-F238E27FC236}">
                <a16:creationId xmlns:a16="http://schemas.microsoft.com/office/drawing/2014/main" id="{5BCC6BBB-0C7C-4B30-A1DD-8956B33498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208" y="4345919"/>
            <a:ext cx="1728192" cy="160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5902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467576" y="1452541"/>
            <a:ext cx="5544616" cy="46448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571500" lvl="1" defTabSz="762000">
              <a:lnSpc>
                <a:spcPts val="3500"/>
              </a:lnSpc>
              <a:spcBef>
                <a:spcPct val="50000"/>
              </a:spcBef>
            </a:pPr>
            <a:r>
              <a:rPr lang="es-ES_tradnl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def </a:t>
            </a:r>
            <a:r>
              <a:rPr lang="es-ES_tradnl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main </a:t>
            </a:r>
            <a:r>
              <a:rPr lang="es-ES_tradnl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 ):</a:t>
            </a:r>
          </a:p>
          <a:p>
            <a:pPr lvl="2" defTabSz="762000">
              <a:lnSpc>
                <a:spcPct val="150000"/>
              </a:lnSpc>
              <a:buClr>
                <a:schemeClr val="accent1"/>
              </a:buClr>
              <a:buSzPct val="80000"/>
            </a:pPr>
            <a:r>
              <a:rPr lang="es-MX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n1 = int(input("Introduce un valor: "))</a:t>
            </a:r>
          </a:p>
          <a:p>
            <a:pPr lvl="2" defTabSz="762000">
              <a:lnSpc>
                <a:spcPct val="150000"/>
              </a:lnSpc>
              <a:buClr>
                <a:schemeClr val="accent1"/>
              </a:buClr>
              <a:buSzPct val="80000"/>
            </a:pPr>
            <a:r>
              <a:rPr lang="es-MX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n2 = int(input("Introduce un valor: "))</a:t>
            </a:r>
          </a:p>
          <a:p>
            <a:pPr lvl="2" defTabSz="762000">
              <a:lnSpc>
                <a:spcPct val="150000"/>
              </a:lnSpc>
              <a:buClr>
                <a:schemeClr val="accent1"/>
              </a:buClr>
              <a:buSzPct val="80000"/>
            </a:pPr>
            <a:r>
              <a:rPr lang="es-MX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n3 = int(input("Introduce un valor: "))</a:t>
            </a:r>
          </a:p>
          <a:p>
            <a:pPr lvl="2" defTabSz="762000">
              <a:lnSpc>
                <a:spcPct val="150000"/>
              </a:lnSpc>
              <a:buClr>
                <a:schemeClr val="accent1"/>
              </a:buClr>
              <a:buSzPct val="80000"/>
            </a:pPr>
            <a:r>
              <a:rPr lang="es-MX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res = </a:t>
            </a:r>
            <a:r>
              <a:rPr lang="es-MX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todos_positivos</a:t>
            </a:r>
            <a:r>
              <a:rPr lang="es-MX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(n1, n2, n3)</a:t>
            </a:r>
          </a:p>
          <a:p>
            <a:pPr lvl="2" defTabSz="762000">
              <a:lnSpc>
                <a:spcPct val="150000"/>
              </a:lnSpc>
              <a:buClr>
                <a:schemeClr val="accent1"/>
              </a:buClr>
              <a:buSzPct val="80000"/>
            </a:pPr>
            <a:r>
              <a:rPr lang="es-MX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if (res == 1):</a:t>
            </a:r>
          </a:p>
          <a:p>
            <a:pPr lvl="2" defTabSz="762000">
              <a:lnSpc>
                <a:spcPct val="150000"/>
              </a:lnSpc>
              <a:buClr>
                <a:schemeClr val="accent1"/>
              </a:buClr>
              <a:buSzPct val="80000"/>
            </a:pPr>
            <a:r>
              <a:rPr lang="es-MX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   print("Los 3 valores son positivos")</a:t>
            </a:r>
          </a:p>
          <a:p>
            <a:pPr lvl="2" defTabSz="762000">
              <a:lnSpc>
                <a:spcPct val="150000"/>
              </a:lnSpc>
              <a:buClr>
                <a:schemeClr val="accent1"/>
              </a:buClr>
              <a:buSzPct val="80000"/>
            </a:pPr>
            <a:r>
              <a:rPr lang="es-MX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else:</a:t>
            </a:r>
          </a:p>
          <a:p>
            <a:pPr lvl="2" defTabSz="762000">
              <a:lnSpc>
                <a:spcPct val="150000"/>
              </a:lnSpc>
              <a:buClr>
                <a:schemeClr val="accent1"/>
              </a:buClr>
              <a:buSzPct val="80000"/>
            </a:pPr>
            <a:r>
              <a:rPr lang="es-MX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   print("No todos son positivos")</a:t>
            </a:r>
          </a:p>
          <a:p>
            <a:pPr lvl="1" defTabSz="762000">
              <a:lnSpc>
                <a:spcPct val="150000"/>
              </a:lnSpc>
              <a:buClr>
                <a:schemeClr val="accent1"/>
              </a:buClr>
              <a:buSzPct val="80000"/>
            </a:pPr>
            <a:endParaRPr lang="es-MX" b="1" dirty="0">
              <a:solidFill>
                <a:schemeClr val="accent6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lvl="1" defTabSz="762000">
              <a:lnSpc>
                <a:spcPct val="150000"/>
              </a:lnSpc>
              <a:buClr>
                <a:schemeClr val="accent1"/>
              </a:buClr>
              <a:buSzPct val="80000"/>
            </a:pPr>
            <a:r>
              <a:rPr lang="es-MX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main()</a:t>
            </a:r>
            <a:endParaRPr lang="es-ES_tradnl" sz="2400" b="1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4607E4A-252C-4A0F-AB73-E94E01B8A7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188640" y="0"/>
            <a:ext cx="7772400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Función main</a:t>
            </a:r>
          </a:p>
        </p:txBody>
      </p:sp>
      <p:pic>
        <p:nvPicPr>
          <p:cNvPr id="9" name="1 Imagen">
            <a:extLst>
              <a:ext uri="{FF2B5EF4-FFF2-40B4-BE49-F238E27FC236}">
                <a16:creationId xmlns:a16="http://schemas.microsoft.com/office/drawing/2014/main" id="{5BCC6BBB-0C7C-4B30-A1DD-8956B33498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192" y="2046473"/>
            <a:ext cx="2020688" cy="1875314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0AA98E56-665C-4400-BB87-6047F9A3A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088" y="4811527"/>
            <a:ext cx="3590925" cy="128587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298888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8931" y="4978146"/>
            <a:ext cx="684276" cy="594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315468" y="1035558"/>
            <a:ext cx="1089660" cy="943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0" y="1704595"/>
            <a:ext cx="550164" cy="585215"/>
          </a:xfrm>
          <a:custGeom>
            <a:avLst/>
            <a:gdLst/>
            <a:ahLst/>
            <a:cxnLst/>
            <a:rect l="l" t="t" r="r" b="b"/>
            <a:pathLst>
              <a:path w="550164" h="585215">
                <a:moveTo>
                  <a:pt x="0" y="507832"/>
                </a:moveTo>
                <a:lnTo>
                  <a:pt x="44383" y="585215"/>
                </a:lnTo>
                <a:lnTo>
                  <a:pt x="382333" y="585215"/>
                </a:lnTo>
                <a:lnTo>
                  <a:pt x="550164" y="292607"/>
                </a:lnTo>
                <a:lnTo>
                  <a:pt x="382333" y="0"/>
                </a:lnTo>
                <a:lnTo>
                  <a:pt x="44383" y="0"/>
                </a:lnTo>
                <a:lnTo>
                  <a:pt x="0" y="77383"/>
                </a:lnTo>
              </a:path>
            </a:pathLst>
          </a:custGeom>
          <a:ln w="9144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502920" y="2018538"/>
            <a:ext cx="353567" cy="306324"/>
          </a:xfrm>
          <a:custGeom>
            <a:avLst/>
            <a:gdLst/>
            <a:ahLst/>
            <a:cxnLst/>
            <a:rect l="l" t="t" r="r" b="b"/>
            <a:pathLst>
              <a:path w="353568" h="306324">
                <a:moveTo>
                  <a:pt x="265722" y="0"/>
                </a:moveTo>
                <a:lnTo>
                  <a:pt x="87845" y="0"/>
                </a:lnTo>
                <a:lnTo>
                  <a:pt x="0" y="153162"/>
                </a:lnTo>
                <a:lnTo>
                  <a:pt x="87845" y="306324"/>
                </a:lnTo>
                <a:lnTo>
                  <a:pt x="265722" y="306324"/>
                </a:lnTo>
                <a:lnTo>
                  <a:pt x="353567" y="153162"/>
                </a:lnTo>
                <a:lnTo>
                  <a:pt x="265722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1208533" y="857251"/>
            <a:ext cx="673607" cy="452627"/>
          </a:xfrm>
          <a:custGeom>
            <a:avLst/>
            <a:gdLst/>
            <a:ahLst/>
            <a:cxnLst/>
            <a:rect l="l" t="t" r="r" b="b"/>
            <a:pathLst>
              <a:path w="673607" h="452627">
                <a:moveTo>
                  <a:pt x="0" y="160781"/>
                </a:moveTo>
                <a:lnTo>
                  <a:pt x="167386" y="452627"/>
                </a:lnTo>
                <a:lnTo>
                  <a:pt x="506222" y="452627"/>
                </a:lnTo>
                <a:lnTo>
                  <a:pt x="673607" y="160781"/>
                </a:lnTo>
                <a:lnTo>
                  <a:pt x="581393" y="0"/>
                </a:lnTo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1208532" y="857251"/>
            <a:ext cx="92214" cy="160781"/>
          </a:xfrm>
          <a:custGeom>
            <a:avLst/>
            <a:gdLst/>
            <a:ahLst/>
            <a:cxnLst/>
            <a:rect l="l" t="t" r="r" b="b"/>
            <a:pathLst>
              <a:path w="92214" h="160781">
                <a:moveTo>
                  <a:pt x="92214" y="0"/>
                </a:moveTo>
                <a:lnTo>
                  <a:pt x="0" y="160781"/>
                </a:lnTo>
              </a:path>
            </a:pathLst>
          </a:custGeom>
          <a:ln w="76199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248411" y="907542"/>
            <a:ext cx="294132" cy="254508"/>
          </a:xfrm>
          <a:custGeom>
            <a:avLst/>
            <a:gdLst/>
            <a:ahLst/>
            <a:cxnLst/>
            <a:rect l="l" t="t" r="r" b="b"/>
            <a:pathLst>
              <a:path w="294131" h="254508">
                <a:moveTo>
                  <a:pt x="221145" y="0"/>
                </a:moveTo>
                <a:lnTo>
                  <a:pt x="72986" y="0"/>
                </a:lnTo>
                <a:lnTo>
                  <a:pt x="0" y="127254"/>
                </a:lnTo>
                <a:lnTo>
                  <a:pt x="72986" y="254508"/>
                </a:lnTo>
                <a:lnTo>
                  <a:pt x="221145" y="254508"/>
                </a:lnTo>
                <a:lnTo>
                  <a:pt x="294132" y="127254"/>
                </a:lnTo>
                <a:lnTo>
                  <a:pt x="221145" y="0"/>
                </a:lnTo>
                <a:close/>
              </a:path>
            </a:pathLst>
          </a:custGeom>
          <a:solidFill>
            <a:srgbClr val="00E0C5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8763000" y="5578602"/>
            <a:ext cx="381000" cy="234696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0" y="0"/>
                </a:moveTo>
                <a:lnTo>
                  <a:pt x="134620" y="234696"/>
                </a:lnTo>
                <a:lnTo>
                  <a:pt x="38100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8763000" y="5343906"/>
            <a:ext cx="381000" cy="234695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381000" y="0"/>
                </a:moveTo>
                <a:lnTo>
                  <a:pt x="134620" y="0"/>
                </a:lnTo>
                <a:lnTo>
                  <a:pt x="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8523731" y="5598414"/>
            <a:ext cx="283464" cy="245364"/>
          </a:xfrm>
          <a:custGeom>
            <a:avLst/>
            <a:gdLst/>
            <a:ahLst/>
            <a:cxnLst/>
            <a:rect l="l" t="t" r="r" b="b"/>
            <a:pathLst>
              <a:path w="283464" h="245363">
                <a:moveTo>
                  <a:pt x="213106" y="0"/>
                </a:moveTo>
                <a:lnTo>
                  <a:pt x="70358" y="0"/>
                </a:lnTo>
                <a:lnTo>
                  <a:pt x="0" y="122682"/>
                </a:lnTo>
                <a:lnTo>
                  <a:pt x="70358" y="245364"/>
                </a:lnTo>
                <a:lnTo>
                  <a:pt x="213106" y="245364"/>
                </a:lnTo>
                <a:lnTo>
                  <a:pt x="283464" y="122682"/>
                </a:lnTo>
                <a:lnTo>
                  <a:pt x="213106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8322565" y="4485894"/>
            <a:ext cx="542543" cy="469392"/>
          </a:xfrm>
          <a:custGeom>
            <a:avLst/>
            <a:gdLst/>
            <a:ahLst/>
            <a:cxnLst/>
            <a:rect l="l" t="t" r="r" b="b"/>
            <a:pathLst>
              <a:path w="542543" h="469392">
                <a:moveTo>
                  <a:pt x="407924" y="0"/>
                </a:moveTo>
                <a:lnTo>
                  <a:pt x="134619" y="0"/>
                </a:lnTo>
                <a:lnTo>
                  <a:pt x="0" y="234695"/>
                </a:lnTo>
                <a:lnTo>
                  <a:pt x="134619" y="469391"/>
                </a:lnTo>
                <a:lnTo>
                  <a:pt x="407924" y="469391"/>
                </a:lnTo>
                <a:lnTo>
                  <a:pt x="542543" y="234695"/>
                </a:lnTo>
                <a:lnTo>
                  <a:pt x="407924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8763761" y="4867655"/>
            <a:ext cx="237744" cy="205740"/>
          </a:xfrm>
          <a:custGeom>
            <a:avLst/>
            <a:gdLst/>
            <a:ahLst/>
            <a:cxnLst/>
            <a:rect l="l" t="t" r="r" b="b"/>
            <a:pathLst>
              <a:path w="237744" h="205739">
                <a:moveTo>
                  <a:pt x="0" y="102870"/>
                </a:moveTo>
                <a:lnTo>
                  <a:pt x="59055" y="205740"/>
                </a:lnTo>
                <a:lnTo>
                  <a:pt x="178689" y="205740"/>
                </a:lnTo>
                <a:lnTo>
                  <a:pt x="237744" y="102870"/>
                </a:lnTo>
                <a:lnTo>
                  <a:pt x="178689" y="0"/>
                </a:lnTo>
                <a:lnTo>
                  <a:pt x="59055" y="0"/>
                </a:lnTo>
                <a:lnTo>
                  <a:pt x="0" y="102870"/>
                </a:lnTo>
                <a:close/>
              </a:path>
            </a:pathLst>
          </a:custGeom>
          <a:ln w="19811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909827" y="1533905"/>
            <a:ext cx="2142744" cy="18562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5" name="object 15"/>
          <p:cNvSpPr txBox="1"/>
          <p:nvPr/>
        </p:nvSpPr>
        <p:spPr>
          <a:xfrm>
            <a:off x="3232150" y="1996821"/>
            <a:ext cx="3932138" cy="12833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8000" b="1" dirty="0">
                <a:solidFill>
                  <a:srgbClr val="002060"/>
                </a:solidFill>
                <a:latin typeface="Calibri"/>
                <a:cs typeface="Calibri"/>
              </a:rPr>
              <a:t>Gracias</a:t>
            </a:r>
          </a:p>
        </p:txBody>
      </p:sp>
      <p:sp>
        <p:nvSpPr>
          <p:cNvPr id="16" name="object 16"/>
          <p:cNvSpPr/>
          <p:nvPr/>
        </p:nvSpPr>
        <p:spPr>
          <a:xfrm>
            <a:off x="1591055" y="2070353"/>
            <a:ext cx="780288" cy="778764"/>
          </a:xfrm>
          <a:custGeom>
            <a:avLst/>
            <a:gdLst/>
            <a:ahLst/>
            <a:cxnLst/>
            <a:rect l="l" t="t" r="r" b="b"/>
            <a:pathLst>
              <a:path w="780288" h="778764">
                <a:moveTo>
                  <a:pt x="410082" y="0"/>
                </a:moveTo>
                <a:lnTo>
                  <a:pt x="370205" y="0"/>
                </a:lnTo>
                <a:lnTo>
                  <a:pt x="311657" y="7493"/>
                </a:lnTo>
                <a:lnTo>
                  <a:pt x="274193" y="17525"/>
                </a:lnTo>
                <a:lnTo>
                  <a:pt x="255524" y="23622"/>
                </a:lnTo>
                <a:lnTo>
                  <a:pt x="220599" y="38608"/>
                </a:lnTo>
                <a:lnTo>
                  <a:pt x="204469" y="47371"/>
                </a:lnTo>
                <a:lnTo>
                  <a:pt x="188213" y="56007"/>
                </a:lnTo>
                <a:lnTo>
                  <a:pt x="142112" y="88392"/>
                </a:lnTo>
                <a:lnTo>
                  <a:pt x="100964" y="128143"/>
                </a:lnTo>
                <a:lnTo>
                  <a:pt x="66039" y="171704"/>
                </a:lnTo>
                <a:lnTo>
                  <a:pt x="38735" y="220218"/>
                </a:lnTo>
                <a:lnTo>
                  <a:pt x="17399" y="273685"/>
                </a:lnTo>
                <a:lnTo>
                  <a:pt x="7493" y="311023"/>
                </a:lnTo>
                <a:lnTo>
                  <a:pt x="2540" y="349631"/>
                </a:lnTo>
                <a:lnTo>
                  <a:pt x="0" y="369570"/>
                </a:lnTo>
                <a:lnTo>
                  <a:pt x="0" y="409321"/>
                </a:lnTo>
                <a:lnTo>
                  <a:pt x="2540" y="429260"/>
                </a:lnTo>
                <a:lnTo>
                  <a:pt x="4953" y="449072"/>
                </a:lnTo>
                <a:lnTo>
                  <a:pt x="17399" y="505079"/>
                </a:lnTo>
                <a:lnTo>
                  <a:pt x="38735" y="558546"/>
                </a:lnTo>
                <a:lnTo>
                  <a:pt x="66039" y="607060"/>
                </a:lnTo>
                <a:lnTo>
                  <a:pt x="100964" y="650621"/>
                </a:lnTo>
                <a:lnTo>
                  <a:pt x="128396" y="677926"/>
                </a:lnTo>
                <a:lnTo>
                  <a:pt x="172085" y="712851"/>
                </a:lnTo>
                <a:lnTo>
                  <a:pt x="220599" y="740156"/>
                </a:lnTo>
                <a:lnTo>
                  <a:pt x="274193" y="761365"/>
                </a:lnTo>
                <a:lnTo>
                  <a:pt x="311657" y="771271"/>
                </a:lnTo>
                <a:lnTo>
                  <a:pt x="370205" y="778764"/>
                </a:lnTo>
                <a:lnTo>
                  <a:pt x="410082" y="778764"/>
                </a:lnTo>
                <a:lnTo>
                  <a:pt x="449961" y="773811"/>
                </a:lnTo>
                <a:lnTo>
                  <a:pt x="506094" y="761365"/>
                </a:lnTo>
                <a:lnTo>
                  <a:pt x="559562" y="740156"/>
                </a:lnTo>
                <a:lnTo>
                  <a:pt x="608202" y="712851"/>
                </a:lnTo>
                <a:lnTo>
                  <a:pt x="651891" y="677926"/>
                </a:lnTo>
                <a:lnTo>
                  <a:pt x="679323" y="650621"/>
                </a:lnTo>
                <a:lnTo>
                  <a:pt x="682664" y="646938"/>
                </a:lnTo>
                <a:lnTo>
                  <a:pt x="390144" y="646938"/>
                </a:lnTo>
                <a:lnTo>
                  <a:pt x="361442" y="645668"/>
                </a:lnTo>
                <a:lnTo>
                  <a:pt x="306705" y="634492"/>
                </a:lnTo>
                <a:lnTo>
                  <a:pt x="254254" y="613283"/>
                </a:lnTo>
                <a:lnTo>
                  <a:pt x="206882" y="582168"/>
                </a:lnTo>
                <a:lnTo>
                  <a:pt x="183261" y="558546"/>
                </a:lnTo>
                <a:lnTo>
                  <a:pt x="180720" y="554863"/>
                </a:lnTo>
                <a:lnTo>
                  <a:pt x="179450" y="549910"/>
                </a:lnTo>
                <a:lnTo>
                  <a:pt x="178307" y="544830"/>
                </a:lnTo>
                <a:lnTo>
                  <a:pt x="179450" y="541147"/>
                </a:lnTo>
                <a:lnTo>
                  <a:pt x="180720" y="536194"/>
                </a:lnTo>
                <a:lnTo>
                  <a:pt x="203200" y="520065"/>
                </a:lnTo>
                <a:lnTo>
                  <a:pt x="757766" y="520065"/>
                </a:lnTo>
                <a:lnTo>
                  <a:pt x="762762" y="505079"/>
                </a:lnTo>
                <a:lnTo>
                  <a:pt x="767842" y="486410"/>
                </a:lnTo>
                <a:lnTo>
                  <a:pt x="772794" y="467741"/>
                </a:lnTo>
                <a:lnTo>
                  <a:pt x="775335" y="449072"/>
                </a:lnTo>
                <a:lnTo>
                  <a:pt x="775938" y="444119"/>
                </a:lnTo>
                <a:lnTo>
                  <a:pt x="230631" y="444119"/>
                </a:lnTo>
                <a:lnTo>
                  <a:pt x="221869" y="442849"/>
                </a:lnTo>
                <a:lnTo>
                  <a:pt x="189483" y="414274"/>
                </a:lnTo>
                <a:lnTo>
                  <a:pt x="185800" y="395605"/>
                </a:lnTo>
                <a:lnTo>
                  <a:pt x="186944" y="385699"/>
                </a:lnTo>
                <a:lnTo>
                  <a:pt x="213106" y="350774"/>
                </a:lnTo>
                <a:lnTo>
                  <a:pt x="230631" y="347091"/>
                </a:lnTo>
                <a:lnTo>
                  <a:pt x="777440" y="347091"/>
                </a:lnTo>
                <a:lnTo>
                  <a:pt x="775335" y="329692"/>
                </a:lnTo>
                <a:lnTo>
                  <a:pt x="762762" y="273685"/>
                </a:lnTo>
                <a:lnTo>
                  <a:pt x="741552" y="220218"/>
                </a:lnTo>
                <a:lnTo>
                  <a:pt x="714248" y="171704"/>
                </a:lnTo>
                <a:lnTo>
                  <a:pt x="679323" y="128143"/>
                </a:lnTo>
                <a:lnTo>
                  <a:pt x="651891" y="100837"/>
                </a:lnTo>
                <a:lnTo>
                  <a:pt x="608202" y="65912"/>
                </a:lnTo>
                <a:lnTo>
                  <a:pt x="559562" y="38608"/>
                </a:lnTo>
                <a:lnTo>
                  <a:pt x="506094" y="17525"/>
                </a:lnTo>
                <a:lnTo>
                  <a:pt x="468630" y="7493"/>
                </a:lnTo>
                <a:lnTo>
                  <a:pt x="410082" y="0"/>
                </a:lnTo>
                <a:close/>
              </a:path>
              <a:path w="780288" h="778764">
                <a:moveTo>
                  <a:pt x="757766" y="520065"/>
                </a:moveTo>
                <a:lnTo>
                  <a:pt x="577088" y="520065"/>
                </a:lnTo>
                <a:lnTo>
                  <a:pt x="582041" y="521208"/>
                </a:lnTo>
                <a:lnTo>
                  <a:pt x="585851" y="522478"/>
                </a:lnTo>
                <a:lnTo>
                  <a:pt x="600710" y="541147"/>
                </a:lnTo>
                <a:lnTo>
                  <a:pt x="601980" y="544830"/>
                </a:lnTo>
                <a:lnTo>
                  <a:pt x="600710" y="549910"/>
                </a:lnTo>
                <a:lnTo>
                  <a:pt x="599567" y="554863"/>
                </a:lnTo>
                <a:lnTo>
                  <a:pt x="597026" y="558546"/>
                </a:lnTo>
                <a:lnTo>
                  <a:pt x="550926" y="599694"/>
                </a:lnTo>
                <a:lnTo>
                  <a:pt x="501142" y="625729"/>
                </a:lnTo>
                <a:lnTo>
                  <a:pt x="447420" y="641858"/>
                </a:lnTo>
                <a:lnTo>
                  <a:pt x="390144" y="646938"/>
                </a:lnTo>
                <a:lnTo>
                  <a:pt x="682664" y="646938"/>
                </a:lnTo>
                <a:lnTo>
                  <a:pt x="714248" y="607060"/>
                </a:lnTo>
                <a:lnTo>
                  <a:pt x="741552" y="558546"/>
                </a:lnTo>
                <a:lnTo>
                  <a:pt x="756538" y="523748"/>
                </a:lnTo>
                <a:lnTo>
                  <a:pt x="757766" y="520065"/>
                </a:lnTo>
                <a:close/>
              </a:path>
              <a:path w="780288" h="778764">
                <a:moveTo>
                  <a:pt x="577088" y="520065"/>
                </a:moveTo>
                <a:lnTo>
                  <a:pt x="203200" y="520065"/>
                </a:lnTo>
                <a:lnTo>
                  <a:pt x="208152" y="521208"/>
                </a:lnTo>
                <a:lnTo>
                  <a:pt x="213106" y="522478"/>
                </a:lnTo>
                <a:lnTo>
                  <a:pt x="216916" y="525018"/>
                </a:lnTo>
                <a:lnTo>
                  <a:pt x="220599" y="527431"/>
                </a:lnTo>
                <a:lnTo>
                  <a:pt x="239394" y="543687"/>
                </a:lnTo>
                <a:lnTo>
                  <a:pt x="278002" y="569849"/>
                </a:lnTo>
                <a:lnTo>
                  <a:pt x="320294" y="587248"/>
                </a:lnTo>
                <a:lnTo>
                  <a:pt x="366521" y="595884"/>
                </a:lnTo>
                <a:lnTo>
                  <a:pt x="390144" y="597154"/>
                </a:lnTo>
                <a:lnTo>
                  <a:pt x="413766" y="595884"/>
                </a:lnTo>
                <a:lnTo>
                  <a:pt x="459994" y="587248"/>
                </a:lnTo>
                <a:lnTo>
                  <a:pt x="502285" y="569849"/>
                </a:lnTo>
                <a:lnTo>
                  <a:pt x="540893" y="543687"/>
                </a:lnTo>
                <a:lnTo>
                  <a:pt x="559562" y="527431"/>
                </a:lnTo>
                <a:lnTo>
                  <a:pt x="563371" y="525018"/>
                </a:lnTo>
                <a:lnTo>
                  <a:pt x="567182" y="522478"/>
                </a:lnTo>
                <a:lnTo>
                  <a:pt x="572135" y="521208"/>
                </a:lnTo>
                <a:lnTo>
                  <a:pt x="577088" y="520065"/>
                </a:lnTo>
                <a:close/>
              </a:path>
              <a:path w="780288" h="778764">
                <a:moveTo>
                  <a:pt x="549656" y="347091"/>
                </a:moveTo>
                <a:lnTo>
                  <a:pt x="230631" y="347091"/>
                </a:lnTo>
                <a:lnTo>
                  <a:pt x="239394" y="348361"/>
                </a:lnTo>
                <a:lnTo>
                  <a:pt x="248031" y="350774"/>
                </a:lnTo>
                <a:lnTo>
                  <a:pt x="255524" y="355854"/>
                </a:lnTo>
                <a:lnTo>
                  <a:pt x="263017" y="360807"/>
                </a:lnTo>
                <a:lnTo>
                  <a:pt x="267969" y="368300"/>
                </a:lnTo>
                <a:lnTo>
                  <a:pt x="271780" y="376936"/>
                </a:lnTo>
                <a:lnTo>
                  <a:pt x="274193" y="385699"/>
                </a:lnTo>
                <a:lnTo>
                  <a:pt x="275463" y="395605"/>
                </a:lnTo>
                <a:lnTo>
                  <a:pt x="274193" y="405638"/>
                </a:lnTo>
                <a:lnTo>
                  <a:pt x="248031" y="440436"/>
                </a:lnTo>
                <a:lnTo>
                  <a:pt x="230631" y="444119"/>
                </a:lnTo>
                <a:lnTo>
                  <a:pt x="549656" y="444119"/>
                </a:lnTo>
                <a:lnTo>
                  <a:pt x="512318" y="423037"/>
                </a:lnTo>
                <a:lnTo>
                  <a:pt x="504825" y="395605"/>
                </a:lnTo>
                <a:lnTo>
                  <a:pt x="506094" y="385699"/>
                </a:lnTo>
                <a:lnTo>
                  <a:pt x="508507" y="376936"/>
                </a:lnTo>
                <a:lnTo>
                  <a:pt x="512318" y="368300"/>
                </a:lnTo>
                <a:lnTo>
                  <a:pt x="517270" y="360807"/>
                </a:lnTo>
                <a:lnTo>
                  <a:pt x="524763" y="355854"/>
                </a:lnTo>
                <a:lnTo>
                  <a:pt x="532257" y="350774"/>
                </a:lnTo>
                <a:lnTo>
                  <a:pt x="540893" y="348361"/>
                </a:lnTo>
                <a:lnTo>
                  <a:pt x="549656" y="347091"/>
                </a:lnTo>
                <a:close/>
              </a:path>
              <a:path w="780288" h="778764">
                <a:moveTo>
                  <a:pt x="777440" y="347091"/>
                </a:moveTo>
                <a:lnTo>
                  <a:pt x="549656" y="347091"/>
                </a:lnTo>
                <a:lnTo>
                  <a:pt x="558419" y="348361"/>
                </a:lnTo>
                <a:lnTo>
                  <a:pt x="567182" y="350774"/>
                </a:lnTo>
                <a:lnTo>
                  <a:pt x="593344" y="385699"/>
                </a:lnTo>
                <a:lnTo>
                  <a:pt x="594487" y="395605"/>
                </a:lnTo>
                <a:lnTo>
                  <a:pt x="593344" y="405638"/>
                </a:lnTo>
                <a:lnTo>
                  <a:pt x="567182" y="440436"/>
                </a:lnTo>
                <a:lnTo>
                  <a:pt x="549656" y="444119"/>
                </a:lnTo>
                <a:lnTo>
                  <a:pt x="775938" y="444119"/>
                </a:lnTo>
                <a:lnTo>
                  <a:pt x="777748" y="429260"/>
                </a:lnTo>
                <a:lnTo>
                  <a:pt x="780288" y="409321"/>
                </a:lnTo>
                <a:lnTo>
                  <a:pt x="780288" y="369570"/>
                </a:lnTo>
                <a:lnTo>
                  <a:pt x="777748" y="349631"/>
                </a:lnTo>
                <a:lnTo>
                  <a:pt x="777440" y="3470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xfrm>
            <a:off x="79756" y="5726429"/>
            <a:ext cx="423163" cy="22402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25400"/>
            <a:fld id="{81D60167-4931-47E6-BA6A-407CBD079E47}" type="slidenum">
              <a:rPr spc="-10" dirty="0">
                <a:solidFill>
                  <a:srgbClr val="18BAD4"/>
                </a:solidFill>
                <a:latin typeface="Calibri"/>
                <a:cs typeface="Calibri"/>
              </a:rPr>
              <a:pPr marL="25400"/>
              <a:t>24</a:t>
            </a:fld>
            <a:endParaRPr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981</TotalTime>
  <Words>1043</Words>
  <Application>Microsoft Office PowerPoint</Application>
  <PresentationFormat>Presentación en pantalla (4:3)</PresentationFormat>
  <Paragraphs>117</Paragraphs>
  <Slides>24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9" baseType="lpstr">
      <vt:lpstr>Arial</vt:lpstr>
      <vt:lpstr>Calibri</vt:lpstr>
      <vt:lpstr>Dom Casual</vt:lpstr>
      <vt:lpstr>Times New Roman</vt:lpstr>
      <vt:lpstr>Tema de Office</vt:lpstr>
      <vt:lpstr>TI 3008 C Analítica de datos y herramientas de inteligencia artificial</vt:lpstr>
      <vt:lpstr>¿Qué es una función?</vt:lpstr>
      <vt:lpstr>Funciones</vt:lpstr>
      <vt:lpstr>Presentación de PowerPoint</vt:lpstr>
      <vt:lpstr>Funciones que devuelven un valor</vt:lpstr>
      <vt:lpstr>Funciones que devuelven un valor</vt:lpstr>
      <vt:lpstr>¿Cómo se define una función?</vt:lpstr>
      <vt:lpstr>Partes de una función</vt:lpstr>
      <vt:lpstr>Encabezado de una función</vt:lpstr>
      <vt:lpstr>Parámetros de una función</vt:lpstr>
      <vt:lpstr>Cuerpo de la función</vt:lpstr>
      <vt:lpstr>¿Cómo se utiliza una función?</vt:lpstr>
      <vt:lpstr>¿Cómo se utiliza una función?</vt:lpstr>
      <vt:lpstr>¿Cómo se utiliza una función?</vt:lpstr>
      <vt:lpstr>Presentación de PowerPoint</vt:lpstr>
      <vt:lpstr>Presentación de PowerPoint</vt:lpstr>
      <vt:lpstr>Presentación de PowerPoint</vt:lpstr>
      <vt:lpstr>Presentación de PowerPoint</vt:lpstr>
      <vt:lpstr>Funciones que realizan una tarea</vt:lpstr>
      <vt:lpstr>Funciones que realizan una tarea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TC1017  Solución de problemas con programación</dc:title>
  <dc:creator>profesor</dc:creator>
  <cp:lastModifiedBy>Lizethe Pérez Fuertes</cp:lastModifiedBy>
  <cp:revision>73</cp:revision>
  <dcterms:created xsi:type="dcterms:W3CDTF">2013-06-24T20:15:42Z</dcterms:created>
  <dcterms:modified xsi:type="dcterms:W3CDTF">2026-08-11T16:39:11Z</dcterms:modified>
</cp:coreProperties>
</file>