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83" r:id="rId2"/>
    <p:sldId id="324" r:id="rId3"/>
    <p:sldId id="325" r:id="rId4"/>
    <p:sldId id="326" r:id="rId5"/>
    <p:sldId id="327" r:id="rId6"/>
    <p:sldId id="328" r:id="rId7"/>
    <p:sldId id="329" r:id="rId8"/>
    <p:sldId id="259" r:id="rId9"/>
    <p:sldId id="314" r:id="rId10"/>
    <p:sldId id="315" r:id="rId11"/>
    <p:sldId id="316" r:id="rId12"/>
    <p:sldId id="317" r:id="rId13"/>
    <p:sldId id="320" r:id="rId14"/>
    <p:sldId id="321" r:id="rId15"/>
    <p:sldId id="322" r:id="rId16"/>
    <p:sldId id="323" r:id="rId17"/>
    <p:sldId id="282" r:id="rId18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1" autoAdjust="0"/>
    <p:restoredTop sz="93657" autoAdjust="0"/>
  </p:normalViewPr>
  <p:slideViewPr>
    <p:cSldViewPr>
      <p:cViewPr varScale="1">
        <p:scale>
          <a:sx n="116" d="100"/>
          <a:sy n="116" d="100"/>
        </p:scale>
        <p:origin x="1398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8-11T16:24:42.599" v="11" actId="20577"/>
      <pc:docMkLst>
        <pc:docMk/>
      </pc:docMkLst>
      <pc:sldChg chg="modSp mod">
        <pc:chgData name="Lizethe Pérez Fuertes" userId="4ae9ef87-2a7d-42f8-8dfa-0a501a9e2ff4" providerId="ADAL" clId="{FDDD45CB-1330-4033-A842-3D2746AFF7C7}" dt="2026-08-11T16:24:42.599" v="11" actId="20577"/>
        <pc:sldMkLst>
          <pc:docMk/>
          <pc:sldMk cId="1182132109" sldId="283"/>
        </pc:sldMkLst>
        <pc:spChg chg="mod">
          <ac:chgData name="Lizethe Pérez Fuertes" userId="4ae9ef87-2a7d-42f8-8dfa-0a501a9e2ff4" providerId="ADAL" clId="{FDDD45CB-1330-4033-A842-3D2746AFF7C7}" dt="2026-08-11T16:24:42.599" v="11" actId="20577"/>
          <ac:spMkLst>
            <pc:docMk/>
            <pc:sldMk cId="1182132109" sldId="283"/>
            <ac:spMk id="5" creationId="{ABAFA35F-C11B-4B08-A294-DA8C5325E23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C7E2AA-6A4C-4042-9554-ED2A913B287A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058A4-74A4-4E49-9DDB-7D0AF71A622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21887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10094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5387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99038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86563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24530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829648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38302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92251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830849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418032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000411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095219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0448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271017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93928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8902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59067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97639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68144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00289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37041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60316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56790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25492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9051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466954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1221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3B62E-9D6B-4C41-BFE5-D19C53A0513B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09138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f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f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f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7584" y="1988840"/>
            <a:ext cx="6728792" cy="128128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Diccionarios y Tuplas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10" name="Imagen 9" descr="Un dibujo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C0FF3639-457C-4E56-9B67-B96B04565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027" y="3140968"/>
            <a:ext cx="4545789" cy="282317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BAFA35F-C11B-4B08-A294-DA8C5325E232}"/>
              </a:ext>
            </a:extLst>
          </p:cNvPr>
          <p:cNvSpPr txBox="1">
            <a:spLocks/>
          </p:cNvSpPr>
          <p:nvPr/>
        </p:nvSpPr>
        <p:spPr>
          <a:xfrm>
            <a:off x="611560" y="332656"/>
            <a:ext cx="7992888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TI 3008 C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Analítica de datos y herramientas de inteligencia artificial</a:t>
            </a:r>
          </a:p>
        </p:txBody>
      </p:sp>
    </p:spTree>
    <p:extLst>
      <p:ext uri="{BB962C8B-B14F-4D97-AF65-F5344CB8AC3E}">
        <p14:creationId xmlns:p14="http://schemas.microsoft.com/office/powerpoint/2010/main" val="1182132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7" name="Rectangle 3"/>
          <p:cNvSpPr>
            <a:spLocks noChangeArrowheads="1"/>
          </p:cNvSpPr>
          <p:nvPr/>
        </p:nvSpPr>
        <p:spPr bwMode="auto">
          <a:xfrm>
            <a:off x="912440" y="1412776"/>
            <a:ext cx="7620000" cy="2151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Una </a:t>
            </a:r>
            <a:r>
              <a:rPr lang="es-ES" sz="23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tupla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es una estructura que puede almacenar varios elementos de distintos tipos, pero una vez declarada, no se puede modificar. Le llamamos una estructura *inmutable*. 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96056" y="18864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Tuplas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7F4FA51-1246-48B6-AF89-E9FBB4B95B64}"/>
              </a:ext>
            </a:extLst>
          </p:cNvPr>
          <p:cNvSpPr txBox="1"/>
          <p:nvPr/>
        </p:nvSpPr>
        <p:spPr>
          <a:xfrm>
            <a:off x="912440" y="4077072"/>
            <a:ext cx="8052048" cy="772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 = (1, 2, 3)</a:t>
            </a:r>
            <a:endParaRPr lang="es-MX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t2 = ('a', 1, 2.1, [1, 2, 3])</a:t>
            </a:r>
            <a:endParaRPr lang="es-MX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87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7" name="Rectangle 3"/>
          <p:cNvSpPr>
            <a:spLocks noChangeArrowheads="1"/>
          </p:cNvSpPr>
          <p:nvPr/>
        </p:nvSpPr>
        <p:spPr bwMode="auto">
          <a:xfrm>
            <a:off x="762000" y="1743705"/>
            <a:ext cx="7620000" cy="558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Su tamaño está dado por la función </a:t>
            </a:r>
            <a:r>
              <a:rPr lang="es-MX" sz="23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len</a:t>
            </a:r>
            <a:r>
              <a:rPr lang="es-MX" sz="23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  <a:endParaRPr lang="es-ES" sz="23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96056" y="18864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Tuplas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7F4FA51-1246-48B6-AF89-E9FBB4B95B64}"/>
              </a:ext>
            </a:extLst>
          </p:cNvPr>
          <p:cNvSpPr txBox="1"/>
          <p:nvPr/>
        </p:nvSpPr>
        <p:spPr>
          <a:xfrm>
            <a:off x="1475656" y="2699304"/>
            <a:ext cx="2513856" cy="836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2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 = (1, 2, 3)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2000" b="1" dirty="0" err="1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s-MX" sz="20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s-MX" sz="2000" b="1" dirty="0" err="1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len</a:t>
            </a:r>
            <a:r>
              <a:rPr lang="es-MX" sz="20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(t)</a:t>
            </a:r>
            <a:endParaRPr lang="es-MX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Imagen 9" descr="Diagrama&#10;&#10;Descripción generada automáticamente">
            <a:extLst>
              <a:ext uri="{FF2B5EF4-FFF2-40B4-BE49-F238E27FC236}">
                <a16:creationId xmlns:a16="http://schemas.microsoft.com/office/drawing/2014/main" id="{8C909D77-17C8-4C1E-B92A-9D0EC13362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256" y="3933056"/>
            <a:ext cx="314325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05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96056" y="18864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Tuplas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097F976-7886-4F69-9FC7-79E90B4E2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140" y="1696298"/>
            <a:ext cx="7620000" cy="162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Tiene algunas funciones básicas como </a:t>
            </a:r>
            <a:r>
              <a:rPr lang="es-MX" sz="23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count</a:t>
            </a:r>
            <a:r>
              <a:rPr lang="es-MX" sz="23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() </a:t>
            </a: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 </a:t>
            </a:r>
            <a:r>
              <a:rPr lang="es-MX" sz="23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index</a:t>
            </a:r>
            <a:r>
              <a:rPr lang="es-MX" sz="23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  <a:r>
              <a:rPr lang="es-MX" sz="2300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algn="just" eaLnBrk="0" hangingPunct="0">
              <a:lnSpc>
                <a:spcPct val="150000"/>
              </a:lnSpc>
            </a:pPr>
            <a:endParaRPr lang="es-ES" sz="23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78D3250-287C-4B62-B500-50A4DB01B236}"/>
              </a:ext>
            </a:extLst>
          </p:cNvPr>
          <p:cNvSpPr txBox="1"/>
          <p:nvPr/>
        </p:nvSpPr>
        <p:spPr>
          <a:xfrm>
            <a:off x="804392" y="3364967"/>
            <a:ext cx="7862316" cy="11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800" b="1" dirty="0" err="1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nums</a:t>
            </a:r>
            <a:r>
              <a:rPr lang="es-MX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(1, 1, 1, 2, 2, 2, 3, 3, 3)</a:t>
            </a:r>
            <a:endParaRPr lang="es-MX" sz="1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800" b="1" dirty="0" err="1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s-MX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s-MX" sz="1800" b="1" dirty="0" err="1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nums.count</a:t>
            </a:r>
            <a:r>
              <a:rPr lang="es-MX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(2))</a:t>
            </a:r>
            <a:r>
              <a:rPr lang="es-MX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s-MX" sz="16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Cuenta el numero de elementos que son 2.</a:t>
            </a:r>
            <a:endParaRPr lang="es-MX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800" b="1" dirty="0" err="1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s-MX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s-MX" sz="1800" b="1" dirty="0" err="1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nums.index</a:t>
            </a:r>
            <a:r>
              <a:rPr lang="es-MX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(3))</a:t>
            </a:r>
            <a:r>
              <a:rPr lang="es-MX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s-MX" sz="16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#Retorna el índice del primer 3 que encuentra.</a:t>
            </a:r>
            <a:endParaRPr lang="es-MX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377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96056" y="18864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Tuplas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097F976-7886-4F69-9FC7-79E90B4E2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140" y="1696298"/>
            <a:ext cx="7620000" cy="1089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igualdad de las tuplas se puede evaluar con el operador </a:t>
            </a:r>
            <a:r>
              <a:rPr lang="es-MX" sz="23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==</a:t>
            </a:r>
            <a:endParaRPr lang="es-ES" sz="23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78D3250-287C-4B62-B500-50A4DB01B236}"/>
              </a:ext>
            </a:extLst>
          </p:cNvPr>
          <p:cNvSpPr txBox="1"/>
          <p:nvPr/>
        </p:nvSpPr>
        <p:spPr>
          <a:xfrm>
            <a:off x="804392" y="3364967"/>
            <a:ext cx="7862316" cy="768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800" b="1" dirty="0" err="1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s-MX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((1, 2, 3) == (1, 2, 3))  </a:t>
            </a:r>
            <a:r>
              <a:rPr lang="es-MX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True  / Son iguales.</a:t>
            </a:r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MX" sz="1800" b="1" dirty="0" err="1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s-MX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((1, 2) == (1,))          </a:t>
            </a:r>
            <a:r>
              <a:rPr lang="es-MX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False / No son iguales</a:t>
            </a:r>
            <a:r>
              <a:rPr lang="es-MX" sz="16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MX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6051380-CCF3-40FA-9557-FB6B5017EEE9}"/>
              </a:ext>
            </a:extLst>
          </p:cNvPr>
          <p:cNvSpPr txBox="1"/>
          <p:nvPr/>
        </p:nvSpPr>
        <p:spPr>
          <a:xfrm>
            <a:off x="827584" y="4818835"/>
            <a:ext cx="7488832" cy="82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Las tuplas se pueden iterar de una manera similar a las listas, pero </a:t>
            </a:r>
            <a:r>
              <a:rPr lang="es-MX" sz="23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no se pueden modificar los valores</a:t>
            </a: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9501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96056" y="18864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Tuplas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097F976-7886-4F69-9FC7-79E90B4E2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140" y="1696298"/>
            <a:ext cx="7620000" cy="558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Convertir una estructura en una tupla: </a:t>
            </a:r>
            <a:r>
              <a:rPr lang="es-MX" sz="23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tuple</a:t>
            </a:r>
            <a:r>
              <a:rPr lang="es-MX" sz="23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  <a:endParaRPr lang="es-ES" sz="23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78D3250-287C-4B62-B500-50A4DB01B236}"/>
              </a:ext>
            </a:extLst>
          </p:cNvPr>
          <p:cNvSpPr txBox="1"/>
          <p:nvPr/>
        </p:nvSpPr>
        <p:spPr>
          <a:xfrm>
            <a:off x="814140" y="2780315"/>
            <a:ext cx="6278140" cy="196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800" b="1" dirty="0" err="1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lst</a:t>
            </a:r>
            <a:r>
              <a:rPr lang="es-MX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[1,2,2,2,3,3,4]</a:t>
            </a:r>
            <a:r>
              <a:rPr lang="es-MX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# Generamos una lista</a:t>
            </a:r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800" b="1" dirty="0" err="1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s-MX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s-MX" sz="1800" b="1" dirty="0" err="1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lst</a:t>
            </a:r>
            <a:r>
              <a:rPr lang="es-MX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s-MX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800" b="1" dirty="0" err="1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tp</a:t>
            </a:r>
            <a:r>
              <a:rPr lang="es-MX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s-MX" sz="1800" b="1" dirty="0" err="1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tuple</a:t>
            </a:r>
            <a:r>
              <a:rPr lang="es-MX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s-MX" sz="1800" b="1" dirty="0" err="1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lst</a:t>
            </a:r>
            <a:r>
              <a:rPr lang="es-MX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s-MX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# La convertimos a tupla</a:t>
            </a:r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800" b="1" dirty="0" err="1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s-MX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s-MX" sz="1800" b="1" dirty="0" err="1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tp</a:t>
            </a:r>
            <a:r>
              <a:rPr lang="es-MX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s-MX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097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96056" y="18864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Tuplas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097F976-7886-4F69-9FC7-79E90B4E2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56" y="1552457"/>
            <a:ext cx="7620000" cy="558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Imprimir el contenido de una tupla con un ciclo </a:t>
            </a:r>
            <a:r>
              <a:rPr lang="es-MX" sz="2300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for</a:t>
            </a: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  <a:endParaRPr lang="es-ES" sz="23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78D3250-287C-4B62-B500-50A4DB01B236}"/>
              </a:ext>
            </a:extLst>
          </p:cNvPr>
          <p:cNvSpPr txBox="1"/>
          <p:nvPr/>
        </p:nvSpPr>
        <p:spPr>
          <a:xfrm>
            <a:off x="726256" y="2383357"/>
            <a:ext cx="6278140" cy="1463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24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tupla = (1, 2, 3, 4)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2400" b="1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s-MX" sz="2400" b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i in </a:t>
            </a:r>
            <a:r>
              <a:rPr lang="es-MX" sz="2400" b="1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range</a:t>
            </a:r>
            <a:r>
              <a:rPr lang="es-MX" sz="2400" b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s-MX" sz="2400" b="1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len</a:t>
            </a:r>
            <a:r>
              <a:rPr lang="es-MX" sz="2400" b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(tupla)):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24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s-MX" sz="2400" b="1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s-MX" sz="24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(tupla[i])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8BC86F9-E2B0-FBB2-9B08-9E929B0D7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4019668"/>
            <a:ext cx="421005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14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7" name="Rectangle 3"/>
          <p:cNvSpPr>
            <a:spLocks noChangeArrowheads="1"/>
          </p:cNvSpPr>
          <p:nvPr/>
        </p:nvSpPr>
        <p:spPr bwMode="auto">
          <a:xfrm>
            <a:off x="912440" y="1412776"/>
            <a:ext cx="7620000" cy="2889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 </a:t>
            </a:r>
            <a:r>
              <a:rPr lang="es-ES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diccionario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es una estructura de datos y un tipo de dato en Python que nos permite almacenar cualquier tipo de valor como: </a:t>
            </a:r>
            <a:r>
              <a:rPr lang="es-ES" sz="23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enteros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s-ES" sz="23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cadenas</a:t>
            </a:r>
            <a:r>
              <a:rPr lang="es-ES" sz="2300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y </a:t>
            </a:r>
            <a:r>
              <a:rPr lang="es-ES" sz="23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listas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 </a:t>
            </a:r>
          </a:p>
          <a:p>
            <a:pPr algn="just" eaLnBrk="0" hangingPunct="0">
              <a:lnSpc>
                <a:spcPct val="150000"/>
              </a:lnSpc>
            </a:pPr>
            <a:endParaRPr lang="es-ES" sz="9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just" eaLnBrk="0" hangingPunct="0">
              <a:lnSpc>
                <a:spcPct val="150000"/>
              </a:lnSpc>
            </a:pP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Estos diccionarios nos permiten además identificar cada elemento por una </a:t>
            </a:r>
            <a:r>
              <a:rPr lang="es-ES" sz="23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clave (</a:t>
            </a:r>
            <a:r>
              <a:rPr lang="es-ES" sz="23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key</a:t>
            </a:r>
            <a:r>
              <a:rPr lang="es-ES" sz="23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96056" y="18864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Diccionarios</a:t>
            </a:r>
          </a:p>
        </p:txBody>
      </p:sp>
      <p:pic>
        <p:nvPicPr>
          <p:cNvPr id="6" name="Imagen 5" descr="Texto, Pizarra&#10;&#10;Descripción generada automáticamente">
            <a:extLst>
              <a:ext uri="{FF2B5EF4-FFF2-40B4-BE49-F238E27FC236}">
                <a16:creationId xmlns:a16="http://schemas.microsoft.com/office/drawing/2014/main" id="{0315F9BE-45FF-4975-8DA6-E2C32DDE2D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475" y="4005064"/>
            <a:ext cx="2376264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047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7" name="Rectangle 3"/>
          <p:cNvSpPr>
            <a:spLocks noChangeArrowheads="1"/>
          </p:cNvSpPr>
          <p:nvPr/>
        </p:nvSpPr>
        <p:spPr bwMode="auto">
          <a:xfrm>
            <a:off x="501621" y="1212103"/>
            <a:ext cx="8140757" cy="2151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457200" indent="-457200" algn="just" eaLnBrk="0" hangingPunct="0">
              <a:lnSpc>
                <a:spcPct val="150000"/>
              </a:lnSpc>
              <a:buFont typeface="+mj-lt"/>
              <a:buAutoNum type="arabicPeriod"/>
            </a:pP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Para definir un diccionario:</a:t>
            </a:r>
          </a:p>
          <a:p>
            <a:pPr marL="800100" lvl="1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Se encierra el listado de valores entre </a:t>
            </a:r>
            <a:r>
              <a:rPr lang="es-ES" sz="23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llaves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 </a:t>
            </a:r>
          </a:p>
          <a:p>
            <a:pPr marL="800100" lvl="1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Las parejas de </a:t>
            </a:r>
            <a:r>
              <a:rPr lang="es-ES" sz="23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clave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y </a:t>
            </a:r>
            <a:r>
              <a:rPr lang="es-ES" sz="23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valor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se separan con </a:t>
            </a:r>
            <a:r>
              <a:rPr lang="es-ES" sz="23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comas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800100" lvl="1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clave y el valor se separan con </a:t>
            </a:r>
            <a:r>
              <a:rPr lang="es-ES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dos puntos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20194" y="69103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Diccionarios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4EEC96F-DB83-4980-9B76-7A08C6F15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925" y="3861048"/>
            <a:ext cx="9152925" cy="1987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 eaLnBrk="0" hangingPunct="0">
              <a:lnSpc>
                <a:spcPts val="3000"/>
              </a:lnSpc>
            </a:pP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diccionario = </a:t>
            </a:r>
            <a:r>
              <a:rPr lang="es-ES" sz="23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{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algn="just" eaLnBrk="0" hangingPunct="0">
              <a:lnSpc>
                <a:spcPts val="3000"/>
              </a:lnSpc>
            </a:pP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                   </a:t>
            </a:r>
            <a:r>
              <a:rPr lang="es-ES" sz="23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"nombre" </a:t>
            </a:r>
            <a:r>
              <a:rPr lang="es-ES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: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3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"Laura"</a:t>
            </a:r>
            <a:r>
              <a:rPr lang="es-ES" sz="23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,</a:t>
            </a:r>
            <a:r>
              <a:rPr lang="es-ES" sz="23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algn="just" eaLnBrk="0" hangingPunct="0">
              <a:lnSpc>
                <a:spcPts val="3000"/>
              </a:lnSpc>
            </a:pPr>
            <a:r>
              <a:rPr lang="es-ES" sz="23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                       "edad" </a:t>
            </a:r>
            <a:r>
              <a:rPr lang="es-ES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: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3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25</a:t>
            </a:r>
            <a:r>
              <a:rPr lang="es-ES" sz="23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,</a:t>
            </a:r>
          </a:p>
          <a:p>
            <a:pPr algn="just" eaLnBrk="0" hangingPunct="0">
              <a:lnSpc>
                <a:spcPts val="3000"/>
              </a:lnSpc>
            </a:pPr>
            <a:r>
              <a:rPr lang="es-ES" sz="23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                       "materias" </a:t>
            </a:r>
            <a:r>
              <a:rPr lang="es-ES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: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3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["Computación", "Física", "Química"]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   </a:t>
            </a:r>
          </a:p>
          <a:p>
            <a:pPr algn="just" eaLnBrk="0" hangingPunct="0">
              <a:lnSpc>
                <a:spcPts val="3000"/>
              </a:lnSpc>
            </a:pPr>
            <a:r>
              <a:rPr lang="es-ES" sz="23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                </a:t>
            </a:r>
            <a:r>
              <a:rPr lang="es-ES" sz="23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97300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7" grpId="0" autoUpdateAnimBg="0"/>
      <p:bldP spid="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7" name="Rectangle 3"/>
          <p:cNvSpPr>
            <a:spLocks noChangeArrowheads="1"/>
          </p:cNvSpPr>
          <p:nvPr/>
        </p:nvSpPr>
        <p:spPr bwMode="auto">
          <a:xfrm>
            <a:off x="559837" y="1340768"/>
            <a:ext cx="8140757" cy="1089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457200" indent="-457200" algn="just" eaLnBrk="0" hangingPunct="0">
              <a:lnSpc>
                <a:spcPct val="150000"/>
              </a:lnSpc>
              <a:buFont typeface="+mj-lt"/>
              <a:buAutoNum type="arabicPeriod" startAt="2"/>
            </a:pP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Podemos acceder al elemento de un diccionario mediante la </a:t>
            </a:r>
            <a:r>
              <a:rPr lang="es-ES" sz="23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clave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de este elemento: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20194" y="69103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Diccionarios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5FCAE92-95CB-4215-BD69-59B5AFCCC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043" y="2780928"/>
            <a:ext cx="7976551" cy="2361914"/>
          </a:xfrm>
          <a:prstGeom prst="rect">
            <a:avLst/>
          </a:prstGeom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AF431C36-C5E7-4163-9382-54BE0B62C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759" y="4941168"/>
            <a:ext cx="2171651" cy="1313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3684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7" name="Rectangle 3"/>
          <p:cNvSpPr>
            <a:spLocks noChangeArrowheads="1"/>
          </p:cNvSpPr>
          <p:nvPr/>
        </p:nvSpPr>
        <p:spPr bwMode="auto">
          <a:xfrm>
            <a:off x="559838" y="1340768"/>
            <a:ext cx="7835890" cy="1089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457200" indent="-457200" algn="just" eaLnBrk="0" hangingPunct="0">
              <a:lnSpc>
                <a:spcPct val="150000"/>
              </a:lnSpc>
              <a:buFont typeface="+mj-lt"/>
              <a:buAutoNum type="arabicPeriod" startAt="3"/>
            </a:pP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Para acceder a cada uno de los elementos de una lista dentro de un diccionario, usamos los </a:t>
            </a:r>
            <a:r>
              <a:rPr lang="es-ES" sz="23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índices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20194" y="69103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Diccionarios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E42CDF1-5E08-4367-B01F-3DE46D4CE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2708920"/>
            <a:ext cx="7414622" cy="2160240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35C5C66F-D552-4235-AD84-69FDEF5D6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095" y="4869160"/>
            <a:ext cx="2171651" cy="1313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9180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7" name="Rectangle 3"/>
          <p:cNvSpPr>
            <a:spLocks noChangeArrowheads="1"/>
          </p:cNvSpPr>
          <p:nvPr/>
        </p:nvSpPr>
        <p:spPr bwMode="auto">
          <a:xfrm>
            <a:off x="559838" y="1340768"/>
            <a:ext cx="7835890" cy="1089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457200" indent="-457200" algn="just" eaLnBrk="0" hangingPunct="0">
              <a:lnSpc>
                <a:spcPct val="150000"/>
              </a:lnSpc>
              <a:buFont typeface="+mj-lt"/>
              <a:buAutoNum type="arabicPeriod" startAt="4"/>
            </a:pP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Para recorrer todo el diccionario, podemos utilizar el ciclo </a:t>
            </a:r>
            <a:r>
              <a:rPr lang="es-ES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for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20194" y="69103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Diccionarios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370B9BD-9B9D-404A-90B5-8BAEF192B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4" y="2663788"/>
            <a:ext cx="7890970" cy="2232248"/>
          </a:xfrm>
          <a:prstGeom prst="rect">
            <a:avLst/>
          </a:prstGeom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FEE41141-685A-46C2-B54A-9A0BE63A0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943" y="4860440"/>
            <a:ext cx="2171651" cy="1313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9629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7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7" name="Rectangle 3"/>
          <p:cNvSpPr>
            <a:spLocks noChangeArrowheads="1"/>
          </p:cNvSpPr>
          <p:nvPr/>
        </p:nvSpPr>
        <p:spPr bwMode="auto">
          <a:xfrm>
            <a:off x="559838" y="1340768"/>
            <a:ext cx="8140756" cy="162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clear</a:t>
            </a:r>
            <a:r>
              <a:rPr lang="es-ES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Elimina todos los elementos del diccionario dejándolo vacío. diccionario.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20194" y="69103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Métodos de los diccionarios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4949077-86CF-4E3A-851A-262D90096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33" y="3212976"/>
            <a:ext cx="7899759" cy="1800200"/>
          </a:xfrm>
          <a:prstGeom prst="rect">
            <a:avLst/>
          </a:prstGeom>
        </p:spPr>
      </p:pic>
      <p:pic>
        <p:nvPicPr>
          <p:cNvPr id="6" name="Imagen 5" descr="Un dibujo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C03E07F4-C217-4AF5-BAAC-31537844B2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584" y="4905164"/>
            <a:ext cx="1971067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9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7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7" name="Rectangle 3"/>
          <p:cNvSpPr>
            <a:spLocks noChangeArrowheads="1"/>
          </p:cNvSpPr>
          <p:nvPr/>
        </p:nvSpPr>
        <p:spPr bwMode="auto">
          <a:xfrm>
            <a:off x="559838" y="1340768"/>
            <a:ext cx="8140756" cy="162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get</a:t>
            </a:r>
            <a:r>
              <a:rPr lang="es-ES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Recibe como parámetro una </a:t>
            </a:r>
            <a:r>
              <a:rPr lang="es-ES" sz="23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clave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devuelve el </a:t>
            </a:r>
            <a:r>
              <a:rPr lang="es-ES" sz="23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valor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de la clave. Si no lo encuentra, devuelve un objeto </a:t>
            </a:r>
            <a:r>
              <a:rPr lang="es-ES" sz="23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None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20194" y="69103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Métodos de los diccionarios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493183C-1994-4D5E-8DB4-8AF5096EB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38" y="3212976"/>
            <a:ext cx="8140756" cy="1843581"/>
          </a:xfrm>
          <a:prstGeom prst="rect">
            <a:avLst/>
          </a:prstGeom>
        </p:spPr>
      </p:pic>
      <p:pic>
        <p:nvPicPr>
          <p:cNvPr id="10" name="Imagen 9" descr="Un dibujo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71011B36-C108-495C-A573-BB870CAF17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527" y="4941168"/>
            <a:ext cx="1971067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563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7" name="Rectangle 3"/>
          <p:cNvSpPr>
            <a:spLocks noChangeArrowheads="1"/>
          </p:cNvSpPr>
          <p:nvPr/>
        </p:nvSpPr>
        <p:spPr bwMode="auto">
          <a:xfrm>
            <a:off x="559838" y="1340768"/>
            <a:ext cx="8140756" cy="1089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setdefault</a:t>
            </a:r>
            <a:r>
              <a:rPr lang="es-ES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Nos sirve para agregar un nuevo elemento a un diccionario.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20194" y="69103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Métodos de los diccionarios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22B8FA2-54D9-4F76-B1B7-96E69FBF7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7" y="2720687"/>
            <a:ext cx="7776865" cy="1416625"/>
          </a:xfrm>
          <a:prstGeom prst="rect">
            <a:avLst/>
          </a:prstGeom>
        </p:spPr>
      </p:pic>
      <p:pic>
        <p:nvPicPr>
          <p:cNvPr id="8" name="Imagen 7" descr="Un dibujo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A83303D3-5AD9-4516-B5C4-B1F6CF6035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110" y="4797152"/>
            <a:ext cx="1971067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678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7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7" name="Rectangle 3"/>
          <p:cNvSpPr>
            <a:spLocks noChangeArrowheads="1"/>
          </p:cNvSpPr>
          <p:nvPr/>
        </p:nvSpPr>
        <p:spPr bwMode="auto">
          <a:xfrm>
            <a:off x="541176" y="1241615"/>
            <a:ext cx="8140756" cy="162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pop()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Recibe como parámetro una </a:t>
            </a:r>
            <a:r>
              <a:rPr lang="es-ES" sz="23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clave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elimina esta y devuelve su </a:t>
            </a:r>
            <a:r>
              <a:rPr lang="es-ES" sz="23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valor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20194" y="69103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Métodos de los diccionarios</a:t>
            </a:r>
          </a:p>
        </p:txBody>
      </p:sp>
      <p:pic>
        <p:nvPicPr>
          <p:cNvPr id="8" name="Imagen 7" descr="Un dibujo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A83303D3-5AD9-4516-B5C4-B1F6CF603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5397736"/>
            <a:ext cx="1971067" cy="122413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14665A0-A08D-4B9C-88E9-CAE880B38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54" y="2996952"/>
            <a:ext cx="8280400" cy="2126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61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7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7552</TotalTime>
  <Words>567</Words>
  <Application>Microsoft Office PowerPoint</Application>
  <PresentationFormat>Presentación en pantalla (4:3)</PresentationFormat>
  <Paragraphs>66</Paragraphs>
  <Slides>17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Century Gothic</vt:lpstr>
      <vt:lpstr>Consolas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136</cp:revision>
  <dcterms:created xsi:type="dcterms:W3CDTF">2013-07-09T14:45:06Z</dcterms:created>
  <dcterms:modified xsi:type="dcterms:W3CDTF">2026-08-11T16:24:47Z</dcterms:modified>
</cp:coreProperties>
</file>