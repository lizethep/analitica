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93" r:id="rId2"/>
    <p:sldId id="618" r:id="rId3"/>
    <p:sldId id="620" r:id="rId4"/>
    <p:sldId id="622" r:id="rId5"/>
    <p:sldId id="623" r:id="rId6"/>
    <p:sldId id="703" r:id="rId7"/>
    <p:sldId id="624" r:id="rId8"/>
    <p:sldId id="625" r:id="rId9"/>
    <p:sldId id="627" r:id="rId10"/>
    <p:sldId id="628" r:id="rId11"/>
    <p:sldId id="729" r:id="rId12"/>
    <p:sldId id="730" r:id="rId13"/>
    <p:sldId id="731" r:id="rId14"/>
    <p:sldId id="732" r:id="rId15"/>
    <p:sldId id="733" r:id="rId16"/>
    <p:sldId id="734" r:id="rId17"/>
    <p:sldId id="694" r:id="rId18"/>
    <p:sldId id="695" r:id="rId19"/>
    <p:sldId id="696" r:id="rId20"/>
    <p:sldId id="631" r:id="rId21"/>
    <p:sldId id="633" r:id="rId22"/>
    <p:sldId id="636" r:id="rId23"/>
    <p:sldId id="665" r:id="rId24"/>
    <p:sldId id="638" r:id="rId25"/>
    <p:sldId id="639" r:id="rId26"/>
    <p:sldId id="640" r:id="rId27"/>
    <p:sldId id="641" r:id="rId28"/>
    <p:sldId id="642" r:id="rId29"/>
    <p:sldId id="725" r:id="rId30"/>
    <p:sldId id="728" r:id="rId31"/>
    <p:sldId id="726" r:id="rId32"/>
    <p:sldId id="643" r:id="rId33"/>
    <p:sldId id="632" r:id="rId34"/>
    <p:sldId id="647" r:id="rId35"/>
    <p:sldId id="649" r:id="rId36"/>
    <p:sldId id="650" r:id="rId37"/>
    <p:sldId id="651" r:id="rId38"/>
    <p:sldId id="654" r:id="rId39"/>
    <p:sldId id="717" r:id="rId40"/>
    <p:sldId id="714" r:id="rId41"/>
    <p:sldId id="735" r:id="rId42"/>
    <p:sldId id="716" r:id="rId43"/>
    <p:sldId id="282" r:id="rId44"/>
  </p:sldIdLst>
  <p:sldSz cx="9144000" cy="6858000" type="screen4x3"/>
  <p:notesSz cx="7010400" cy="92964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23" autoAdjust="0"/>
    <p:restoredTop sz="94660"/>
  </p:normalViewPr>
  <p:slideViewPr>
    <p:cSldViewPr>
      <p:cViewPr varScale="1">
        <p:scale>
          <a:sx n="124" d="100"/>
          <a:sy n="124" d="100"/>
        </p:scale>
        <p:origin x="822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 modNotesMaster">
      <pc:chgData name="Lizethe Pérez Fuertes" userId="4ae9ef87-2a7d-42f8-8dfa-0a501a9e2ff4" providerId="ADAL" clId="{FDDD45CB-1330-4033-A842-3D2746AFF7C7}" dt="2026-08-11T16:29:18.143" v="22" actId="6549"/>
      <pc:docMkLst>
        <pc:docMk/>
      </pc:docMkLst>
      <pc:sldChg chg="modSp mod">
        <pc:chgData name="Lizethe Pérez Fuertes" userId="4ae9ef87-2a7d-42f8-8dfa-0a501a9e2ff4" providerId="ADAL" clId="{FDDD45CB-1330-4033-A842-3D2746AFF7C7}" dt="2026-08-11T16:29:18.143" v="22" actId="6549"/>
        <pc:sldMkLst>
          <pc:docMk/>
          <pc:sldMk cId="542782376" sldId="293"/>
        </pc:sldMkLst>
        <pc:spChg chg="mod">
          <ac:chgData name="Lizethe Pérez Fuertes" userId="4ae9ef87-2a7d-42f8-8dfa-0a501a9e2ff4" providerId="ADAL" clId="{FDDD45CB-1330-4033-A842-3D2746AFF7C7}" dt="2026-08-11T16:29:18.143" v="22" actId="6549"/>
          <ac:spMkLst>
            <pc:docMk/>
            <pc:sldMk cId="542782376" sldId="293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1180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8306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44367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18984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961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14520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44959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8242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76435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92376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75200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1527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7519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3525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82426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60849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449240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33390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86660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41572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489337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491114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61775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664013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340001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93799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19059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052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812024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07520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019956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82406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74001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93152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447916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799853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40116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222728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099322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43493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B4312-99A1-4CE9-ACE7-4C62E9FD90EE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6425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r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TI 3008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2245323"/>
            <a:ext cx="7342584" cy="115212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Módulo re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 descr="Un reloj con números romanos&#10;&#10;Descripción generada automáticamente con confianza media">
            <a:extLst>
              <a:ext uri="{FF2B5EF4-FFF2-40B4-BE49-F238E27FC236}">
                <a16:creationId xmlns:a16="http://schemas.microsoft.com/office/drawing/2014/main" id="{A13954DE-EEDD-4C44-9D3B-6C3A81F2E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501008"/>
            <a:ext cx="4320480" cy="213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57200" y="1259632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En la librería estándar de Python podemos encontrar el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módulo 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, el cual nos proporciona todas las operaciones necesarias para trabajar con las expresiones regulares.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BE0C90-A4D8-4BF1-86E2-A6A27C599BB8}"/>
              </a:ext>
            </a:extLst>
          </p:cNvPr>
          <p:cNvSpPr txBox="1"/>
          <p:nvPr/>
        </p:nvSpPr>
        <p:spPr>
          <a:xfrm>
            <a:off x="457200" y="29380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Importar el módulo </a:t>
            </a: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re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de Python.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3454E1-90EC-4F45-AE1E-17EDEF9AA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40" y="3705201"/>
            <a:ext cx="4705350" cy="571500"/>
          </a:xfrm>
          <a:prstGeom prst="rect">
            <a:avLst/>
          </a:prstGeom>
        </p:spPr>
      </p:pic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73FD6CF4-390B-4637-8C5E-9FBB8E28F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482" y="4276701"/>
            <a:ext cx="4508478" cy="180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78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-17738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23664" y="1643589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Algunos métodos para usar el módulo</a:t>
            </a:r>
            <a:r>
              <a:rPr lang="es-ES" sz="2000" i="0" dirty="0">
                <a:solidFill>
                  <a:srgbClr val="FF0000"/>
                </a:solidFill>
                <a:effectLst/>
              </a:rPr>
              <a:t>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re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de Python: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23664" y="2267744"/>
            <a:ext cx="7920880" cy="2304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M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atch.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39687" y="4869160"/>
            <a:ext cx="7704857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Todos estos métodos reciben dos parámetros: la </a:t>
            </a:r>
            <a:r>
              <a:rPr lang="es-ES" sz="2000" b="1" i="0" dirty="0">
                <a:solidFill>
                  <a:srgbClr val="FF0000"/>
                </a:solidFill>
                <a:effectLst/>
              </a:rPr>
              <a:t>expresión a evaluar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y el </a:t>
            </a:r>
            <a:r>
              <a:rPr lang="es-ES" sz="2000" b="1" dirty="0">
                <a:solidFill>
                  <a:srgbClr val="FF0000"/>
                </a:solidFill>
              </a:rPr>
              <a:t>texto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15B10D-C612-427D-B4F2-796382C7C728}"/>
              </a:ext>
            </a:extLst>
          </p:cNvPr>
          <p:cNvSpPr txBox="1"/>
          <p:nvPr/>
        </p:nvSpPr>
        <p:spPr>
          <a:xfrm>
            <a:off x="641181" y="8278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Buscando coincidencias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639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8" y="190514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la palabra “Hola” en un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467544" y="1124744"/>
            <a:ext cx="820891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search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Escanea todo el texto buscando cualquier ubicación donde coincida la expresión regular. Devuelve un objeto Match.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689478" y="4652017"/>
            <a:ext cx="7952334" cy="1218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método </a:t>
            </a: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</a:rPr>
              <a:t>search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regresa un objeto de tipo match, el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span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nos dice en que parte del texto se encontró la coincidencia “Hola” (0, 4), desde la posición 0 hasta una posición antes de la 4.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842EBD1-D9C4-4663-91F3-3605F5B49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" y="2592516"/>
            <a:ext cx="6408712" cy="189184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6FC9DB1-1D4E-44EE-8254-09FCD9F2EB65}"/>
              </a:ext>
            </a:extLst>
          </p:cNvPr>
          <p:cNvSpPr txBox="1"/>
          <p:nvPr/>
        </p:nvSpPr>
        <p:spPr>
          <a:xfrm>
            <a:off x="689478" y="5860736"/>
            <a:ext cx="7952334" cy="833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</a:t>
            </a:r>
            <a:r>
              <a:rPr lang="es-ES" sz="2000" b="1">
                <a:solidFill>
                  <a:srgbClr val="FF0000"/>
                </a:solidFill>
              </a:rPr>
              <a:t>objeto Match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un objeto en Python que nos da información sobre la coincidencia.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A9AF0C-2E50-4489-A143-384134E1A9D2}"/>
              </a:ext>
            </a:extLst>
          </p:cNvPr>
          <p:cNvSpPr txBox="1"/>
          <p:nvPr/>
        </p:nvSpPr>
        <p:spPr>
          <a:xfrm>
            <a:off x="7297960" y="3301071"/>
            <a:ext cx="1522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dirty="0">
                <a:solidFill>
                  <a:srgbClr val="0070C0"/>
                </a:solidFill>
              </a:rPr>
              <a:t>La forma más simple de una expresión regular es una palabra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E54941F0-FAEE-4FF4-B7AC-08BCA23544E0}"/>
              </a:ext>
            </a:extLst>
          </p:cNvPr>
          <p:cNvCxnSpPr/>
          <p:nvPr/>
        </p:nvCxnSpPr>
        <p:spPr>
          <a:xfrm flipV="1">
            <a:off x="3193504" y="3307530"/>
            <a:ext cx="0" cy="441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017945F-DBCB-456C-99E8-D28D3874405E}"/>
              </a:ext>
            </a:extLst>
          </p:cNvPr>
          <p:cNvCxnSpPr>
            <a:cxnSpLocks/>
          </p:cNvCxnSpPr>
          <p:nvPr/>
        </p:nvCxnSpPr>
        <p:spPr>
          <a:xfrm flipH="1">
            <a:off x="3193504" y="3739578"/>
            <a:ext cx="41044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280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4D28A7-B772-479A-8C51-15D9FA37942C}"/>
              </a:ext>
            </a:extLst>
          </p:cNvPr>
          <p:cNvSpPr txBox="1"/>
          <p:nvPr/>
        </p:nvSpPr>
        <p:spPr>
          <a:xfrm>
            <a:off x="734466" y="4568126"/>
            <a:ext cx="7952334" cy="448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caso de que no encuentre coincidencia, regresa </a:t>
            </a:r>
            <a:r>
              <a:rPr lang="es-ES" sz="2000" b="1" dirty="0" err="1">
                <a:solidFill>
                  <a:srgbClr val="FF0000"/>
                </a:solidFill>
              </a:rPr>
              <a:t>None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0FE3EA-1EDD-4E4D-9D0A-A1B931412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07" y="2160806"/>
            <a:ext cx="6811828" cy="197093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F99306B-5F4C-4CE5-9D39-071EAF21F009}"/>
              </a:ext>
            </a:extLst>
          </p:cNvPr>
          <p:cNvSpPr txBox="1"/>
          <p:nvPr/>
        </p:nvSpPr>
        <p:spPr>
          <a:xfrm>
            <a:off x="769959" y="1376501"/>
            <a:ext cx="74168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2:</a:t>
            </a:r>
            <a:r>
              <a:rPr lang="es-MX" sz="2000" dirty="0"/>
              <a:t> Busca la palabra Adiós en un texto.</a:t>
            </a:r>
          </a:p>
        </p:txBody>
      </p:sp>
    </p:spTree>
    <p:extLst>
      <p:ext uri="{BB962C8B-B14F-4D97-AF65-F5344CB8AC3E}">
        <p14:creationId xmlns:p14="http://schemas.microsoft.com/office/powerpoint/2010/main" val="4154779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search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4379E8-C33A-4609-A614-210A31DF0E31}"/>
              </a:ext>
            </a:extLst>
          </p:cNvPr>
          <p:cNvSpPr txBox="1"/>
          <p:nvPr/>
        </p:nvSpPr>
        <p:spPr>
          <a:xfrm>
            <a:off x="834726" y="1598192"/>
            <a:ext cx="74168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000" b="1" dirty="0"/>
              <a:t>Ejemplo 3:</a:t>
            </a:r>
            <a:r>
              <a:rPr lang="es-MX" sz="2000" dirty="0"/>
              <a:t> Busca la palabra Python y que la admiración se repita 1 o más veces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4C4D9E8-05C2-4AFD-88C6-5A82FF00A2FB}"/>
              </a:ext>
            </a:extLst>
          </p:cNvPr>
          <p:cNvSpPr txBox="1"/>
          <p:nvPr/>
        </p:nvSpPr>
        <p:spPr>
          <a:xfrm>
            <a:off x="938683" y="962324"/>
            <a:ext cx="7017694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Cuantificador ( + ) Una o más veces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C3E41A-47B6-4AB6-B5CA-C3D9BBF85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26" y="2548082"/>
            <a:ext cx="7380312" cy="361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8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27584" y="235200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CE94D24-C568-47E6-B6AA-854690DA1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89" y="3172377"/>
            <a:ext cx="7308304" cy="2200839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152C361-34BB-4CF6-AF01-52682D2E236C}"/>
              </a:ext>
            </a:extLst>
          </p:cNvPr>
          <p:cNvSpPr txBox="1"/>
          <p:nvPr/>
        </p:nvSpPr>
        <p:spPr>
          <a:xfrm>
            <a:off x="552719" y="1405411"/>
            <a:ext cx="8038561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match()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Determina si la expresión regular tiene coincidencias en el comienzo del texto.</a:t>
            </a:r>
          </a:p>
        </p:txBody>
      </p:sp>
    </p:spTree>
    <p:extLst>
      <p:ext uri="{BB962C8B-B14F-4D97-AF65-F5344CB8AC3E}">
        <p14:creationId xmlns:p14="http://schemas.microsoft.com/office/powerpoint/2010/main" val="1451682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match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99592" y="1556792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C3A1FF-DA68-4961-A672-D91F248CC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23" y="2384884"/>
            <a:ext cx="7223953" cy="208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60443" y="227967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DC2491E-C8B5-448D-B553-6F19BDF2F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12" y="3138954"/>
            <a:ext cx="7901611" cy="23811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4092E1E-D361-4870-BD54-7147B2FFEC5C}"/>
              </a:ext>
            </a:extLst>
          </p:cNvPr>
          <p:cNvSpPr txBox="1"/>
          <p:nvPr/>
        </p:nvSpPr>
        <p:spPr>
          <a:xfrm>
            <a:off x="415453" y="1428632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</p:spTree>
    <p:extLst>
      <p:ext uri="{BB962C8B-B14F-4D97-AF65-F5344CB8AC3E}">
        <p14:creationId xmlns:p14="http://schemas.microsoft.com/office/powerpoint/2010/main" val="3484001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findall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735088" y="169300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3DF6FA-3D98-4874-A3A6-0D2CCD64D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9" y="2420888"/>
            <a:ext cx="7981914" cy="243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3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2352" y="332656"/>
            <a:ext cx="8579296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¿Cómo usar las expresiones regulares?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5AA9D-354E-4C31-88A9-A48B5A9BA280}"/>
              </a:ext>
            </a:extLst>
          </p:cNvPr>
          <p:cNvSpPr txBox="1"/>
          <p:nvPr/>
        </p:nvSpPr>
        <p:spPr>
          <a:xfrm>
            <a:off x="831331" y="2321195"/>
            <a:ext cx="7540580" cy="1836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dirty="0" err="1">
                <a:solidFill>
                  <a:schemeClr val="accent6">
                    <a:lumMod val="75000"/>
                  </a:schemeClr>
                </a:solidFill>
                <a:latin typeface="inherit"/>
                <a:cs typeface="Arial" panose="020B0604020202020204" pitchFamily="34" charset="0"/>
              </a:rPr>
              <a:t>split</a:t>
            </a: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inherit"/>
                <a:cs typeface="Arial" panose="020B0604020202020204" pitchFamily="34" charset="0"/>
              </a:rPr>
              <a:t>(): </a:t>
            </a:r>
            <a:r>
              <a:rPr lang="es-ES" sz="2000" dirty="0">
                <a:solidFill>
                  <a:srgbClr val="000000"/>
                </a:solidFill>
                <a:latin typeface="inherit"/>
                <a:cs typeface="Arial" panose="020B0604020202020204" pitchFamily="34" charset="0"/>
              </a:rPr>
              <a:t>El cual divide el texto en una lista, realizando las divisiones del texto en cada lugar donde se cumple con la expresión regular.</a:t>
            </a:r>
            <a:endParaRPr lang="es-ES" sz="2000" u="sng" dirty="0">
              <a:solidFill>
                <a:srgbClr val="000000"/>
              </a:solidFill>
              <a:latin typeface="inherit"/>
              <a:cs typeface="Arial" panose="020B0604020202020204" pitchFamily="34" charset="0"/>
            </a:endParaRPr>
          </a:p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  <a:latin typeface="inherit"/>
                <a:cs typeface="Arial" panose="020B0604020202020204" pitchFamily="34" charset="0"/>
              </a:rPr>
              <a:t>sub(): </a:t>
            </a:r>
            <a:r>
              <a:rPr lang="es-ES" sz="2000" dirty="0">
                <a:solidFill>
                  <a:srgbClr val="000000"/>
                </a:solidFill>
                <a:latin typeface="inherit"/>
                <a:cs typeface="Arial" panose="020B0604020202020204" pitchFamily="34" charset="0"/>
              </a:rPr>
              <a:t>El cual encuentra todos los subtextos donde existe una coincidencia con la expresión regular y luego los reemplaza con un nuevo texto.</a:t>
            </a:r>
            <a:endParaRPr lang="es-ES" sz="2000" b="0" i="0" dirty="0">
              <a:solidFill>
                <a:srgbClr val="000000"/>
              </a:solidFill>
              <a:effectLst/>
              <a:latin typeface="inheri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392B394-963B-4356-AD56-AC5F6787A3D4}"/>
              </a:ext>
            </a:extLst>
          </p:cNvPr>
          <p:cNvSpPr txBox="1"/>
          <p:nvPr/>
        </p:nvSpPr>
        <p:spPr>
          <a:xfrm>
            <a:off x="641181" y="1178195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Modificando el texto de entrada</a:t>
            </a:r>
            <a:endParaRPr lang="es-ES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Imagen 4" descr="Texto&#10;&#10;Descripción generada automáticamente con confianza media">
            <a:extLst>
              <a:ext uri="{FF2B5EF4-FFF2-40B4-BE49-F238E27FC236}">
                <a16:creationId xmlns:a16="http://schemas.microsoft.com/office/drawing/2014/main" id="{E960688C-D058-4288-BF5C-739DFB46E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329" y="4437112"/>
            <a:ext cx="4181448" cy="16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71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7" y="1905146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el texto mientras no encuentre un carácter alfanumérico.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F66D3C9-053F-4EFB-A0F8-196F5C716363}"/>
              </a:ext>
            </a:extLst>
          </p:cNvPr>
          <p:cNvSpPr txBox="1"/>
          <p:nvPr/>
        </p:nvSpPr>
        <p:spPr>
          <a:xfrm>
            <a:off x="442122" y="1103175"/>
            <a:ext cx="8259756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split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divide el texto en una lista, realizando las divisiones del texto en cada lugar donde se cumple con la expresión regular.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D483A6-926B-4E64-881F-0176505B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0" y="2527124"/>
            <a:ext cx="6786500" cy="383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88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</a:t>
            </a: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split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9476" y="1116562"/>
            <a:ext cx="8259755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Divide por línea.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A76B235-E2D1-469A-947D-F9464CBBB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86" y="1844824"/>
            <a:ext cx="7663027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85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2F64E0-F78B-484B-9422-F5BEB2D47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256228"/>
            <a:ext cx="4205242" cy="419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80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2286631"/>
            <a:ext cx="2813224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Sustituir “Podrá” por “Puede” en 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364CB32-9566-488B-91CA-5796782DA649}"/>
              </a:ext>
            </a:extLst>
          </p:cNvPr>
          <p:cNvSpPr txBox="1"/>
          <p:nvPr/>
        </p:nvSpPr>
        <p:spPr>
          <a:xfrm>
            <a:off x="400945" y="1328773"/>
            <a:ext cx="825975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sub():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El cual encuentra todos los subtextos donde existe una coincidencia con la expresión regular y luego los reemplaza con un nuevo texto.</a:t>
            </a:r>
            <a:endParaRPr lang="es-ES" b="0" i="0" dirty="0">
              <a:solidFill>
                <a:srgbClr val="000000"/>
              </a:solidFill>
              <a:effectLst/>
              <a:latin typeface="inheri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B0324B-F321-4275-804E-DE20DE032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2492896"/>
            <a:ext cx="4248472" cy="39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30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41176" y="-27384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sub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683568" y="1557497"/>
            <a:ext cx="756084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Convertir un número (442)-223-78-90 por 4422237890.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02D4951-7D82-4326-A909-ADAEFEF0F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092" y="2505670"/>
            <a:ext cx="4925815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824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 re y expresiones regulares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469546" y="1111789"/>
            <a:ext cx="820490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la izquierda tenemos un texto en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el cual vamos a identificar expresiones regulares.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A la derecha tenemos una lista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caracteres especiales y diferentes caracteres usados en expresiones regulares.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921F72-D718-4DAA-9B7A-848F49AF2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4" y="2308904"/>
            <a:ext cx="8168897" cy="429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73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887246" y="1268760"/>
            <a:ext cx="73448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Ejemplo: </a:t>
            </a: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Busca el primer dígito en el texto. </a:t>
            </a:r>
          </a:p>
          <a:p>
            <a:pPr algn="just">
              <a:lnSpc>
                <a:spcPct val="150000"/>
              </a:lnSpc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</a:t>
            </a:r>
            <a:r>
              <a:rPr lang="es-ES" sz="1600" b="1" dirty="0">
                <a:solidFill>
                  <a:srgbClr val="FF0000"/>
                </a:solidFill>
              </a:rPr>
              <a:t>r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 utiliza en Python para anular caracteres o palabras especiales de Python.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re.search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(</a:t>
            </a:r>
            <a:r>
              <a:rPr lang="es-ES" sz="1600" b="1" i="0" dirty="0" err="1">
                <a:solidFill>
                  <a:schemeClr val="accent6">
                    <a:lumMod val="75000"/>
                  </a:schemeClr>
                </a:solidFill>
                <a:effectLst/>
              </a:rPr>
              <a:t>r”Expresión</a:t>
            </a:r>
            <a:r>
              <a:rPr lang="es-ES" sz="16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 regular”, texto)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793FE48-623D-42B8-BED7-05AD9ED8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780928"/>
            <a:ext cx="6871239" cy="32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53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444854" y="0"/>
            <a:ext cx="8229600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Expresiones regulares: \d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8D7FAFF-9722-4D6A-9DE5-55FC738D0886}"/>
              </a:ext>
            </a:extLst>
          </p:cNvPr>
          <p:cNvSpPr txBox="1"/>
          <p:nvPr/>
        </p:nvSpPr>
        <p:spPr>
          <a:xfrm>
            <a:off x="1011640" y="1340768"/>
            <a:ext cx="3672408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dirty="0">
                <a:solidFill>
                  <a:schemeClr val="tx1">
                    <a:lumMod val="95000"/>
                    <a:lumOff val="5000"/>
                  </a:schemeClr>
                </a:solidFill>
                <a:hlinkClick r:id="rId3"/>
              </a:rPr>
              <a:t>https://regexr.com/</a:t>
            </a:r>
            <a:endParaRPr lang="es-ES" sz="16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ES" sz="1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20 coincidencias</a:t>
            </a:r>
            <a:endParaRPr lang="es-E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88E4CB25-DBDE-4690-9149-04D33C8D6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037" y="2492896"/>
            <a:ext cx="701992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7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4EAFB9D-A872-4F2B-9A4C-EDDAC1EBFF8F}"/>
              </a:ext>
            </a:extLst>
          </p:cNvPr>
          <p:cNvSpPr txBox="1"/>
          <p:nvPr/>
        </p:nvSpPr>
        <p:spPr>
          <a:xfrm>
            <a:off x="556202" y="1637911"/>
            <a:ext cx="7806545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0000"/>
                </a:solidFill>
                <a:latin typeface="inherit"/>
              </a:rPr>
              <a:t>En los </a:t>
            </a:r>
            <a:r>
              <a:rPr lang="es-ES" dirty="0" err="1">
                <a:solidFill>
                  <a:srgbClr val="000000"/>
                </a:solidFill>
                <a:latin typeface="inherit"/>
              </a:rPr>
              <a:t>metacaracteres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 está el poder de las Expresiones regulares.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El verdadero valor de las expresiones regulares son los </a:t>
            </a:r>
            <a:r>
              <a:rPr lang="es-ES" b="0" i="0" dirty="0" err="1">
                <a:solidFill>
                  <a:srgbClr val="000000"/>
                </a:solidFill>
                <a:effectLst/>
                <a:latin typeface="inherit"/>
              </a:rPr>
              <a:t>metacaracteres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09D1B0-77B0-443B-B44C-A581F1D389C4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118046"/>
              </p:ext>
            </p:extLst>
          </p:nvPr>
        </p:nvGraphicFramePr>
        <p:xfrm>
          <a:off x="556202" y="2649352"/>
          <a:ext cx="7897418" cy="2521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417996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Indica un conjunto de caracteres. Se usa ‘-’ para indicar un rango. Algunos caracteres especiales pierden su significado.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Cualquier carácter excepto un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….ar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comienzo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^[A-Z]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Coincide con el final de la cadena.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@gmail.com$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50029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|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Una ‘</a:t>
                      </a:r>
                      <a:r>
                        <a:rPr lang="es-MX" dirty="0" err="1"/>
                        <a:t>or</a:t>
                      </a:r>
                      <a:r>
                        <a:rPr lang="es-MX" dirty="0"/>
                        <a:t>’.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[a-z] | [A-Z]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953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-99392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29C420-11B3-4E8A-AB9E-B87A07E7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880962"/>
            <a:ext cx="7481830" cy="342835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489179" y="1298545"/>
            <a:ext cx="7964356" cy="1111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dirty="0"/>
              <a:t>Se usa ‘-’ para indicar un rango. </a:t>
            </a:r>
          </a:p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findall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()</a:t>
            </a:r>
            <a:r>
              <a:rPr lang="es-ES" b="0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: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subtextos donde coincide </a:t>
            </a:r>
            <a:r>
              <a:rPr lang="es-ES" dirty="0">
                <a:solidFill>
                  <a:srgbClr val="000000"/>
                </a:solidFill>
                <a:latin typeface="inherit"/>
              </a:rPr>
              <a:t>la expresión regular y </a:t>
            </a: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 devuelve estas coincidencias como una lista.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6066" y="2299254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caracteres en minúsculas.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1F6875C-FDBE-48EB-8BD5-4D3A750FAB0C}"/>
              </a:ext>
            </a:extLst>
          </p:cNvPr>
          <p:cNvSpPr txBox="1"/>
          <p:nvPr/>
        </p:nvSpPr>
        <p:spPr>
          <a:xfrm>
            <a:off x="2627784" y="801397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65064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899592" y="1583777"/>
            <a:ext cx="4683827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Busca todos los números.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F46C46-01AA-4FAE-81E2-92FAEB4E3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0888"/>
            <a:ext cx="7315200" cy="3333750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5F2CD450-F1A2-44D0-826E-8133FCEE19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21" y="46280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68EC81-20D1-482B-988D-DEB369A3512A}"/>
              </a:ext>
            </a:extLst>
          </p:cNvPr>
          <p:cNvSpPr txBox="1"/>
          <p:nvPr/>
        </p:nvSpPr>
        <p:spPr>
          <a:xfrm>
            <a:off x="2627784" y="947069"/>
            <a:ext cx="3600400" cy="393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[] Indica un conjunto de caracteres </a:t>
            </a:r>
          </a:p>
        </p:txBody>
      </p:sp>
    </p:spTree>
    <p:extLst>
      <p:ext uri="{BB962C8B-B14F-4D97-AF65-F5344CB8AC3E}">
        <p14:creationId xmlns:p14="http://schemas.microsoft.com/office/powerpoint/2010/main" val="3640664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A32C36-6B63-4F4C-8762-95C0DAD8965B}"/>
              </a:ext>
            </a:extLst>
          </p:cNvPr>
          <p:cNvSpPr txBox="1"/>
          <p:nvPr/>
        </p:nvSpPr>
        <p:spPr>
          <a:xfrm>
            <a:off x="891025" y="950207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5CBD37-E855-453E-8CDA-5467A4B05037}"/>
              </a:ext>
            </a:extLst>
          </p:cNvPr>
          <p:cNvSpPr txBox="1"/>
          <p:nvPr/>
        </p:nvSpPr>
        <p:spPr>
          <a:xfrm>
            <a:off x="489179" y="1628800"/>
            <a:ext cx="796435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lnSpc>
                <a:spcPts val="25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000000"/>
                </a:solidFill>
                <a:effectLst/>
                <a:latin typeface="inherit"/>
              </a:rPr>
              <a:t>Encuentra todos los caracteres.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2A1748-633E-43E7-BE55-E849204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013" y="2276872"/>
            <a:ext cx="33813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36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732113" y="1996191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Texto con 4 caracteres y que termine en ar.</a:t>
            </a: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9CC210-D544-440F-8021-7745484E4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639" y="2805616"/>
            <a:ext cx="7611568" cy="2264537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47566EE0-4954-4E0D-B2B2-3E11D449C07F}"/>
              </a:ext>
            </a:extLst>
          </p:cNvPr>
          <p:cNvSpPr txBox="1">
            <a:spLocks noChangeArrowheads="1"/>
          </p:cNvSpPr>
          <p:nvPr/>
        </p:nvSpPr>
        <p:spPr>
          <a:xfrm>
            <a:off x="289721" y="4056"/>
            <a:ext cx="83632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B4734F2-B2C4-4B79-90BB-D1E93446E6FA}"/>
              </a:ext>
            </a:extLst>
          </p:cNvPr>
          <p:cNvSpPr txBox="1"/>
          <p:nvPr/>
        </p:nvSpPr>
        <p:spPr>
          <a:xfrm>
            <a:off x="891027" y="908720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Punto(.) Cualquier carácter excepto el salto de línea</a:t>
            </a:r>
          </a:p>
        </p:txBody>
      </p:sp>
    </p:spTree>
    <p:extLst>
      <p:ext uri="{BB962C8B-B14F-4D97-AF65-F5344CB8AC3E}">
        <p14:creationId xmlns:p14="http://schemas.microsoft.com/office/powerpoint/2010/main" val="18508358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4872DA-619A-41A1-BE49-20DE32CBC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202" y="2290056"/>
            <a:ext cx="8001000" cy="37338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2BEA311-D141-4761-9657-1E9AB156D83F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053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511993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^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comienzo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 que comience en mayúsculas.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30C024-0B9F-42D1-BEC6-A46FCB03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305544"/>
            <a:ext cx="81629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312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7CCA3B-3CA5-49C1-8C86-63E6F418C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88" y="2346991"/>
            <a:ext cx="7920880" cy="3008591"/>
          </a:xfrm>
          <a:prstGeom prst="rect">
            <a:avLst/>
          </a:prstGeom>
        </p:spPr>
      </p:pic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937037" y="4696753"/>
            <a:ext cx="246121" cy="107153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1615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CEA46D0-66FA-4F21-B3D8-91AB14163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6" y="2365662"/>
            <a:ext cx="7864552" cy="2287473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4" y="950207"/>
            <a:ext cx="4369025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$ 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</a:rPr>
              <a:t>Coincide con el final de la cadena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5: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correo termine en @tec.mx y se encuentre al final del texto.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38DB08D7-E161-479F-9C2E-2CE4029C869F}"/>
              </a:ext>
            </a:extLst>
          </p:cNvPr>
          <p:cNvSpPr/>
          <p:nvPr/>
        </p:nvSpPr>
        <p:spPr>
          <a:xfrm rot="16200000">
            <a:off x="7570320" y="4000981"/>
            <a:ext cx="522016" cy="13340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5556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Fin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4B1865-F3E8-456D-9E52-0E91A931E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31" y="2315538"/>
            <a:ext cx="680085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376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final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de una cadena de caracteres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162C75B-E079-4011-A089-37620B4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221" y="2138630"/>
            <a:ext cx="6685558" cy="43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69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C784F4-BDDC-4D50-B8E9-68B91761F76A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re.M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tomar texto multilínea. Que lea cada línea por separado.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D01309-A779-489D-9641-3C8825455B71}"/>
              </a:ext>
            </a:extLst>
          </p:cNvPr>
          <p:cNvSpPr txBox="1"/>
          <p:nvPr/>
        </p:nvSpPr>
        <p:spPr>
          <a:xfrm>
            <a:off x="938682" y="962324"/>
            <a:ext cx="7065349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( $ ) Coincide con el final de una cadena de caracteres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F02BA4-7F59-41F5-A7CC-189B2F98F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210" y="3212976"/>
            <a:ext cx="578829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55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| (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or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6: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Letras ma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yúsculas y minúsculas.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7BE126-2243-4EF3-87E0-59CAAA506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9" y="2329338"/>
            <a:ext cx="7591691" cy="33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3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293FB511-D00F-4078-ABBF-BE8AC61D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18149"/>
              </p:ext>
            </p:extLst>
          </p:nvPr>
        </p:nvGraphicFramePr>
        <p:xfrm>
          <a:off x="623291" y="2074792"/>
          <a:ext cx="7897418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244">
                  <a:extLst>
                    <a:ext uri="{9D8B030D-6E8A-4147-A177-3AD203B41FA5}">
                      <a16:colId xmlns:a16="http://schemas.microsoft.com/office/drawing/2014/main" val="3049714274"/>
                    </a:ext>
                  </a:extLst>
                </a:gridCol>
                <a:gridCol w="5794468">
                  <a:extLst>
                    <a:ext uri="{9D8B030D-6E8A-4147-A177-3AD203B41FA5}">
                      <a16:colId xmlns:a16="http://schemas.microsoft.com/office/drawing/2014/main" val="1816556619"/>
                    </a:ext>
                  </a:extLst>
                </a:gridCol>
                <a:gridCol w="1488706">
                  <a:extLst>
                    <a:ext uri="{9D8B030D-6E8A-4147-A177-3AD203B41FA5}">
                      <a16:colId xmlns:a16="http://schemas.microsoft.com/office/drawing/2014/main" val="1987385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737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más repeticiones de la expresión regular precedente.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.*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703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 o más repeticiones de la expresión regular precedente. salto de línea.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.+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40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{}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Número exacto de repeticiones. Puede tener número máximo y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.{5}</a:t>
                      </a:r>
                      <a:r>
                        <a:rPr lang="es-MX" dirty="0" err="1"/>
                        <a:t>er</a:t>
                      </a:r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4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 o 1 repetición de la expresión regular precedente. Prioriza el mínimo.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&lt;.*?&gt;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6322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Capturar y agrupar.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MX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55513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7E7310A2-6DD6-4A42-8090-574E0BE400D7}"/>
              </a:ext>
            </a:extLst>
          </p:cNvPr>
          <p:cNvSpPr txBox="1"/>
          <p:nvPr/>
        </p:nvSpPr>
        <p:spPr>
          <a:xfrm>
            <a:off x="2123728" y="939034"/>
            <a:ext cx="4824536" cy="401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12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Son caracteres con un significado especial.</a:t>
            </a:r>
          </a:p>
        </p:txBody>
      </p:sp>
    </p:spTree>
    <p:extLst>
      <p:ext uri="{BB962C8B-B14F-4D97-AF65-F5344CB8AC3E}">
        <p14:creationId xmlns:p14="http://schemas.microsoft.com/office/powerpoint/2010/main" val="21643825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1: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238566" cy="386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carácter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CD0519-2338-4AE2-9EF8-11FC5840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80928"/>
            <a:ext cx="703897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141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2: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Una palabra que tenga cualquier tipo de caracteres repetido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FDE507-6CDB-4252-9C26-27D007FDA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20" y="2924944"/>
            <a:ext cx="7038975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1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286845" y="950207"/>
            <a:ext cx="4229372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+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3: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7D6562-FC96-4812-A5D3-7044AF637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6" y="3026677"/>
            <a:ext cx="8010163" cy="263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840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1" y="40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Metacaracteres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4CFFB0-D6E7-4679-A6E8-7F8B2E54D6C1}"/>
              </a:ext>
            </a:extLst>
          </p:cNvPr>
          <p:cNvSpPr txBox="1"/>
          <p:nvPr/>
        </p:nvSpPr>
        <p:spPr>
          <a:xfrm>
            <a:off x="2051720" y="950207"/>
            <a:ext cx="4680520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{} Definen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el número exacto de 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repeticiones de la expresión regular precedente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2E1319-C186-4202-8393-814D31E5493C}"/>
              </a:ext>
            </a:extLst>
          </p:cNvPr>
          <p:cNvSpPr txBox="1"/>
          <p:nvPr/>
        </p:nvSpPr>
        <p:spPr>
          <a:xfrm>
            <a:off x="611560" y="1583476"/>
            <a:ext cx="792088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E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Ejemplo 4: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Abrir llave 9">
            <a:extLst>
              <a:ext uri="{FF2B5EF4-FFF2-40B4-BE49-F238E27FC236}">
                <a16:creationId xmlns:a16="http://schemas.microsoft.com/office/drawing/2014/main" id="{F795473D-90D4-4794-8F57-1F88444BF981}"/>
              </a:ext>
            </a:extLst>
          </p:cNvPr>
          <p:cNvSpPr/>
          <p:nvPr/>
        </p:nvSpPr>
        <p:spPr>
          <a:xfrm rot="16200000">
            <a:off x="7328241" y="5006428"/>
            <a:ext cx="242932" cy="29325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5E1941A-2DA6-443A-9843-A084D86AC459}"/>
              </a:ext>
            </a:extLst>
          </p:cNvPr>
          <p:cNvSpPr txBox="1"/>
          <p:nvPr/>
        </p:nvSpPr>
        <p:spPr>
          <a:xfrm>
            <a:off x="611560" y="2089768"/>
            <a:ext cx="8041433" cy="707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b="0" i="0" dirty="0">
                <a:solidFill>
                  <a:srgbClr val="333333"/>
                </a:solidFill>
                <a:effectLst/>
              </a:rPr>
              <a:t>Palabras que tengan cuatro caracteres de la ‘a’ a la ‘z’ repetidos una o más veces y que luego le siga un </a:t>
            </a:r>
            <a:r>
              <a:rPr lang="es-ES" sz="1600" b="1" i="0" dirty="0" err="1">
                <a:solidFill>
                  <a:srgbClr val="333333"/>
                </a:solidFill>
                <a:effectLst/>
              </a:rPr>
              <a:t>er</a:t>
            </a:r>
            <a:r>
              <a:rPr lang="es-ES" sz="1600" b="0" i="0" dirty="0">
                <a:solidFill>
                  <a:srgbClr val="333333"/>
                </a:solidFill>
                <a:effectLst/>
              </a:rPr>
              <a:t>.</a:t>
            </a:r>
            <a:endParaRPr lang="es-ES" sz="1600" b="0" i="0" dirty="0">
              <a:solidFill>
                <a:srgbClr val="AAAAAA"/>
              </a:solidFill>
              <a:effectLst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576E1C-9BCF-4A1F-AFDE-67E73D9B1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032480"/>
            <a:ext cx="7399987" cy="254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986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289722" y="332656"/>
            <a:ext cx="8363272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Secuencias especiales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01963C4-5EE1-4A60-85A8-719A3CE36006}"/>
              </a:ext>
            </a:extLst>
          </p:cNvPr>
          <p:cNvSpPr txBox="1"/>
          <p:nvPr/>
        </p:nvSpPr>
        <p:spPr>
          <a:xfrm>
            <a:off x="390364" y="2057342"/>
            <a:ext cx="8363272" cy="2743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dígito decimal. Equivalente a [0-9].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\D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dígito. Equivalente a [^0-9].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 </a:t>
            </a:r>
            <a:r>
              <a:rPr lang="es-ES" sz="1600" dirty="0">
                <a:solidFill>
                  <a:srgbClr val="333333"/>
                </a:solidFill>
              </a:rPr>
              <a:t>Coincide con un espacio en blanco.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\S 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que </a:t>
            </a:r>
            <a:r>
              <a:rPr lang="es-ES" sz="1600" b="1" dirty="0">
                <a:solidFill>
                  <a:srgbClr val="333333"/>
                </a:solidFill>
              </a:rPr>
              <a:t>no</a:t>
            </a:r>
            <a:r>
              <a:rPr lang="es-ES" sz="1600" dirty="0">
                <a:solidFill>
                  <a:srgbClr val="333333"/>
                </a:solidFill>
              </a:rPr>
              <a:t> sea un espacio en blanco. Equivalente a [^ \t\n\r\f\v].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alfanumérico e incluye vocales con acentos. Equivalente a [a-zA-Z0-9_].</a:t>
            </a:r>
          </a:p>
          <a:p>
            <a:pPr algn="just">
              <a:lnSpc>
                <a:spcPts val="3000"/>
              </a:lnSpc>
            </a:pPr>
            <a:r>
              <a:rPr lang="es-ES" sz="1600" b="1" dirty="0">
                <a:solidFill>
                  <a:srgbClr val="FF0000"/>
                </a:solidFill>
              </a:rPr>
              <a:t>\W  </a:t>
            </a:r>
            <a:r>
              <a:rPr lang="es-ES" sz="1600" dirty="0">
                <a:solidFill>
                  <a:srgbClr val="333333"/>
                </a:solidFill>
              </a:rPr>
              <a:t>Coincide con cualquier carácter </a:t>
            </a:r>
            <a:r>
              <a:rPr lang="es-ES" sz="1600" b="1" dirty="0">
                <a:solidFill>
                  <a:srgbClr val="333333"/>
                </a:solidFill>
              </a:rPr>
              <a:t>no </a:t>
            </a:r>
            <a:r>
              <a:rPr lang="es-ES" sz="1600" dirty="0">
                <a:solidFill>
                  <a:srgbClr val="333333"/>
                </a:solidFill>
              </a:rPr>
              <a:t>alfanumérico. Equivalente a [^a-zA-Z0-9_].</a:t>
            </a:r>
          </a:p>
        </p:txBody>
      </p:sp>
    </p:spTree>
    <p:extLst>
      <p:ext uri="{BB962C8B-B14F-4D97-AF65-F5344CB8AC3E}">
        <p14:creationId xmlns:p14="http://schemas.microsoft.com/office/powerpoint/2010/main" val="1564804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9573BAB-42E1-0167-AC1B-ED1685C4D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63" y="3203973"/>
            <a:ext cx="7762875" cy="3200400"/>
          </a:xfrm>
          <a:prstGeom prst="rect">
            <a:avLst/>
          </a:prstGeom>
        </p:spPr>
      </p:pic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inherit"/>
              </a:rPr>
              <a:t>Encontrar puntuaciones</a:t>
            </a:r>
            <a:endParaRPr lang="es-ES" b="1" i="0" dirty="0">
              <a:solidFill>
                <a:schemeClr val="accent6">
                  <a:lumMod val="75000"/>
                </a:schemeClr>
              </a:solidFill>
              <a:effectLst/>
              <a:latin typeface="inheri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B885235-1BFC-4A90-AC93-F12DA30D3529}"/>
              </a:ext>
            </a:extLst>
          </p:cNvPr>
          <p:cNvSpPr txBox="1"/>
          <p:nvPr/>
        </p:nvSpPr>
        <p:spPr>
          <a:xfrm>
            <a:off x="436712" y="1823083"/>
            <a:ext cx="334320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000" b="1" i="0" dirty="0">
                <a:solidFill>
                  <a:schemeClr val="accent6">
                    <a:lumMod val="75000"/>
                  </a:schemeClr>
                </a:solidFill>
                <a:effectLst/>
              </a:rPr>
              <a:t>\w </a:t>
            </a:r>
            <a:r>
              <a:rPr lang="es-ES" sz="2000" i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Caracte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 guion bajo.</a:t>
            </a:r>
          </a:p>
          <a:p>
            <a:pPr algn="just">
              <a:lnSpc>
                <a:spcPct val="150000"/>
              </a:lnSpc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\s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Espacio,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tab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salto de línea</a:t>
            </a:r>
            <a:endParaRPr lang="es-ES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F7E57C-E9F3-4E63-858D-D231EB203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762390"/>
            <a:ext cx="5112617" cy="222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19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e.M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Multilínea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840710-FB86-4DB4-A256-41715E3B3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367" y="3143086"/>
            <a:ext cx="5940985" cy="306390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una línea termine con 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“Mundo.”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Agregar </a:t>
            </a:r>
            <a:r>
              <a:rPr lang="es-E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flag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re.M</a:t>
            </a:r>
            <a:r>
              <a:rPr lang="es-E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tomar texto multilínea. Que lea cada línea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6905998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F092CB-B93F-4FF3-A4E7-1456D0FCE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386" y="2819811"/>
            <a:ext cx="5525244" cy="307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7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4" name="Rectangle 4"/>
          <p:cNvSpPr>
            <a:spLocks noGrp="1" noChangeArrowheads="1"/>
          </p:cNvSpPr>
          <p:nvPr>
            <p:ph type="title"/>
          </p:nvPr>
        </p:nvSpPr>
        <p:spPr>
          <a:xfrm>
            <a:off x="107504" y="116632"/>
            <a:ext cx="8579296" cy="1143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s-MX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Flags</a:t>
            </a:r>
            <a:endParaRPr lang="es-MX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FACE5D-9900-46A2-9420-5388E042012D}"/>
              </a:ext>
            </a:extLst>
          </p:cNvPr>
          <p:cNvSpPr txBox="1"/>
          <p:nvPr/>
        </p:nvSpPr>
        <p:spPr>
          <a:xfrm>
            <a:off x="1115616" y="1000107"/>
            <a:ext cx="6624736" cy="393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lnSpc>
                <a:spcPts val="2500"/>
              </a:lnSpc>
              <a:spcAft>
                <a:spcPts val="600"/>
              </a:spcAft>
            </a:pPr>
            <a:r>
              <a:rPr lang="es-ES" b="1" dirty="0" err="1">
                <a:solidFill>
                  <a:schemeClr val="accent6">
                    <a:lumMod val="75000"/>
                  </a:schemeClr>
                </a:solidFill>
                <a:latin typeface="inherit"/>
              </a:rPr>
              <a:t>r</a:t>
            </a:r>
            <a:r>
              <a:rPr lang="es-ES" b="1" i="0" dirty="0" err="1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e.I</a:t>
            </a:r>
            <a:r>
              <a:rPr lang="es-ES" b="1" i="0" dirty="0">
                <a:solidFill>
                  <a:schemeClr val="accent6">
                    <a:lumMod val="75000"/>
                  </a:schemeClr>
                </a:solidFill>
                <a:effectLst/>
                <a:latin typeface="inherit"/>
              </a:rPr>
              <a:t> (Ignore mayúsculas y minúsculas)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BAA6197-7260-44CA-B670-444DBF97C92D}"/>
              </a:ext>
            </a:extLst>
          </p:cNvPr>
          <p:cNvSpPr txBox="1"/>
          <p:nvPr/>
        </p:nvSpPr>
        <p:spPr>
          <a:xfrm>
            <a:off x="683568" y="1537713"/>
            <a:ext cx="7920880" cy="96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Si quiero buscar una palabra como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sin importar que este escrita en mayúsculas o minúsculas.</a:t>
            </a:r>
            <a:r>
              <a:rPr lang="es-E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 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4000D1-793C-4308-A9B3-DF526B99D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725806"/>
            <a:ext cx="5955072" cy="325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7796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43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9007</TotalTime>
  <Words>1540</Words>
  <Application>Microsoft Office PowerPoint</Application>
  <PresentationFormat>Presentación en pantalla (4:3)</PresentationFormat>
  <Paragraphs>221</Paragraphs>
  <Slides>43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8" baseType="lpstr">
      <vt:lpstr>Arial</vt:lpstr>
      <vt:lpstr>Calibri</vt:lpstr>
      <vt:lpstr>Dom Casual</vt:lpstr>
      <vt:lpstr>inherit</vt:lpstr>
      <vt:lpstr>Tema de Office</vt:lpstr>
      <vt:lpstr>TI 3008 C Analítica de datos y herramientas de inteligencia artificial</vt:lpstr>
      <vt:lpstr>¿Cómo usar las expresiones regulares?</vt:lpstr>
      <vt:lpstr>¿Cómo usar las expresiones regulares?</vt:lpstr>
      <vt:lpstr>Método search</vt:lpstr>
      <vt:lpstr>Método search</vt:lpstr>
      <vt:lpstr>Método search</vt:lpstr>
      <vt:lpstr>Método match</vt:lpstr>
      <vt:lpstr>Método match</vt:lpstr>
      <vt:lpstr>Método findall</vt:lpstr>
      <vt:lpstr>Método findall</vt:lpstr>
      <vt:lpstr>¿Cómo usar las expresiones regulares?</vt:lpstr>
      <vt:lpstr>Método split</vt:lpstr>
      <vt:lpstr>Método split</vt:lpstr>
      <vt:lpstr>Método sub</vt:lpstr>
      <vt:lpstr>Método sub</vt:lpstr>
      <vt:lpstr>Método sub</vt:lpstr>
      <vt:lpstr>Método re y expresiones regulares</vt:lpstr>
      <vt:lpstr>Expresiones regulares: \d</vt:lpstr>
      <vt:lpstr>Expresiones regulares: \d</vt:lpstr>
      <vt:lpstr>Metacaracteres</vt:lpstr>
      <vt:lpstr>Metacaracteres</vt:lpstr>
      <vt:lpstr>Metacaracteres</vt:lpstr>
      <vt:lpstr>Metacaracteres</vt:lpstr>
      <vt:lpstr>Presentación de PowerPoint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Metacaracteres</vt:lpstr>
      <vt:lpstr>Secuencias especiales</vt:lpstr>
      <vt:lpstr>Ejercicio</vt:lpstr>
      <vt:lpstr>Flags</vt:lpstr>
      <vt:lpstr>Flags</vt:lpstr>
      <vt:lpstr>Flags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306</cp:revision>
  <cp:lastPrinted>2026-03-05T23:14:19Z</cp:lastPrinted>
  <dcterms:created xsi:type="dcterms:W3CDTF">2013-06-24T20:15:42Z</dcterms:created>
  <dcterms:modified xsi:type="dcterms:W3CDTF">2026-08-11T16:29:23Z</dcterms:modified>
</cp:coreProperties>
</file>