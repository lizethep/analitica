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93" r:id="rId2"/>
    <p:sldId id="646" r:id="rId3"/>
    <p:sldId id="647" r:id="rId4"/>
    <p:sldId id="648" r:id="rId5"/>
    <p:sldId id="649" r:id="rId6"/>
    <p:sldId id="650" r:id="rId7"/>
    <p:sldId id="602" r:id="rId8"/>
    <p:sldId id="603" r:id="rId9"/>
    <p:sldId id="600" r:id="rId10"/>
    <p:sldId id="605" r:id="rId11"/>
    <p:sldId id="606" r:id="rId12"/>
    <p:sldId id="282" r:id="rId13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66"/>
    <a:srgbClr val="D60093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423DDB-7D29-4490-B48F-F8682249A702}" v="1" dt="2026-08-11T16:31:04.3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688" autoAdjust="0"/>
    <p:restoredTop sz="94660"/>
  </p:normalViewPr>
  <p:slideViewPr>
    <p:cSldViewPr>
      <p:cViewPr varScale="1">
        <p:scale>
          <a:sx n="124" d="100"/>
          <a:sy n="124" d="100"/>
        </p:scale>
        <p:origin x="1740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5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undo custSel addSld delSld modSld">
      <pc:chgData name="Lizethe Pérez Fuertes" userId="4ae9ef87-2a7d-42f8-8dfa-0a501a9e2ff4" providerId="ADAL" clId="{FDDD45CB-1330-4033-A842-3D2746AFF7C7}" dt="2026-08-11T16:31:04.380" v="196"/>
      <pc:docMkLst>
        <pc:docMk/>
      </pc:docMkLst>
      <pc:sldChg chg="modSp">
        <pc:chgData name="Lizethe Pérez Fuertes" userId="4ae9ef87-2a7d-42f8-8dfa-0a501a9e2ff4" providerId="ADAL" clId="{FDDD45CB-1330-4033-A842-3D2746AFF7C7}" dt="2026-08-11T16:31:04.380" v="196"/>
        <pc:sldMkLst>
          <pc:docMk/>
          <pc:sldMk cId="542782376" sldId="293"/>
        </pc:sldMkLst>
        <pc:spChg chg="mod">
          <ac:chgData name="Lizethe Pérez Fuertes" userId="4ae9ef87-2a7d-42f8-8dfa-0a501a9e2ff4" providerId="ADAL" clId="{FDDD45CB-1330-4033-A842-3D2746AFF7C7}" dt="2026-08-11T16:31:04.380" v="196"/>
          <ac:spMkLst>
            <pc:docMk/>
            <pc:sldMk cId="542782376" sldId="293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E721D5-655F-45D2-B717-3C4CD78C8568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B4312-99A1-4CE9-ACE7-4C62E9FD90EE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5965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21648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01803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55717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53546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8721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01238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47227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879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41642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50951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74278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53158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ítulo, text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CB0270-4803-41AA-A124-4606D5A64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1450" y="68263"/>
            <a:ext cx="7551738" cy="82708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60E98CE-E020-4F61-947F-C16B8367AABC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274638" y="1376363"/>
            <a:ext cx="4248150" cy="471963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071130C-EDB6-4212-AC7C-A4DF16F172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75188" y="1376363"/>
            <a:ext cx="4248150" cy="471963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DA2694E-2FCB-4690-B9AA-B1745EB88A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s-ES" altLang="es-MX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82C16C9-226D-40A6-83B0-C7150E25D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s-ES" altLang="es-MX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AA7849-A941-412A-950B-FDAF50BC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D829B6A8-D253-4D4B-A3FA-70749FCD26F0}" type="slidenum">
              <a:rPr lang="es-ES" altLang="es-MX"/>
              <a:pPr/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2072216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64661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6630" y="404664"/>
            <a:ext cx="7669826" cy="1470025"/>
          </a:xfrm>
        </p:spPr>
        <p:txBody>
          <a:bodyPr rtlCol="0">
            <a:normAutofit fontScale="90000"/>
          </a:bodyPr>
          <a:lstStyle/>
          <a:p>
            <a:pPr algn="l">
              <a:defRPr/>
            </a:pPr>
            <a:r>
              <a:rPr lang="es-MX" sz="3200">
                <a:solidFill>
                  <a:schemeClr val="bg2">
                    <a:lumMod val="50000"/>
                  </a:schemeClr>
                </a:solidFill>
              </a:rPr>
              <a:t>TI 3008 C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Analítica de datos y herramientas de inteligencia artificial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5656" y="1988840"/>
            <a:ext cx="6480720" cy="1368152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Python orientado a objetos: Encapsulamiento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6C41458-5F95-4C9E-928A-FECE8EEEF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230" y="3524683"/>
            <a:ext cx="3476625" cy="23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782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08912013-0DAA-4E2F-81D3-4CE3B7140A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5513" y="0"/>
            <a:ext cx="7174879" cy="1143001"/>
          </a:xfrm>
        </p:spPr>
        <p:txBody>
          <a:bodyPr>
            <a:normAutofit/>
          </a:bodyPr>
          <a:lstStyle/>
          <a:p>
            <a:pPr algn="ctr"/>
            <a:r>
              <a:rPr lang="es-ES_tradnl" alt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Encapsulación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6965C09-729F-4A40-B173-C14D1DCB7A9A}"/>
              </a:ext>
            </a:extLst>
          </p:cNvPr>
          <p:cNvSpPr txBox="1">
            <a:spLocks noChangeArrowheads="1"/>
          </p:cNvSpPr>
          <p:nvPr/>
        </p:nvSpPr>
        <p:spPr>
          <a:xfrm>
            <a:off x="759117" y="1143000"/>
            <a:ext cx="7629307" cy="22859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s-ES" altLang="es-MX" sz="1600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La técnica de </a:t>
            </a:r>
            <a:r>
              <a:rPr lang="es-ES" altLang="es-MX" sz="1600" b="1" dirty="0">
                <a:solidFill>
                  <a:schemeClr val="accent6">
                    <a:lumMod val="75000"/>
                  </a:schemeClr>
                </a:solidFill>
                <a:latin typeface="Dom Casual" charset="0"/>
              </a:rPr>
              <a:t>encapsulación</a:t>
            </a:r>
            <a:r>
              <a:rPr lang="es-ES" altLang="es-MX" sz="1600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 es conocida como </a:t>
            </a:r>
            <a:r>
              <a:rPr lang="es-ES" altLang="es-MX" sz="1600" b="1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ocultación de datos</a:t>
            </a:r>
            <a:r>
              <a:rPr lang="es-ES" altLang="es-MX" sz="1600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 y permite que los </a:t>
            </a:r>
            <a:r>
              <a:rPr lang="es-ES" altLang="es-MX" sz="1600" b="1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atributos de un objeto </a:t>
            </a:r>
            <a:r>
              <a:rPr lang="es-ES" altLang="es-MX" sz="1600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pueden ocultarse (superficialmente) para que no sean accedidos desde fuera de la definición de una clase. 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s-MX" altLang="es-MX" sz="1600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La </a:t>
            </a:r>
            <a:r>
              <a:rPr lang="es-MX" altLang="es-MX" sz="1600" b="1" dirty="0">
                <a:solidFill>
                  <a:schemeClr val="accent6">
                    <a:lumMod val="75000"/>
                  </a:schemeClr>
                </a:solidFill>
                <a:latin typeface="Dom Casual" charset="0"/>
              </a:rPr>
              <a:t>encapsulación</a:t>
            </a:r>
            <a:r>
              <a:rPr lang="es-MX" altLang="es-MX" sz="1600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 en POO es importante porque permite ocultar los detalles internos de una clase y proteger su estado interno de </a:t>
            </a:r>
            <a:r>
              <a:rPr lang="es-MX" altLang="es-MX" sz="1600" b="1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modificaciones indebidas</a:t>
            </a:r>
            <a:r>
              <a:rPr lang="es-MX" altLang="es-MX" sz="1600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. </a:t>
            </a:r>
            <a:r>
              <a:rPr lang="es-MX" sz="1600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Esto se logra mediante el uso de modificadores de acceso</a:t>
            </a:r>
            <a:r>
              <a:rPr lang="es-MX" sz="1600" b="1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 privado</a:t>
            </a:r>
            <a:r>
              <a:rPr lang="es-MX" sz="1600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. </a:t>
            </a:r>
            <a:endParaRPr lang="es-ES_tradnl" altLang="es-MX" sz="1600" dirty="0">
              <a:solidFill>
                <a:schemeClr val="bg2">
                  <a:lumMod val="10000"/>
                </a:schemeClr>
              </a:solidFill>
              <a:latin typeface="Dom Casual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30FF934-A9A5-42D2-AB01-2F33DAA19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3501008"/>
            <a:ext cx="5400675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662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8D9F1-E7E2-9F14-2624-6EFA9CA75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55B72C59-3D23-DBA3-3DD7-4B14E3DFE1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528" y="105222"/>
            <a:ext cx="8352929" cy="1143001"/>
          </a:xfrm>
        </p:spPr>
        <p:txBody>
          <a:bodyPr>
            <a:normAutofit/>
          </a:bodyPr>
          <a:lstStyle/>
          <a:p>
            <a:pPr algn="ctr"/>
            <a:r>
              <a:rPr lang="es-ES_tradnl" alt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Importancia de la encapsulación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F59E072-939F-134B-44DE-F9F6F5A68348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1340768"/>
            <a:ext cx="8352928" cy="22859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s-MX" sz="1600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La encapsulación es importante en la POO porque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Dom Casual" charset="0"/>
              </a:rPr>
              <a:t>protege la integridad de los datos</a:t>
            </a:r>
            <a:r>
              <a:rPr lang="es-MX" sz="1600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 al permitir el acceso solo a través de métodos específicos de la clase, lo que mejora la </a:t>
            </a:r>
            <a:r>
              <a:rPr lang="es-MX" sz="1600" b="1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seguridad</a:t>
            </a:r>
            <a:r>
              <a:rPr lang="es-MX" sz="1600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 y </a:t>
            </a:r>
            <a:r>
              <a:rPr lang="es-MX" sz="1600" b="1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evita modificaciones accidentales</a:t>
            </a:r>
            <a:r>
              <a:rPr lang="es-MX" sz="1600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. 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s-MX" sz="1600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Además, facilita la organización, legibilidad y mantenimiento del código, al ocultar los detalles internos de un objeto y permitir cambios en su implementación sin afectar otras partes del sistema. </a:t>
            </a:r>
            <a:endParaRPr lang="es-ES_tradnl" altLang="es-MX" sz="1600" dirty="0">
              <a:solidFill>
                <a:schemeClr val="bg2">
                  <a:lumMod val="10000"/>
                </a:schemeClr>
              </a:solidFill>
              <a:latin typeface="Dom Casual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071D3ED-EF92-34EA-C22C-1F5DDCCF6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6938" y="5860695"/>
            <a:ext cx="1500923" cy="89208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64E5AC4F-F553-1E7D-56B9-35DB015E2DE7}"/>
              </a:ext>
            </a:extLst>
          </p:cNvPr>
          <p:cNvSpPr txBox="1"/>
          <p:nvPr/>
        </p:nvSpPr>
        <p:spPr>
          <a:xfrm>
            <a:off x="485546" y="3719312"/>
            <a:ext cx="8172907" cy="2372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800"/>
              </a:spcAft>
            </a:pPr>
            <a:r>
              <a:rPr lang="es-MX" sz="1600" b="1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Ejemplo para entenderlo: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800"/>
              </a:spcAft>
            </a:pPr>
            <a:r>
              <a:rPr lang="es-MX" sz="1600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Piensa en la interfaz de un coche. Para conducir un coche, no necesitas saber cómo funciona exactamente el motor o la transmisión. Solo necesitas interactuar con los controles (volante, pedales) que están expuestos en su interfaz. La encapsulación funciona de manera similar, ocultando los complejos detalles internos del objeto y proporcionando una interfaz simple y controlada para interactuar con él. </a:t>
            </a:r>
          </a:p>
        </p:txBody>
      </p:sp>
    </p:spTree>
    <p:extLst>
      <p:ext uri="{BB962C8B-B14F-4D97-AF65-F5344CB8AC3E}">
        <p14:creationId xmlns:p14="http://schemas.microsoft.com/office/powerpoint/2010/main" val="2206757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CC0E9-2FB3-A450-A476-7680B3B6F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8002B5CF-3BA5-7C25-67AE-23E40842CFD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64141"/>
            <a:ext cx="9144000" cy="1008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Atributos públicos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9A1954C-0BF7-91D6-7C5F-2205CBAB48D5}"/>
              </a:ext>
            </a:extLst>
          </p:cNvPr>
          <p:cNvSpPr txBox="1"/>
          <p:nvPr/>
        </p:nvSpPr>
        <p:spPr>
          <a:xfrm>
            <a:off x="827584" y="1340768"/>
            <a:ext cx="7488832" cy="2762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ts val="1500"/>
              </a:lnSpc>
              <a:spcBef>
                <a:spcPts val="2100"/>
              </a:spcBef>
              <a:spcAft>
                <a:spcPts val="600"/>
              </a:spcAft>
              <a:buNone/>
            </a:pPr>
            <a:r>
              <a:rPr lang="es-MX" b="1" dirty="0">
                <a:solidFill>
                  <a:schemeClr val="accent6">
                    <a:lumMod val="75000"/>
                  </a:schemeClr>
                </a:solidFill>
                <a:effectLst/>
                <a:latin typeface="Google Sans Flex"/>
              </a:rPr>
              <a:t>1. Atributo Público (</a:t>
            </a:r>
            <a:r>
              <a:rPr lang="es-MX" b="0" dirty="0" err="1">
                <a:solidFill>
                  <a:schemeClr val="accent6">
                    <a:lumMod val="75000"/>
                  </a:schemeClr>
                </a:solidFill>
                <a:effectLst/>
                <a:latin typeface="Google Sans Mono"/>
              </a:rPr>
              <a:t>public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  <a:effectLst/>
                <a:latin typeface="Google Sans Flex"/>
              </a:rPr>
              <a:t>)</a:t>
            </a:r>
          </a:p>
          <a:p>
            <a:pPr algn="just" rtl="0">
              <a:spcAft>
                <a:spcPts val="600"/>
              </a:spcAft>
              <a:buNone/>
            </a:pPr>
            <a:r>
              <a:rPr lang="es-MX" b="0" dirty="0">
                <a:solidFill>
                  <a:srgbClr val="1F1F1F"/>
                </a:solidFill>
                <a:effectLst/>
                <a:latin typeface="Google Sans Flex"/>
              </a:rPr>
              <a:t>Es un atributo accesible desde </a:t>
            </a:r>
            <a:r>
              <a:rPr lang="es-MX" b="1" dirty="0">
                <a:solidFill>
                  <a:srgbClr val="1F1F1F"/>
                </a:solidFill>
                <a:effectLst/>
                <a:latin typeface="Google Sans Flex"/>
              </a:rPr>
              <a:t>cualquier lugar</a:t>
            </a:r>
            <a:r>
              <a:rPr lang="es-MX" b="0" dirty="0">
                <a:solidFill>
                  <a:srgbClr val="1F1F1F"/>
                </a:solidFill>
                <a:effectLst/>
                <a:latin typeface="Google Sans Flex"/>
              </a:rPr>
              <a:t> del programa.</a:t>
            </a:r>
          </a:p>
          <a:p>
            <a:pPr marL="285750" indent="-285750" algn="just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b="1" dirty="0">
                <a:solidFill>
                  <a:srgbClr val="1F1F1F"/>
                </a:solidFill>
                <a:effectLst/>
                <a:latin typeface="Google Sans Flex"/>
              </a:rPr>
              <a:t>Acceso:</a:t>
            </a:r>
            <a:r>
              <a:rPr lang="es-MX" b="0" dirty="0">
                <a:solidFill>
                  <a:srgbClr val="1F1F1F"/>
                </a:solidFill>
                <a:effectLst/>
                <a:latin typeface="Google Sans Flex"/>
              </a:rPr>
              <a:t> Directo desde la propia clase, desde clases heredadas y desde instancias (objetos) externas.</a:t>
            </a:r>
          </a:p>
          <a:p>
            <a:pPr marL="285750" indent="-285750" algn="just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b="1" dirty="0">
                <a:solidFill>
                  <a:srgbClr val="1F1F1F"/>
                </a:solidFill>
                <a:effectLst/>
                <a:latin typeface="Google Sans Flex"/>
              </a:rPr>
              <a:t>Seguridad:</a:t>
            </a:r>
            <a:r>
              <a:rPr lang="es-MX" b="0" dirty="0">
                <a:solidFill>
                  <a:srgbClr val="1F1F1F"/>
                </a:solidFill>
                <a:effectLst/>
                <a:latin typeface="Google Sans Flex"/>
              </a:rPr>
              <a:t> Baja. Cualquier parte del código puede modificar el valor sin restricciones.</a:t>
            </a:r>
          </a:p>
          <a:p>
            <a:pPr marL="285750" indent="-285750" algn="just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b="1" dirty="0">
                <a:solidFill>
                  <a:srgbClr val="1F1F1F"/>
                </a:solidFill>
                <a:effectLst/>
                <a:latin typeface="Google Sans Flex"/>
              </a:rPr>
              <a:t>Uso:</a:t>
            </a:r>
            <a:r>
              <a:rPr lang="es-MX" b="0" dirty="0">
                <a:solidFill>
                  <a:srgbClr val="1F1F1F"/>
                </a:solidFill>
                <a:effectLst/>
                <a:latin typeface="Google Sans Flex"/>
              </a:rPr>
              <a:t> Para datos que son seguros de exponer o que necesitan ser modificados frecuentemente por otros objetos.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D1CA2F1-2096-D714-9F93-38A5237E0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64" y="4221088"/>
            <a:ext cx="2981741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15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946E3-7E8D-D5ED-789F-59D8EA2BB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2600C6A-A4CE-782C-1E7B-1F867FBDC852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88043"/>
            <a:ext cx="9144000" cy="1008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Encapsulación : atributos privados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8BA93F3-3CAF-D4BE-8698-F39F2D6F93B8}"/>
              </a:ext>
            </a:extLst>
          </p:cNvPr>
          <p:cNvSpPr txBox="1"/>
          <p:nvPr/>
        </p:nvSpPr>
        <p:spPr>
          <a:xfrm>
            <a:off x="1043608" y="1415033"/>
            <a:ext cx="7344816" cy="130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ts val="1500"/>
              </a:lnSpc>
              <a:spcBef>
                <a:spcPts val="2100"/>
              </a:spcBef>
              <a:spcAft>
                <a:spcPts val="600"/>
              </a:spcAft>
              <a:buNone/>
            </a:pPr>
            <a:r>
              <a:rPr lang="es-MX" b="1" dirty="0">
                <a:solidFill>
                  <a:schemeClr val="accent6">
                    <a:lumMod val="75000"/>
                  </a:schemeClr>
                </a:solidFill>
                <a:effectLst/>
                <a:latin typeface="Google Sans Flex"/>
              </a:rPr>
              <a:t>2. Atributo Privado (</a:t>
            </a:r>
            <a:r>
              <a:rPr lang="es-MX" b="0" dirty="0" err="1">
                <a:solidFill>
                  <a:schemeClr val="accent6">
                    <a:lumMod val="75000"/>
                  </a:schemeClr>
                </a:solidFill>
                <a:effectLst/>
                <a:latin typeface="Google Sans Mono"/>
              </a:rPr>
              <a:t>private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  <a:effectLst/>
                <a:latin typeface="Google Sans Flex"/>
              </a:rPr>
              <a:t>)</a:t>
            </a:r>
          </a:p>
          <a:p>
            <a:pPr algn="just">
              <a:lnSpc>
                <a:spcPts val="2500"/>
              </a:lnSpc>
              <a:spcAft>
                <a:spcPts val="600"/>
              </a:spcAft>
            </a:pPr>
            <a:r>
              <a:rPr lang="es-MX" b="1" dirty="0">
                <a:solidFill>
                  <a:srgbClr val="1F1F1F"/>
                </a:solidFill>
                <a:latin typeface="Google Sans Flex"/>
              </a:rPr>
              <a:t>(_atributo): </a:t>
            </a:r>
            <a:r>
              <a:rPr lang="es-MX" dirty="0">
                <a:solidFill>
                  <a:srgbClr val="1F1F1F"/>
                </a:solidFill>
                <a:latin typeface="Google Sans Flex"/>
              </a:rPr>
              <a:t>Un guion bajo al principio indica a otros programadores: "Este atributo es interno, no lo uses fuera de la clase". Python no te impedirá acceder a él, pero es una norma de cortesía entre desarrolladores.</a:t>
            </a:r>
            <a:endParaRPr lang="es-MX" b="0" dirty="0">
              <a:solidFill>
                <a:srgbClr val="1F1F1F"/>
              </a:solidFill>
              <a:effectLst/>
              <a:latin typeface="Google Sans Flex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D373540-466E-D9F9-F3FA-1460FE691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3038114"/>
            <a:ext cx="3963109" cy="305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346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8386C-A429-2889-CACB-E0C586661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DBE63BE9-3012-EA71-30D0-9910634A8C1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16632"/>
            <a:ext cx="9144000" cy="1008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Encapsulación : atributos privados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BD8B9D4-F869-089C-B7A4-FD7DAF5A7711}"/>
              </a:ext>
            </a:extLst>
          </p:cNvPr>
          <p:cNvSpPr txBox="1"/>
          <p:nvPr/>
        </p:nvSpPr>
        <p:spPr>
          <a:xfrm>
            <a:off x="1115616" y="1340768"/>
            <a:ext cx="7200800" cy="439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ts val="1500"/>
              </a:lnSpc>
              <a:spcBef>
                <a:spcPts val="2100"/>
              </a:spcBef>
              <a:spcAft>
                <a:spcPts val="600"/>
              </a:spcAft>
              <a:buNone/>
            </a:pPr>
            <a:r>
              <a:rPr lang="es-MX" b="1" dirty="0">
                <a:solidFill>
                  <a:schemeClr val="accent6">
                    <a:lumMod val="75000"/>
                  </a:schemeClr>
                </a:solidFill>
                <a:effectLst/>
                <a:latin typeface="Google Sans Flex"/>
              </a:rPr>
              <a:t>2. Atributo Privado (</a:t>
            </a:r>
            <a:r>
              <a:rPr lang="es-MX" b="0" dirty="0" err="1">
                <a:solidFill>
                  <a:schemeClr val="accent6">
                    <a:lumMod val="75000"/>
                  </a:schemeClr>
                </a:solidFill>
                <a:effectLst/>
                <a:latin typeface="Google Sans Mono"/>
              </a:rPr>
              <a:t>private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  <a:effectLst/>
                <a:latin typeface="Google Sans Flex"/>
              </a:rPr>
              <a:t>)</a:t>
            </a:r>
          </a:p>
          <a:p>
            <a:pPr algn="just">
              <a:lnSpc>
                <a:spcPts val="2500"/>
              </a:lnSpc>
              <a:spcAft>
                <a:spcPts val="600"/>
              </a:spcAft>
            </a:pPr>
            <a:r>
              <a:rPr lang="es-MX" b="1" dirty="0"/>
              <a:t>(__atributo):</a:t>
            </a:r>
            <a:r>
              <a:rPr lang="es-MX" dirty="0"/>
              <a:t> Dos guiones bajos al principio hacen que Python </a:t>
            </a:r>
            <a:r>
              <a:rPr lang="es-MX" b="1" dirty="0"/>
              <a:t>cambie internamente el nombre</a:t>
            </a:r>
            <a:r>
              <a:rPr lang="es-MX" dirty="0"/>
              <a:t> del atributo. Si tienes una clase </a:t>
            </a:r>
            <a:r>
              <a:rPr lang="es-MX" b="1" dirty="0"/>
              <a:t>Persona</a:t>
            </a:r>
            <a:r>
              <a:rPr lang="es-MX" dirty="0"/>
              <a:t> y un atributo </a:t>
            </a:r>
            <a:r>
              <a:rPr lang="es-MX" b="1" dirty="0"/>
              <a:t>__edad</a:t>
            </a:r>
            <a:r>
              <a:rPr lang="es-MX" dirty="0"/>
              <a:t>, Python lo renombrará a </a:t>
            </a:r>
            <a:r>
              <a:rPr lang="es-MX" b="1" dirty="0"/>
              <a:t>_</a:t>
            </a:r>
            <a:r>
              <a:rPr lang="es-MX" b="1" dirty="0" err="1"/>
              <a:t>Persona__edad</a:t>
            </a:r>
            <a:r>
              <a:rPr lang="es-MX" dirty="0"/>
              <a:t>. Esto hace más difícil acceder a él por error desde fuera o desde subclases.</a:t>
            </a:r>
            <a:endParaRPr lang="es-MX" dirty="0">
              <a:solidFill>
                <a:srgbClr val="1F1F1F"/>
              </a:solidFill>
              <a:latin typeface="Google Sans Flex"/>
            </a:endParaRPr>
          </a:p>
          <a:p>
            <a:pPr algn="just" rtl="0">
              <a:spcAft>
                <a:spcPts val="600"/>
              </a:spcAft>
              <a:buNone/>
            </a:pPr>
            <a:r>
              <a:rPr lang="es-MX" b="0" dirty="0">
                <a:solidFill>
                  <a:srgbClr val="1F1F1F"/>
                </a:solidFill>
                <a:effectLst/>
                <a:latin typeface="Google Sans Flex"/>
              </a:rPr>
              <a:t>Es un atributo accesible </a:t>
            </a:r>
            <a:r>
              <a:rPr lang="es-MX" b="1" dirty="0">
                <a:solidFill>
                  <a:srgbClr val="1F1F1F"/>
                </a:solidFill>
                <a:effectLst/>
                <a:latin typeface="Google Sans Flex"/>
              </a:rPr>
              <a:t>únicamente dentro de la clase</a:t>
            </a:r>
            <a:r>
              <a:rPr lang="es-MX" b="0" dirty="0">
                <a:solidFill>
                  <a:srgbClr val="1F1F1F"/>
                </a:solidFill>
                <a:effectLst/>
                <a:latin typeface="Google Sans Flex"/>
              </a:rPr>
              <a:t> que lo define.</a:t>
            </a:r>
          </a:p>
          <a:p>
            <a:pPr marL="285750" indent="-285750" algn="just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b="1" dirty="0">
                <a:solidFill>
                  <a:srgbClr val="1F1F1F"/>
                </a:solidFill>
                <a:effectLst/>
                <a:latin typeface="Google Sans Flex"/>
              </a:rPr>
              <a:t>Acceso:</a:t>
            </a:r>
            <a:r>
              <a:rPr lang="es-MX" b="0" dirty="0">
                <a:solidFill>
                  <a:srgbClr val="1F1F1F"/>
                </a:solidFill>
                <a:effectLst/>
                <a:latin typeface="Google Sans Flex"/>
              </a:rPr>
              <a:t> Directo solo por los métodos internos de la propia clase.</a:t>
            </a:r>
          </a:p>
          <a:p>
            <a:pPr marL="285750" indent="-285750" algn="just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b="1" dirty="0">
                <a:solidFill>
                  <a:srgbClr val="1F1F1F"/>
                </a:solidFill>
                <a:effectLst/>
                <a:latin typeface="Google Sans Flex"/>
              </a:rPr>
              <a:t>Seguridad:</a:t>
            </a:r>
            <a:r>
              <a:rPr lang="es-MX" b="0" dirty="0">
                <a:solidFill>
                  <a:srgbClr val="1F1F1F"/>
                </a:solidFill>
                <a:effectLst/>
                <a:latin typeface="Google Sans Flex"/>
              </a:rPr>
              <a:t> Alta. Protege la integridad de los datos, impidiendo que el exterior modifique el estado interno del objeto de forma inesperada.</a:t>
            </a:r>
          </a:p>
          <a:p>
            <a:pPr marL="285750" indent="-285750" algn="just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b="1" dirty="0">
                <a:solidFill>
                  <a:srgbClr val="1F1F1F"/>
                </a:solidFill>
                <a:effectLst/>
                <a:latin typeface="Google Sans Flex"/>
              </a:rPr>
              <a:t>Uso:</a:t>
            </a:r>
            <a:r>
              <a:rPr lang="es-MX" b="0" dirty="0">
                <a:solidFill>
                  <a:srgbClr val="1F1F1F"/>
                </a:solidFill>
                <a:effectLst/>
                <a:latin typeface="Google Sans Flex"/>
              </a:rPr>
              <a:t> Para datos sensibles o internos que no deben ser manipulados directamente desde fuera. Para interactuar con ellos, se suelen utilizar métodos públicos especiales llamados </a:t>
            </a:r>
            <a:r>
              <a:rPr lang="es-MX" b="1" i="1" dirty="0" err="1">
                <a:solidFill>
                  <a:srgbClr val="1F1F1F"/>
                </a:solidFill>
                <a:effectLst/>
                <a:latin typeface="Google Sans Flex"/>
              </a:rPr>
              <a:t>Getters</a:t>
            </a:r>
            <a:r>
              <a:rPr lang="es-MX" b="0" dirty="0">
                <a:solidFill>
                  <a:srgbClr val="1F1F1F"/>
                </a:solidFill>
                <a:effectLst/>
                <a:latin typeface="Google Sans Flex"/>
              </a:rPr>
              <a:t> (para leer) y </a:t>
            </a:r>
            <a:r>
              <a:rPr lang="es-MX" b="1" i="1" dirty="0" err="1">
                <a:solidFill>
                  <a:srgbClr val="1F1F1F"/>
                </a:solidFill>
                <a:effectLst/>
                <a:latin typeface="Google Sans Flex"/>
              </a:rPr>
              <a:t>Setters</a:t>
            </a:r>
            <a:r>
              <a:rPr lang="es-MX" b="0" dirty="0">
                <a:solidFill>
                  <a:srgbClr val="1F1F1F"/>
                </a:solidFill>
                <a:effectLst/>
                <a:latin typeface="Google Sans Flex"/>
              </a:rPr>
              <a:t> (para modificar).</a:t>
            </a:r>
          </a:p>
        </p:txBody>
      </p:sp>
    </p:spTree>
    <p:extLst>
      <p:ext uri="{BB962C8B-B14F-4D97-AF65-F5344CB8AC3E}">
        <p14:creationId xmlns:p14="http://schemas.microsoft.com/office/powerpoint/2010/main" val="2485710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CE40F4F-E91D-42FD-B661-EAA8BC18ABC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-27383"/>
            <a:ext cx="9144000" cy="1008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Encapsulación : atributos privados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F896577-4B60-4BA6-A121-97638A434181}"/>
              </a:ext>
            </a:extLst>
          </p:cNvPr>
          <p:cNvSpPr txBox="1"/>
          <p:nvPr/>
        </p:nvSpPr>
        <p:spPr>
          <a:xfrm>
            <a:off x="107504" y="889323"/>
            <a:ext cx="8712968" cy="707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</a:rPr>
              <a:t>La encapsulación hace referencia a la capacidad que tiene un objeto de ocultar su estado, de manera que sus datos solo se puedan modificar por medio de las operaciones (métodos) que ofrece. </a:t>
            </a:r>
            <a:endParaRPr lang="es-E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73C42C7-85D9-4D9B-B558-211E4812A4BA}"/>
              </a:ext>
            </a:extLst>
          </p:cNvPr>
          <p:cNvSpPr txBox="1"/>
          <p:nvPr/>
        </p:nvSpPr>
        <p:spPr>
          <a:xfrm>
            <a:off x="215516" y="1844824"/>
            <a:ext cx="8496944" cy="1989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 Python, todos los </a:t>
            </a:r>
            <a:r>
              <a:rPr lang="es-ES" sz="1600" b="1" dirty="0">
                <a:solidFill>
                  <a:srgbClr val="00B050"/>
                </a:solidFill>
              </a:rPr>
              <a:t>atributos de una clase (atributos de datos y métodos) son públicos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Esto quiere decir que desde un código que use la clase, se puede acceder a todos los atributos y métodos de dicha clase.</a:t>
            </a:r>
          </a:p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Hay una forma de indicar en Python que un atributo, ya sea un dato o un método, es interno a una clase y no se debería utilizar fuera de ella. Esto es usando el carácter </a:t>
            </a:r>
            <a:r>
              <a:rPr lang="es-ES" sz="1600" b="1" dirty="0">
                <a:solidFill>
                  <a:srgbClr val="0070C0"/>
                </a:solidFill>
              </a:rPr>
              <a:t>guión bajo _atributo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antes del nombre del atributo que queramos ocultar.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B8BFC6F-E8A3-4523-932A-E0C8FFD40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4082728"/>
            <a:ext cx="6191250" cy="208597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00A8FDE6-4A3E-4FB3-9730-D3716FB038D5}"/>
              </a:ext>
            </a:extLst>
          </p:cNvPr>
          <p:cNvSpPr/>
          <p:nvPr/>
        </p:nvSpPr>
        <p:spPr>
          <a:xfrm>
            <a:off x="1402928" y="4509120"/>
            <a:ext cx="2304257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74379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CE40F4F-E91D-42FD-B661-EAA8BC18ABC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-27383"/>
            <a:ext cx="9144000" cy="1008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Encapsulación : atributos privados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73C42C7-85D9-4D9B-B558-211E4812A4BA}"/>
              </a:ext>
            </a:extLst>
          </p:cNvPr>
          <p:cNvSpPr txBox="1"/>
          <p:nvPr/>
        </p:nvSpPr>
        <p:spPr>
          <a:xfrm>
            <a:off x="683568" y="992074"/>
            <a:ext cx="8136904" cy="707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 atributo seguirá siendo accesible desde fuera de la clase, pero el programador está indicando que es privado y no debería utilizarse porque no se sabe qué consecuencias puede tener.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B8BFC6F-E8A3-4523-932A-E0C8FFD40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238" y="2031248"/>
            <a:ext cx="6191250" cy="208597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A31B860-4D96-42F7-AAE9-758325AD5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238" y="4258104"/>
            <a:ext cx="2581275" cy="1819275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C48A7B3E-ED1B-4D54-946B-19057C587271}"/>
              </a:ext>
            </a:extLst>
          </p:cNvPr>
          <p:cNvSpPr txBox="1"/>
          <p:nvPr/>
        </p:nvSpPr>
        <p:spPr>
          <a:xfrm>
            <a:off x="686826" y="1907599"/>
            <a:ext cx="1872208" cy="1319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500"/>
              </a:lnSpc>
              <a:spcAft>
                <a:spcPts val="1200"/>
              </a:spcAft>
            </a:pPr>
            <a:r>
              <a:rPr lang="es-E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Ejemplo: </a:t>
            </a:r>
          </a:p>
          <a:p>
            <a:pPr>
              <a:lnSpc>
                <a:spcPts val="2000"/>
              </a:lnSpc>
            </a:pPr>
            <a:r>
              <a:rPr lang="es-E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 </a:t>
            </a:r>
            <a:r>
              <a:rPr lang="es-E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clase A </a:t>
            </a:r>
            <a:r>
              <a:rPr lang="es-E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define el </a:t>
            </a:r>
            <a:r>
              <a:rPr lang="es-ES" sz="1400" b="1" dirty="0">
                <a:solidFill>
                  <a:schemeClr val="accent6">
                    <a:lumMod val="75000"/>
                  </a:schemeClr>
                </a:solidFill>
              </a:rPr>
              <a:t>atributo privado</a:t>
            </a:r>
            <a:r>
              <a:rPr lang="es-ES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ES" sz="1400" b="1" dirty="0">
                <a:solidFill>
                  <a:srgbClr val="0070C0"/>
                </a:solidFill>
              </a:rPr>
              <a:t>_contador</a:t>
            </a:r>
            <a:endParaRPr lang="es-E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7F98069-7653-4E51-A1F8-70D3A40605DB}"/>
              </a:ext>
            </a:extLst>
          </p:cNvPr>
          <p:cNvSpPr txBox="1"/>
          <p:nvPr/>
        </p:nvSpPr>
        <p:spPr>
          <a:xfrm>
            <a:off x="683568" y="4258104"/>
            <a:ext cx="1801638" cy="845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000"/>
              </a:lnSpc>
            </a:pPr>
            <a:r>
              <a:rPr lang="es-E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 ejemplo de uso de la clase sería el siguiente: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ECBEF75-283F-48D0-AC07-B3DB281F0998}"/>
              </a:ext>
            </a:extLst>
          </p:cNvPr>
          <p:cNvSpPr txBox="1"/>
          <p:nvPr/>
        </p:nvSpPr>
        <p:spPr>
          <a:xfrm>
            <a:off x="663431" y="5563328"/>
            <a:ext cx="2096301" cy="851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s-E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 posible acceder al atributo privado, aunque no se debiera.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1A9E345-1E86-4B38-A78C-641607DFE0D8}"/>
              </a:ext>
            </a:extLst>
          </p:cNvPr>
          <p:cNvSpPr/>
          <p:nvPr/>
        </p:nvSpPr>
        <p:spPr>
          <a:xfrm>
            <a:off x="2794701" y="5596241"/>
            <a:ext cx="2581275" cy="4811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59498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CE40F4F-E91D-42FD-B661-EAA8BC18ABC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-27383"/>
            <a:ext cx="9144000" cy="1008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Encapsulación : atributos privados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73C42C7-85D9-4D9B-B558-211E4812A4BA}"/>
              </a:ext>
            </a:extLst>
          </p:cNvPr>
          <p:cNvSpPr txBox="1"/>
          <p:nvPr/>
        </p:nvSpPr>
        <p:spPr>
          <a:xfrm>
            <a:off x="467544" y="1071605"/>
            <a:ext cx="8149128" cy="1028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También es posible usar un </a:t>
            </a:r>
            <a:r>
              <a:rPr lang="es-ES" sz="1600" b="1" dirty="0">
                <a:solidFill>
                  <a:srgbClr val="0070C0"/>
                </a:solidFill>
              </a:rPr>
              <a:t>doble guión bajo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s-ES" sz="1600" b="1" dirty="0">
                <a:solidFill>
                  <a:srgbClr val="0070C0"/>
                </a:solidFill>
              </a:rPr>
              <a:t>__atributo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Esto hace que el identificador sea literalmente reemplazado por el texto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</a:rPr>
              <a:t>_Clase__atributo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donde </a:t>
            </a:r>
            <a:r>
              <a:rPr lang="es-ES" sz="1600" b="1" dirty="0">
                <a:solidFill>
                  <a:srgbClr val="FF0000"/>
                </a:solidFill>
              </a:rPr>
              <a:t>Clase</a:t>
            </a:r>
            <a:r>
              <a:rPr lang="es-ES" sz="1600" dirty="0">
                <a:solidFill>
                  <a:srgbClr val="FF0000"/>
                </a:solidFill>
              </a:rPr>
              <a:t> 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 el nombre de la clase actual. 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FE5193A2-5AC9-4984-8F1D-C88888E5E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808" y="2085721"/>
            <a:ext cx="5472608" cy="1824203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A4FA2A5F-F2E3-4AA0-A1A4-0FCE88899775}"/>
              </a:ext>
            </a:extLst>
          </p:cNvPr>
          <p:cNvSpPr txBox="1"/>
          <p:nvPr/>
        </p:nvSpPr>
        <p:spPr>
          <a:xfrm>
            <a:off x="467544" y="2190583"/>
            <a:ext cx="1997631" cy="1614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s-E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diferencia del ejercicio anterior, la </a:t>
            </a:r>
            <a:r>
              <a:rPr lang="es-ES" sz="1400" b="1" dirty="0">
                <a:solidFill>
                  <a:srgbClr val="0070C0"/>
                </a:solidFill>
              </a:rPr>
              <a:t>clase B </a:t>
            </a:r>
            <a:r>
              <a:rPr lang="es-E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define el </a:t>
            </a:r>
            <a:r>
              <a:rPr lang="es-ES" sz="1400" b="1" dirty="0">
                <a:solidFill>
                  <a:srgbClr val="00B050"/>
                </a:solidFill>
              </a:rPr>
              <a:t>atributo privado </a:t>
            </a:r>
            <a:r>
              <a:rPr lang="es-ES" sz="1400" b="1" dirty="0">
                <a:solidFill>
                  <a:schemeClr val="accent6">
                    <a:lumMod val="75000"/>
                  </a:schemeClr>
                </a:solidFill>
              </a:rPr>
              <a:t>__contador </a:t>
            </a:r>
            <a:r>
              <a:rPr lang="es-E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anteponiendo un </a:t>
            </a:r>
            <a:r>
              <a:rPr lang="es-ES" sz="1400" b="1" dirty="0">
                <a:solidFill>
                  <a:srgbClr val="0070C0"/>
                </a:solidFill>
              </a:rPr>
              <a:t>doble guion bajo</a:t>
            </a:r>
            <a:r>
              <a:rPr lang="es-E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  <a:endParaRPr lang="es-E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167C1CD6-012D-4A74-AB0F-EF0E5F969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9278" y="4221088"/>
            <a:ext cx="5378622" cy="2105026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5CA59DD9-3BE3-4F8D-938F-FF78B6BDFF41}"/>
              </a:ext>
            </a:extLst>
          </p:cNvPr>
          <p:cNvSpPr txBox="1"/>
          <p:nvPr/>
        </p:nvSpPr>
        <p:spPr>
          <a:xfrm>
            <a:off x="441945" y="4149080"/>
            <a:ext cx="1997631" cy="1870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s-E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 resultado cambia, ya que no se puede acceder al atributo </a:t>
            </a:r>
            <a:r>
              <a:rPr lang="es-ES" sz="1400" b="1" dirty="0">
                <a:solidFill>
                  <a:schemeClr val="accent6">
                    <a:lumMod val="75000"/>
                  </a:schemeClr>
                </a:solidFill>
              </a:rPr>
              <a:t>__contador</a:t>
            </a:r>
            <a:r>
              <a:rPr lang="es-E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fuera de la clase. Este identificador se ha sustituido por </a:t>
            </a:r>
            <a:r>
              <a:rPr lang="es-ES" sz="1400" b="1" dirty="0">
                <a:solidFill>
                  <a:schemeClr val="accent6">
                    <a:lumMod val="75000"/>
                  </a:schemeClr>
                </a:solidFill>
              </a:rPr>
              <a:t>_B__contador</a:t>
            </a:r>
            <a:r>
              <a:rPr lang="es-E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lang="es-E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A56D7C7D-3DA4-4097-88C7-D99004D02C66}"/>
              </a:ext>
            </a:extLst>
          </p:cNvPr>
          <p:cNvSpPr/>
          <p:nvPr/>
        </p:nvSpPr>
        <p:spPr>
          <a:xfrm>
            <a:off x="2843808" y="5157192"/>
            <a:ext cx="5394092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79863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CE40F4F-E91D-42FD-B661-EAA8BC18ABC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-27383"/>
            <a:ext cx="9144000" cy="1008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Encapsulación : atributos privados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73C42C7-85D9-4D9B-B558-211E4812A4BA}"/>
              </a:ext>
            </a:extLst>
          </p:cNvPr>
          <p:cNvSpPr txBox="1"/>
          <p:nvPr/>
        </p:nvSpPr>
        <p:spPr>
          <a:xfrm>
            <a:off x="467544" y="1071605"/>
            <a:ext cx="7992888" cy="1989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Los </a:t>
            </a:r>
            <a:r>
              <a:rPr lang="es-ES" sz="1600" b="1" dirty="0">
                <a:solidFill>
                  <a:srgbClr val="0070C0"/>
                </a:solidFill>
              </a:rPr>
              <a:t>atributos de clase 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pueden ocultarse para que no sean accedidos desde fuera de la definición de una clase. Para ello, es necesario nombrar los atributos con un prefijo de doble subrayado: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</a:rPr>
              <a:t>__atributo</a:t>
            </a:r>
          </a:p>
          <a:p>
            <a:pPr algn="just">
              <a:lnSpc>
                <a:spcPts val="2500"/>
              </a:lnSpc>
            </a:pPr>
            <a:endParaRPr lang="es-ES" sz="1600" b="1" dirty="0">
              <a:solidFill>
                <a:schemeClr val="accent6">
                  <a:lumMod val="75000"/>
                </a:schemeClr>
              </a:solidFill>
            </a:endParaRPr>
          </a:p>
          <a:p>
            <a:pPr algn="just">
              <a:lnSpc>
                <a:spcPts val="2500"/>
              </a:lnSpc>
            </a:pPr>
            <a:endParaRPr lang="es-ES" sz="1600" b="1" dirty="0">
              <a:solidFill>
                <a:schemeClr val="accent6">
                  <a:lumMod val="75000"/>
                </a:schemeClr>
              </a:solidFill>
            </a:endParaRPr>
          </a:p>
          <a:p>
            <a:pPr algn="just">
              <a:lnSpc>
                <a:spcPts val="2500"/>
              </a:lnSpc>
            </a:pPr>
            <a:endParaRPr lang="es-ES" sz="16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288C872-2009-4CB2-825E-4AA3461EF3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2348880"/>
            <a:ext cx="4887566" cy="3647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Factura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__tasa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200" dirty="0">
                <a:solidFill>
                  <a:srgbClr val="00008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__init__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unidad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precio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unidad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unidad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precio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precio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a_pagar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200" dirty="0">
                <a:solidFill>
                  <a:srgbClr val="66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total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unidad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precio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impuesto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total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Factura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__tasa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200" dirty="0">
                <a:solidFill>
                  <a:srgbClr val="00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total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impuesto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sz="12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compra1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Factura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110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compra1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unidad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compra1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precio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compra1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a_pagar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(),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"euros"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compra1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_Factura__tasa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88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# 19</a:t>
            </a:r>
            <a:endParaRPr kumimoji="0" lang="es-MX" altLang="es-MX" sz="12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9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711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CE40F4F-E91D-42FD-B661-EAA8BC18ABC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-27383"/>
            <a:ext cx="9144000" cy="1008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Métodos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get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, set y del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73C42C7-85D9-4D9B-B558-211E4812A4BA}"/>
              </a:ext>
            </a:extLst>
          </p:cNvPr>
          <p:cNvSpPr txBox="1"/>
          <p:nvPr/>
        </p:nvSpPr>
        <p:spPr>
          <a:xfrm>
            <a:off x="467544" y="1071605"/>
            <a:ext cx="8208912" cy="707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Cuando se trabajan con clases es recomendable crear </a:t>
            </a:r>
            <a:r>
              <a:rPr lang="es-ES" sz="1600" b="1" dirty="0">
                <a:solidFill>
                  <a:srgbClr val="0070C0"/>
                </a:solidFill>
              </a:rPr>
              <a:t>atributos ocultos 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y utilizar </a:t>
            </a:r>
            <a:r>
              <a:rPr lang="es-ES" sz="1600" b="1" dirty="0">
                <a:solidFill>
                  <a:srgbClr val="0070C0"/>
                </a:solidFill>
              </a:rPr>
              <a:t>métodos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específicos para acceder a los mismos para establecer, obtener o borrar la información:</a:t>
            </a:r>
            <a:endParaRPr lang="es-ES" sz="16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6F3A83B-2FA4-4582-BCE0-C9174424F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970545"/>
            <a:ext cx="3586201" cy="4293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426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79756" y="5726429"/>
            <a:ext cx="423163" cy="2240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25400"/>
            <a:fld id="{81D60167-4931-47E6-BA6A-407CBD079E47}" type="slidenum">
              <a:rPr spc="-10" dirty="0">
                <a:solidFill>
                  <a:srgbClr val="18BAD4"/>
                </a:solidFill>
                <a:latin typeface="Calibri"/>
                <a:cs typeface="Calibri"/>
              </a:rPr>
              <a:pPr marL="25400"/>
              <a:t>12</a:t>
            </a:fld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8252</TotalTime>
  <Words>1007</Words>
  <Application>Microsoft Office PowerPoint</Application>
  <PresentationFormat>Presentación en pantalla (4:3)</PresentationFormat>
  <Paragraphs>65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0" baseType="lpstr">
      <vt:lpstr>Arial</vt:lpstr>
      <vt:lpstr>Arial Unicode MS</vt:lpstr>
      <vt:lpstr>Calibri</vt:lpstr>
      <vt:lpstr>Courier New</vt:lpstr>
      <vt:lpstr>Dom Casual</vt:lpstr>
      <vt:lpstr>Google Sans Flex</vt:lpstr>
      <vt:lpstr>Google Sans Mono</vt:lpstr>
      <vt:lpstr>Tema de Office</vt:lpstr>
      <vt:lpstr>TI 3008 C Analítica de datos y herramientas de inteligencia artificial</vt:lpstr>
      <vt:lpstr>Encapsulación</vt:lpstr>
      <vt:lpstr>Importancia de la encapsulación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229</cp:revision>
  <dcterms:created xsi:type="dcterms:W3CDTF">2013-06-24T20:15:42Z</dcterms:created>
  <dcterms:modified xsi:type="dcterms:W3CDTF">2026-08-11T16:31:06Z</dcterms:modified>
</cp:coreProperties>
</file>