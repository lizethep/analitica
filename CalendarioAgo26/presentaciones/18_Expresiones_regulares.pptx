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93" r:id="rId2"/>
    <p:sldId id="294" r:id="rId3"/>
    <p:sldId id="724" r:id="rId4"/>
    <p:sldId id="619" r:id="rId5"/>
    <p:sldId id="658" r:id="rId6"/>
    <p:sldId id="659" r:id="rId7"/>
    <p:sldId id="660" r:id="rId8"/>
    <p:sldId id="661" r:id="rId9"/>
    <p:sldId id="662" r:id="rId10"/>
    <p:sldId id="663" r:id="rId11"/>
    <p:sldId id="669" r:id="rId12"/>
    <p:sldId id="666" r:id="rId13"/>
    <p:sldId id="667" r:id="rId14"/>
    <p:sldId id="668" r:id="rId15"/>
    <p:sldId id="670" r:id="rId16"/>
    <p:sldId id="671" r:id="rId17"/>
    <p:sldId id="672" r:id="rId18"/>
    <p:sldId id="673" r:id="rId19"/>
    <p:sldId id="675" r:id="rId20"/>
    <p:sldId id="676" r:id="rId21"/>
    <p:sldId id="699" r:id="rId22"/>
    <p:sldId id="697" r:id="rId23"/>
    <p:sldId id="677" r:id="rId24"/>
    <p:sldId id="678" r:id="rId25"/>
    <p:sldId id="727" r:id="rId26"/>
    <p:sldId id="702" r:id="rId27"/>
    <p:sldId id="704" r:id="rId28"/>
    <p:sldId id="705" r:id="rId29"/>
    <p:sldId id="706" r:id="rId30"/>
    <p:sldId id="707" r:id="rId31"/>
    <p:sldId id="680" r:id="rId32"/>
    <p:sldId id="681" r:id="rId33"/>
    <p:sldId id="682" r:id="rId34"/>
    <p:sldId id="708" r:id="rId35"/>
    <p:sldId id="709" r:id="rId36"/>
    <p:sldId id="710" r:id="rId37"/>
    <p:sldId id="711" r:id="rId38"/>
    <p:sldId id="712" r:id="rId39"/>
    <p:sldId id="713" r:id="rId40"/>
    <p:sldId id="688" r:id="rId41"/>
    <p:sldId id="687" r:id="rId42"/>
    <p:sldId id="674" r:id="rId43"/>
    <p:sldId id="730" r:id="rId44"/>
    <p:sldId id="689" r:id="rId45"/>
    <p:sldId id="729" r:id="rId46"/>
    <p:sldId id="731" r:id="rId47"/>
    <p:sldId id="733" r:id="rId48"/>
    <p:sldId id="728" r:id="rId49"/>
    <p:sldId id="732" r:id="rId50"/>
    <p:sldId id="282" r:id="rId51"/>
  </p:sldIdLst>
  <p:sldSz cx="9144000" cy="6858000" type="screen4x3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244E6-25D3-48DC-A0B2-97179955C57B}" v="1" dt="2026-08-11T16:25:08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45" autoAdjust="0"/>
    <p:restoredTop sz="94660"/>
  </p:normalViewPr>
  <p:slideViewPr>
    <p:cSldViewPr>
      <p:cViewPr varScale="1">
        <p:scale>
          <a:sx n="124" d="100"/>
          <a:sy n="124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redo custSel addSld delSld modSld">
      <pc:chgData name="Lizethe Pérez Fuertes" userId="4ae9ef87-2a7d-42f8-8dfa-0a501a9e2ff4" providerId="ADAL" clId="{FDDD45CB-1330-4033-A842-3D2746AFF7C7}" dt="2026-08-11T16:25:08.618" v="752"/>
      <pc:docMkLst>
        <pc:docMk/>
      </pc:docMkLst>
      <pc:sldChg chg="modSp">
        <pc:chgData name="Lizethe Pérez Fuertes" userId="4ae9ef87-2a7d-42f8-8dfa-0a501a9e2ff4" providerId="ADAL" clId="{FDDD45CB-1330-4033-A842-3D2746AFF7C7}" dt="2026-08-11T16:25:08.618" v="752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25:08.618" v="752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52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05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9228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431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209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228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6926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8968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4021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3525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8381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5490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8825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39497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1544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555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2174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3030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240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105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38750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132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007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8984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1894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8948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7768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62648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1393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8916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95967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0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59837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85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64235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7899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172182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24525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188972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5058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3278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6383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35764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50282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7016-EEED-FE09-A227-EB57ECD5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A1AADA-DA34-5FB7-CC81-AFAA6575F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FD9BC3-CD39-DDBA-2403-B6EA36DBA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6E8DAB-5CF4-4F81-DCE5-84903A596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27242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4DBB-6712-7088-3196-3C9D088F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F2501F-CBFF-BA2D-95FC-7C89E3B0E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74A151-5FB1-89C3-6E9B-A0CD4F6FF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11B26-6776-89AF-C695-AC08AB4D6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32864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930973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7FAB-C5A8-64C2-196E-80A48C3D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1A35E6-5E5A-1CD4-39B8-B4A1502BF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B782C1-4058-EEF3-CA72-F185CC8E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A9593D-4543-51C8-094A-CBFB694F7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146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Expresiones regulares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751276-9C39-48C3-BB56-EE44BB23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44" y="3429000"/>
            <a:ext cx="2520280" cy="252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984736"/>
            <a:ext cx="792088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este tema vamos a ver como extraer información de texto usando las expresiones regulares.</a:t>
            </a:r>
          </a:p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Son secuencias de caracteres que especifican un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patrón de búsqueda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una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fórmula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buscar dentro de texto ciertas coincidencias.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patrones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utilizados para encontrar una determinada combinación de caracteres dentro de una cadena de texto, gracias a ellos se puede extraer información importante.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703" y="4509120"/>
            <a:ext cx="3312368" cy="19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97047"/>
            <a:ext cx="82296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usan para buscar, contar, reemplazar y / o validar ciertos patrones de texto.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4437112"/>
            <a:ext cx="3136863" cy="18805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D0AD5D0-43D5-4BC6-9C37-F84242F4C6A5}"/>
              </a:ext>
            </a:extLst>
          </p:cNvPr>
          <p:cNvSpPr txBox="1"/>
          <p:nvPr/>
        </p:nvSpPr>
        <p:spPr>
          <a:xfrm>
            <a:off x="456970" y="2468287"/>
            <a:ext cx="7787208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Ejemplos: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Vali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dar un correo electrónico, eliminar espacios dobles.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Extraer información como correos, teléfonos, fechas, etc.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018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628800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Para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usar las expresiones regulares se necesita: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expresión regular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texto por manipular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490442-D824-4D4C-9C14-CB0CE573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317" y="3443412"/>
            <a:ext cx="37814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8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Los correos son distintos, cómo podríamos crear una fórmula para extraer todos los correos o modificar la información.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1. Importar el módulo re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40" y="4622159"/>
            <a:ext cx="4508478" cy="18033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6D3B26-D694-4172-92C7-2ED12BBC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0" y="2416074"/>
            <a:ext cx="4005234" cy="38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5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nos van a permitir crear fórmulas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No solamente podemos extraer información de los correos, sino los teléfonos o las páginas web.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229200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5177FB-1E25-46AB-B18D-97422353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C3CADF-01C9-4D68-B047-3F6B0684E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56636"/>
            <a:ext cx="4975963" cy="29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8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359314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 solamente nos sirven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sino también son importantes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validar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Por ejemplo: Un correo electrónico.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17CB20-168D-4CD7-B843-B6E56618F22B}"/>
              </a:ext>
            </a:extLst>
          </p:cNvPr>
          <p:cNvSpPr txBox="1"/>
          <p:nvPr/>
        </p:nvSpPr>
        <p:spPr>
          <a:xfrm>
            <a:off x="436712" y="3012347"/>
            <a:ext cx="7920880" cy="169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Página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validar 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me permite escribirlas y validar las coincidencias que encuentra:</a:t>
            </a:r>
          </a:p>
          <a:p>
            <a:pPr algn="just">
              <a:lnSpc>
                <a:spcPts val="3000"/>
              </a:lnSpc>
            </a:pP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lnSpc>
                <a:spcPts val="3000"/>
              </a:lnSpc>
            </a:pPr>
            <a:r>
              <a:rPr lang="es-ES" sz="4800" b="1" i="0" dirty="0">
                <a:solidFill>
                  <a:srgbClr val="FF0000"/>
                </a:solidFill>
                <a:effectLst/>
              </a:rPr>
              <a:t>regexr.com</a:t>
            </a:r>
            <a:endParaRPr lang="es-ES" sz="4800" b="1" dirty="0">
              <a:solidFill>
                <a:srgbClr val="FF0000"/>
              </a:solidFill>
            </a:endParaRPr>
          </a:p>
        </p:txBody>
      </p:sp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0499EB20-B8E1-4BA5-A984-540C19B331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013176"/>
            <a:ext cx="2816281" cy="11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funcionan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511848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expresiones regulares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son una fórmula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 a buscar dentro de nuestro texto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coincidencias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Pero ¿q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ué es una coincidencia?, que el texto de arriba sea el mismo que el de abajo.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389575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5C39885-7E35-4C62-8348-627189BD2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2" y="3534069"/>
            <a:ext cx="4975963" cy="298847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0600DD-A63A-43FF-B42B-81833C07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3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544724" y="1516224"/>
            <a:ext cx="7704856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todas las coincidencias de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Encuentra 7 coincidencias.</a:t>
            </a:r>
          </a:p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E9F0E5-8E53-4587-B830-FE0FFE2C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2734250"/>
            <a:ext cx="52101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7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75302" y="1412776"/>
            <a:ext cx="7843700" cy="2064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Laura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la letra L seguida de la letra a, luego la letra u , r y a. Encuentra 1 coincidencia. Busca carácter por carácter.  </a:t>
            </a:r>
          </a:p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rgbClr val="FF0000"/>
                </a:solidFill>
              </a:rPr>
              <a:t>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una bandera, estamos haciendo una búsqueda global. Si le quitamos el global, solamente busca la primera coincidencia.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47478F-7902-42C7-BA63-E6D10B43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827" y="3630331"/>
            <a:ext cx="5200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5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331640" y="1412776"/>
            <a:ext cx="5832648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.    </a:t>
            </a:r>
            <a:r>
              <a:rPr lang="es-MX" sz="2000" dirty="0"/>
              <a:t>     Cualquier </a:t>
            </a:r>
            <a:r>
              <a:rPr lang="es-MX" sz="2000" dirty="0" err="1"/>
              <a:t>caracter</a:t>
            </a:r>
            <a:r>
              <a:rPr lang="es-MX" sz="2000" dirty="0"/>
              <a:t> excepto nueva línea.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No 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 </a:t>
            </a:r>
            <a:r>
              <a:rPr lang="es-MX" sz="2000" dirty="0" err="1"/>
              <a:t>Caracter</a:t>
            </a:r>
            <a:r>
              <a:rPr lang="es-MX" sz="2000" dirty="0"/>
              <a:t> de palabra (a-z, A-Z, 0-9, _)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</a:t>
            </a:r>
            <a:r>
              <a:rPr lang="es-MX" sz="2000" dirty="0"/>
              <a:t>No </a:t>
            </a:r>
            <a:r>
              <a:rPr lang="es-MX" sz="2000" dirty="0" err="1"/>
              <a:t>caracter</a:t>
            </a:r>
            <a:r>
              <a:rPr lang="es-MX" sz="2000" dirty="0"/>
              <a:t> de palabra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No 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    </a:t>
            </a:r>
            <a:r>
              <a:rPr lang="es-MX" sz="2000" dirty="0"/>
              <a:t>    Cancela caracteres especiales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^       Inicio de una cadena de caracteres (</a:t>
            </a:r>
            <a:r>
              <a:rPr lang="es-ES" sz="2000" dirty="0" err="1"/>
              <a:t>string</a:t>
            </a:r>
            <a:r>
              <a:rPr lang="es-ES" sz="20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$       Fin de una cadena de caracteres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97664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Dígitos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(0 – 9)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2243DEC-9901-4226-88E7-92DBBCDD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32" y="2095538"/>
            <a:ext cx="33718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Todo lo que no sea un número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CAE1A2-3629-40AA-BCD3-FD3714B9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2141208"/>
            <a:ext cx="33623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5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69311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 (a-z, A-Z, 0-9, _)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2A1372-DE34-4526-8859-7C14B49FDEAB}"/>
              </a:ext>
            </a:extLst>
          </p:cNvPr>
          <p:cNvSpPr txBox="1"/>
          <p:nvPr/>
        </p:nvSpPr>
        <p:spPr>
          <a:xfrm>
            <a:off x="611559" y="1480402"/>
            <a:ext cx="770485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de la a-z, A-Z, 0-9 y guion bajo.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0247BF-3C70-4723-96CF-AA6040FCB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382" y="2418601"/>
            <a:ext cx="34099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2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No es un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BF9A01-C822-4B3C-B1FC-D96936B24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2016818"/>
            <a:ext cx="33528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58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Espacios, tabulaciones y nuevas líneas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3D1A73-A318-4FF7-86A6-9AC5ACA8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1997548"/>
            <a:ext cx="3352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33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103235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No espacio en blanco,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tab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y nueva línea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FEBDD6-ADBE-4366-B20F-A276BF4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7" y="2098738"/>
            <a:ext cx="34004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26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683568" y="1021599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994782-EE1B-4151-8148-6274E704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29" y="2480665"/>
            <a:ext cx="3400425" cy="36290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0C874C5-FEE0-42E3-8162-FD5DCB7B589D}"/>
              </a:ext>
            </a:extLst>
          </p:cNvPr>
          <p:cNvSpPr txBox="1"/>
          <p:nvPr/>
        </p:nvSpPr>
        <p:spPr>
          <a:xfrm>
            <a:off x="827584" y="1751008"/>
            <a:ext cx="7560840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  <a:spcAft>
                <a:spcPts val="600"/>
              </a:spcAft>
            </a:pPr>
            <a:r>
              <a:rPr lang="es-ES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herit"/>
              </a:rPr>
              <a:t>Si quiero encontrar un punto en el texto. Cancela carácter especial punto.</a:t>
            </a:r>
          </a:p>
        </p:txBody>
      </p:sp>
    </p:spTree>
    <p:extLst>
      <p:ext uri="{BB962C8B-B14F-4D97-AF65-F5344CB8AC3E}">
        <p14:creationId xmlns:p14="http://schemas.microsoft.com/office/powerpoint/2010/main" val="4066526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B1F17D-47CA-45E4-8835-79FBA0AA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68" y="3610691"/>
            <a:ext cx="3400425" cy="27622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70485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encontrar una diagonal.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Casi todos los símbolos le tenemos que poner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backslash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ya que son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metacaracteres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o símbolos especiales. Ya que los símbolos significan algo.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1187625" y="962324"/>
            <a:ext cx="640871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</p:spTree>
    <p:extLst>
      <p:ext uri="{BB962C8B-B14F-4D97-AF65-F5344CB8AC3E}">
        <p14:creationId xmlns:p14="http://schemas.microsoft.com/office/powerpoint/2010/main" val="3176738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texto multilínea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Que lea cada línea por separado.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4A6828-6F08-192B-9770-F2E3E2BA2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42" y="3179858"/>
            <a:ext cx="7601947" cy="313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5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11560" y="152970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empiece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 la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palabra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^ ) Inicio de una cadena de caracteres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2A6C1B-37ED-6724-052E-CE5BEC60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285512"/>
            <a:ext cx="3384376" cy="39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92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03942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todos los números telefónicos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 o guion, otros  tres dígitos, espacio o guion, luego dos y dos.  El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punto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involucra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cualquier carácter excepto salto de línea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75F2CF-5420-415C-8BD4-AE82F3D5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982" y="3082970"/>
            <a:ext cx="37147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0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340768"/>
            <a:ext cx="6984776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Estos símbolos representan cuantas veces se repiten los caracteres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*       	0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+       	1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?       	0 o 1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{3}    	Numero exacto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{n,}   	Numero n+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{3,4}	Rango de números (Mínimo, Máximo)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348202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034670" y="1795522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683568" y="1016132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* ) Cero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0CC9FD-A783-46ED-B58D-2503D9F8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5" y="2680429"/>
            <a:ext cx="70580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8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+ ) Una o más veces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4B0524A-DD8A-4B87-9B8F-4EC23FD8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06" y="2366714"/>
            <a:ext cx="70104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5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1 vez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? )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0 o 1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vez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8C3B9E-C7D4-436E-99E4-D5845B9C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385496"/>
            <a:ext cx="70008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31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la cantidad exacta de elementos. Va a identificar a la palabra </a:t>
            </a:r>
            <a:r>
              <a:rPr lang="es-MX" sz="2000" b="1" dirty="0"/>
              <a:t>Python</a:t>
            </a:r>
            <a:r>
              <a:rPr lang="es-MX" sz="2000" dirty="0"/>
              <a:t> </a:t>
            </a:r>
            <a:r>
              <a:rPr lang="es-MX" sz="2000" b="1" dirty="0"/>
              <a:t>mas dos signos de admiración</a:t>
            </a:r>
            <a:r>
              <a:rPr lang="es-MX" sz="20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{n} Número n exacto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28AF7B-C851-4BDF-91DF-93BD84A7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852720"/>
            <a:ext cx="69818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21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n o más elementos del </a:t>
            </a:r>
            <a:r>
              <a:rPr lang="es-MX" sz="2000" dirty="0" err="1"/>
              <a:t>caracter</a:t>
            </a:r>
            <a:r>
              <a:rPr lang="es-MX" sz="2000" dirty="0"/>
              <a:t>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{n, } Número n o más elementos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3BE028-E4CF-4D2B-A83C-55486CB4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49" y="2420888"/>
            <a:ext cx="6708652" cy="26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11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Siempre va a ir por la mayor cantidad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{min,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max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}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Rango de números mínimo y máximo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7F19D-6B8D-4F0F-AAB5-5924AAA3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92896"/>
            <a:ext cx="69627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21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2661" y="1075500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Extraer los nombres del directorio con dos textos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77336" y="1712756"/>
            <a:ext cx="36004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digito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44D66E-F87F-4BA3-AC5F-4FB04A58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101" y="2208333"/>
            <a:ext cx="3505200" cy="37147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5" y="4323952"/>
            <a:ext cx="350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871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y espacio.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432048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tabulador o salto de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39641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veces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4FF082-604B-410E-A8FD-03CEBE4E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703" y="2650609"/>
            <a:ext cx="33909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7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o uno.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350152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43961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algn="just">
              <a:lnSpc>
                <a:spcPts val="24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ts val="24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\s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Opcional espacio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195915-0514-0D81-0EAD-E41B395DF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700808"/>
            <a:ext cx="3667637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7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187624" y="2046744"/>
            <a:ext cx="7056784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[]</a:t>
            </a:r>
            <a:r>
              <a:rPr lang="es-MX" sz="2000" dirty="0"/>
              <a:t>	Encuentra caracteres en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[^ ]</a:t>
            </a:r>
            <a:r>
              <a:rPr lang="es-MX" sz="2000" dirty="0"/>
              <a:t>	Encuentra caracteres que no están dentro de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|</a:t>
            </a:r>
            <a:r>
              <a:rPr lang="es-MX" sz="2000" dirty="0"/>
              <a:t>	Condicional O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()	</a:t>
            </a:r>
            <a:r>
              <a:rPr lang="es-MX" sz="2000" dirty="0"/>
              <a:t>Grupos</a:t>
            </a:r>
          </a:p>
          <a:p>
            <a:pPr>
              <a:lnSpc>
                <a:spcPct val="150000"/>
              </a:lnSpc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4213194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los números telefónicos que comiencen con 1 o 2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 Grupos 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36162E-AB01-4082-9DCC-64CA926D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61227"/>
            <a:ext cx="68580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02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114351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los números telefónicos que comiencen con 1 o 3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2FCA3F-B241-48B1-887C-80AB7500A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96952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57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las letras y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3C4AD9-FDC2-4B87-A643-2E5D785B0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53" y="2612553"/>
            <a:ext cx="68770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25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letras minúsculas.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no están dentro de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CE2F5-84A8-4D1F-BC8C-225CA58F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653670"/>
            <a:ext cx="69151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73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296806" y="1837862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que no están dentro de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06D8D1-0041-4A5B-AB89-20F25531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53669"/>
            <a:ext cx="67913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92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11663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46172" y="1340768"/>
            <a:ext cx="785165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[0-5]+	</a:t>
            </a:r>
            <a:r>
              <a:rPr lang="es-MX" sz="2000" dirty="0"/>
              <a:t>En los grupos </a:t>
            </a:r>
            <a:r>
              <a:rPr lang="es-MX" sz="2000" b="1" dirty="0"/>
              <a:t>no </a:t>
            </a:r>
            <a:r>
              <a:rPr lang="es-MX" sz="2000" dirty="0"/>
              <a:t>es necesario el uso del </a:t>
            </a:r>
            <a:r>
              <a:rPr lang="es-MX" sz="2000" b="1" dirty="0" err="1"/>
              <a:t>slash</a:t>
            </a:r>
            <a:r>
              <a:rPr lang="es-MX" sz="2000" b="1" dirty="0"/>
              <a:t> \  </a:t>
            </a:r>
            <a:r>
              <a:rPr lang="es-MX" sz="2000" dirty="0"/>
              <a:t>para los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		</a:t>
            </a:r>
            <a:r>
              <a:rPr lang="es-MX" sz="2000" dirty="0" err="1"/>
              <a:t>metacaracteres</a:t>
            </a:r>
            <a:r>
              <a:rPr lang="es-MX" sz="2000" dirty="0"/>
              <a:t> como el punto.</a:t>
            </a: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Encuentra caracteres del abecedario en mayúsculas o 		minúsculas, puntos, arrobas.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B79202-DD0E-4565-BE9C-63EA2584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936" y="3636481"/>
            <a:ext cx="33147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65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96243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28866" y="1124744"/>
            <a:ext cx="7886268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[^a-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No caracteres del abecedario en mayúsculas o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 		minúsculas, puntos, arrobas.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CC91A83-4D82-4653-B180-EA64A134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2250667"/>
            <a:ext cx="42576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13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539552" y="1346051"/>
            <a:ext cx="825175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con espacio, punto o guion.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549968" y="185234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espacio, punto o guion, otros tres dígitos, espacio, punt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guion, luego dos y dos.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42F124-35ED-4AE6-AEB6-DC1CB4FBEC4A}"/>
              </a:ext>
            </a:extLst>
          </p:cNvPr>
          <p:cNvSpPr txBox="1"/>
          <p:nvPr/>
        </p:nvSpPr>
        <p:spPr>
          <a:xfrm>
            <a:off x="2116379" y="748792"/>
            <a:ext cx="70276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0FAFC4F-C677-08E6-65FA-6C0A7E64C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742" y="2924944"/>
            <a:ext cx="483937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94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291" y="1147056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haciendo uso de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grupos y cuantificadores.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40291" y="2611441"/>
            <a:ext cx="2995174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Tres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os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os dígitos.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066C06-55B5-2780-069C-E34F3460A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63" y="2195736"/>
            <a:ext cx="378195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0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88809" y="34415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2051720" y="930724"/>
            <a:ext cx="836327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51C6FC-C7B4-4F3A-BEE8-8127DCEAF665}"/>
              </a:ext>
            </a:extLst>
          </p:cNvPr>
          <p:cNvSpPr txBox="1"/>
          <p:nvPr/>
        </p:nvSpPr>
        <p:spPr>
          <a:xfrm>
            <a:off x="388809" y="1582957"/>
            <a:ext cx="836327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Ejemplo 3: </a:t>
            </a:r>
            <a:r>
              <a:rPr lang="es-MX" sz="2000" dirty="0"/>
              <a:t>Encuentre los número de teléfono con ladas 442 y 443 solamente.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614476-5746-4910-AE97-837BDC1DE82C}"/>
              </a:ext>
            </a:extLst>
          </p:cNvPr>
          <p:cNvSpPr txBox="1"/>
          <p:nvPr/>
        </p:nvSpPr>
        <p:spPr>
          <a:xfrm>
            <a:off x="388809" y="2140899"/>
            <a:ext cx="356235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Conjunto de caracteres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2 y 3</a:t>
            </a: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56C17C-52EF-DEF6-AFA2-44D926EB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26" y="2235190"/>
            <a:ext cx="4320480" cy="42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20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289721" y="107208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A94031-3EAA-2C65-1CCE-6F3D46DA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772816"/>
            <a:ext cx="4320480" cy="46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8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CC9C-F11C-B518-43C7-7BA2D78F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6D0606C8-CC73-B373-D2A7-D70C6CEBD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4D84E4-8200-5BB3-7E7F-1B2720D5E52C}"/>
              </a:ext>
            </a:extLst>
          </p:cNvPr>
          <p:cNvSpPr txBox="1"/>
          <p:nvPr/>
        </p:nvSpPr>
        <p:spPr>
          <a:xfrm>
            <a:off x="289721" y="107208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EF0D9B-9613-E1C5-F39D-B4AD7AD60D6A}"/>
              </a:ext>
            </a:extLst>
          </p:cNvPr>
          <p:cNvSpPr txBox="1"/>
          <p:nvPr/>
        </p:nvSpPr>
        <p:spPr>
          <a:xfrm>
            <a:off x="5292080" y="1052736"/>
            <a:ext cx="3562199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[a-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zA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-Z]+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o más letras.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1A5C34-9DA4-2324-CA7E-0BFBAD89B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34" y="1772815"/>
            <a:ext cx="5046938" cy="458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044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6943-6528-EFAE-6DA3-C2CC9629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CB38F4C3-E000-F6DD-CC93-47C9BF34B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0582F6-D5EC-1CFC-EB01-59FE60FC7F5E}"/>
              </a:ext>
            </a:extLst>
          </p:cNvPr>
          <p:cNvSpPr txBox="1"/>
          <p:nvPr/>
        </p:nvSpPr>
        <p:spPr>
          <a:xfrm>
            <a:off x="302981" y="915848"/>
            <a:ext cx="8335698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Extraer los nombres del directorio con dos textos con acentos y que termine con cero o un espacio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20D50E-303B-CA1C-3EE2-88FBFC9832C1}"/>
              </a:ext>
            </a:extLst>
          </p:cNvPr>
          <p:cNvSpPr txBox="1"/>
          <p:nvPr/>
        </p:nvSpPr>
        <p:spPr>
          <a:xfrm>
            <a:off x="302981" y="2243193"/>
            <a:ext cx="3374315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[a-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zA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Zá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úÁ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-Ú]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becedario en minúsculas y mayúsculas y vocales acentuadas en mayúsculas y minúsculas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48AE74-7006-399F-BE61-A25F53E14F30}"/>
              </a:ext>
            </a:extLst>
          </p:cNvPr>
          <p:cNvSpPr txBox="1"/>
          <p:nvPr/>
        </p:nvSpPr>
        <p:spPr>
          <a:xfrm>
            <a:off x="279870" y="1782584"/>
            <a:ext cx="350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Usar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TextoAcentos.txt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24F6E2-DF85-2D14-541E-16B8BF313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670" y="1841587"/>
            <a:ext cx="4820323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43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regex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17609" y="2959830"/>
            <a:ext cx="2520279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817609" y="1349150"/>
            <a:ext cx="7642824" cy="150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lenguaje de programación Python, en su librería estándar, nos proporciona el modulo </a:t>
            </a:r>
            <a:r>
              <a:rPr lang="es-ES" sz="1800" b="1" dirty="0" err="1">
                <a:solidFill>
                  <a:srgbClr val="FF0000"/>
                </a:solidFill>
              </a:rPr>
              <a:t>regex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el cual es utilizado para trabajar con expresiones regulares.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 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(patrón, texto)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83E9F-5AE3-8E90-1C0E-62D7DC7EE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99" y="3567414"/>
            <a:ext cx="6524202" cy="256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944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70A6-9C97-7E89-6B43-A931DB89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7BE957BD-1108-6677-0161-6A5B83B65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regex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1A6801-6C8C-D007-4366-6A294226C510}"/>
              </a:ext>
            </a:extLst>
          </p:cNvPr>
          <p:cNvSpPr txBox="1"/>
          <p:nvPr/>
        </p:nvSpPr>
        <p:spPr>
          <a:xfrm>
            <a:off x="827584" y="1484784"/>
            <a:ext cx="76248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b="1" i="0">
                <a:solidFill>
                  <a:srgbClr val="000000"/>
                </a:solidFill>
                <a:effectLst/>
                <a:latin typeface="Poppins-Regular"/>
              </a:defRPr>
            </a:lvl1pPr>
          </a:lstStyle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Raw 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string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: 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Utilizamos una cadena "raw" (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r"cadena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"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) para evitar problemas con los caracteres de escape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\) 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en las expresiones regulares </a:t>
            </a:r>
            <a: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endParaRPr lang="es-MX" b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  <a:p>
            <a:endParaRPr lang="es-MX" b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Ejemplo: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9844EA-464A-B92D-FFF7-A3303FD2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886844"/>
            <a:ext cx="603016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44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50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11317</TotalTime>
  <Words>1749</Words>
  <Application>Microsoft Office PowerPoint</Application>
  <PresentationFormat>Presentación en pantalla (4:3)</PresentationFormat>
  <Paragraphs>250</Paragraphs>
  <Slides>50</Slides>
  <Notes>48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5" baseType="lpstr">
      <vt:lpstr>Arial</vt:lpstr>
      <vt:lpstr>Calibri</vt:lpstr>
      <vt:lpstr>Dom Casual</vt:lpstr>
      <vt:lpstr>inherit</vt:lpstr>
      <vt:lpstr>Tema de Office</vt:lpstr>
      <vt:lpstr>TI 3008 C Analítica de datos y herramientas de inteligencia artificial</vt:lpstr>
      <vt:lpstr>¿Qué son las expresiones regulares?</vt:lpstr>
      <vt:lpstr>¿Qué son las expresiones regulares?</vt:lpstr>
      <vt:lpstr>¿Cómo usar las expresiones regulares?</vt:lpstr>
      <vt:lpstr>¿Qué pasa si quiero extraer de un directorio de 100 personas sus correos?</vt:lpstr>
      <vt:lpstr>¿Qué pasa si quiero extraer de un directorio de 100 personas sus correos?</vt:lpstr>
      <vt:lpstr>Expresiones regulares</vt:lpstr>
      <vt:lpstr>¿Cómo funcionan las expresiones regulares?</vt:lpstr>
      <vt:lpstr>Expresiones regulares</vt:lpstr>
      <vt:lpstr>Expresiones regulares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Expresión regular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Expresión regular</vt:lpstr>
      <vt:lpstr>Expresión regular</vt:lpstr>
      <vt:lpstr>Expresión regular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Expresión regular</vt:lpstr>
      <vt:lpstr>Expresión regular</vt:lpstr>
      <vt:lpstr>Expresión regular</vt:lpstr>
      <vt:lpstr>Módulo regex</vt:lpstr>
      <vt:lpstr>Módulo regex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310</cp:revision>
  <cp:lastPrinted>2023-08-30T21:08:32Z</cp:lastPrinted>
  <dcterms:created xsi:type="dcterms:W3CDTF">2013-06-24T20:15:42Z</dcterms:created>
  <dcterms:modified xsi:type="dcterms:W3CDTF">2026-08-11T16:25:09Z</dcterms:modified>
</cp:coreProperties>
</file>