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96" r:id="rId3"/>
    <p:sldId id="258" r:id="rId4"/>
    <p:sldId id="302" r:id="rId5"/>
    <p:sldId id="305" r:id="rId6"/>
    <p:sldId id="313" r:id="rId7"/>
    <p:sldId id="314" r:id="rId8"/>
    <p:sldId id="340" r:id="rId9"/>
    <p:sldId id="306" r:id="rId10"/>
    <p:sldId id="307" r:id="rId11"/>
    <p:sldId id="351" r:id="rId12"/>
    <p:sldId id="308" r:id="rId13"/>
    <p:sldId id="320" r:id="rId14"/>
    <p:sldId id="348" r:id="rId15"/>
    <p:sldId id="272" r:id="rId16"/>
    <p:sldId id="353" r:id="rId17"/>
    <p:sldId id="271" r:id="rId18"/>
    <p:sldId id="358" r:id="rId19"/>
    <p:sldId id="285" r:id="rId20"/>
    <p:sldId id="278" r:id="rId21"/>
    <p:sldId id="354" r:id="rId22"/>
    <p:sldId id="280" r:id="rId23"/>
    <p:sldId id="355" r:id="rId24"/>
    <p:sldId id="356" r:id="rId25"/>
    <p:sldId id="282" r:id="rId2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93817" autoAdjust="0"/>
  </p:normalViewPr>
  <p:slideViewPr>
    <p:cSldViewPr>
      <p:cViewPr varScale="1">
        <p:scale>
          <a:sx n="72" d="100"/>
          <a:sy n="72" d="100"/>
        </p:scale>
        <p:origin x="1168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0T23:16:04.027" v="5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8-10T23:16:04.027" v="5" actId="20577"/>
        <pc:sldMkLst>
          <pc:docMk/>
          <pc:sldMk cId="2553855534" sldId="257"/>
        </pc:sldMkLst>
        <pc:spChg chg="mod">
          <ac:chgData name="Lizethe Pérez Fuertes" userId="4ae9ef87-2a7d-42f8-8dfa-0a501a9e2ff4" providerId="ADAL" clId="{FDDD45CB-1330-4033-A842-3D2746AFF7C7}" dt="2026-08-10T23:16:04.027" v="5" actId="20577"/>
          <ac:spMkLst>
            <pc:docMk/>
            <pc:sldMk cId="2553855534" sldId="25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068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9655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2036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5275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8522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4056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9525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9727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9324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831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0083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5115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288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1617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8821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69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6500" y="401611"/>
            <a:ext cx="7774632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</a:t>
            </a: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1680" y="2153569"/>
            <a:ext cx="5688632" cy="1131415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Componentes de un programa y tipos de datos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01664F-58D5-48C2-A927-CA0501473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1" y="3581401"/>
            <a:ext cx="2629631" cy="21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246829" y="764704"/>
            <a:ext cx="6650341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Componentes de un programa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4" name="Google Shape;80;p9">
            <a:extLst>
              <a:ext uri="{FF2B5EF4-FFF2-40B4-BE49-F238E27FC236}">
                <a16:creationId xmlns:a16="http://schemas.microsoft.com/office/drawing/2014/main" id="{13CAE77C-7B36-4A08-B548-50662F52C4FB}"/>
              </a:ext>
            </a:extLst>
          </p:cNvPr>
          <p:cNvSpPr txBox="1"/>
          <p:nvPr/>
        </p:nvSpPr>
        <p:spPr>
          <a:xfrm>
            <a:off x="1475656" y="1844824"/>
            <a:ext cx="4547530" cy="247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42950" marR="386080" indent="-742950" algn="just"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Corbel"/>
              </a:rPr>
              <a:t>Identificador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cs typeface="Calibri"/>
              <a:sym typeface="Corbel"/>
            </a:endParaRPr>
          </a:p>
          <a:p>
            <a:pPr marL="742950" marR="386080" indent="-742950" algn="just"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Corbel"/>
              </a:rPr>
              <a:t>Variable</a:t>
            </a:r>
          </a:p>
          <a:p>
            <a:pPr marL="742950" marR="386080" indent="-742950" algn="just"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Corbel"/>
              </a:rPr>
              <a:t>Instrucciones</a:t>
            </a:r>
            <a:endParaRPr sz="3200" dirty="0">
              <a:solidFill>
                <a:schemeClr val="tx1">
                  <a:lumMod val="95000"/>
                  <a:lumOff val="5000"/>
                </a:schemeClr>
              </a:solidFill>
              <a:cs typeface="Calibri"/>
              <a:sym typeface="Corbel"/>
            </a:endParaRPr>
          </a:p>
        </p:txBody>
      </p:sp>
      <p:pic>
        <p:nvPicPr>
          <p:cNvPr id="21" name="Imagen 20" descr="Imagen que contiene computadora, tabla&#10;&#10;Descripción generada automáticamente">
            <a:extLst>
              <a:ext uri="{FF2B5EF4-FFF2-40B4-BE49-F238E27FC236}">
                <a16:creationId xmlns:a16="http://schemas.microsoft.com/office/drawing/2014/main" id="{AE06E90D-55AA-442F-8ED4-8993859CC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691" y="3140968"/>
            <a:ext cx="3046803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39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14852" y="2232279"/>
            <a:ext cx="2968625" cy="584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Identificador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D9B0B627-B18B-4064-99A6-262DBD6BD641}"/>
              </a:ext>
            </a:extLst>
          </p:cNvPr>
          <p:cNvSpPr txBox="1"/>
          <p:nvPr/>
        </p:nvSpPr>
        <p:spPr>
          <a:xfrm>
            <a:off x="3131840" y="3140968"/>
            <a:ext cx="5474963" cy="21660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Son nombres dados a variables, constantes y funciones de un programa. Se forman con la combinación de letras, números y otros símbolos. El primer carácter debe ser una letra.</a:t>
            </a:r>
          </a:p>
          <a:p>
            <a:pPr marL="12700" marR="12700"/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 marR="12700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Ejemplos: PI, vocales, x, i, etc.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07979" y="2301348"/>
            <a:ext cx="2968625" cy="584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Variable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934E18D4-1BDA-486F-B009-646D20C72D25}"/>
              </a:ext>
            </a:extLst>
          </p:cNvPr>
          <p:cNvSpPr txBox="1"/>
          <p:nvPr/>
        </p:nvSpPr>
        <p:spPr>
          <a:xfrm>
            <a:off x="2907979" y="3157701"/>
            <a:ext cx="5474963" cy="26651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Es un identificador que puede cambiar durante la ejecución de un programa.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  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Ejemplos: 	x = 1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                             y = 2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		 i = 1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		x = x + y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		i = i + 1</a:t>
            </a:r>
          </a:p>
        </p:txBody>
      </p:sp>
    </p:spTree>
    <p:extLst>
      <p:ext uri="{BB962C8B-B14F-4D97-AF65-F5344CB8AC3E}">
        <p14:creationId xmlns:p14="http://schemas.microsoft.com/office/powerpoint/2010/main" val="277570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10838" y="2152840"/>
            <a:ext cx="2968625" cy="584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Instrucciones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15B23E23-7572-4A36-8696-59ED22CA6912}"/>
              </a:ext>
            </a:extLst>
          </p:cNvPr>
          <p:cNvSpPr txBox="1"/>
          <p:nvPr/>
        </p:nvSpPr>
        <p:spPr>
          <a:xfrm>
            <a:off x="2910838" y="2964670"/>
            <a:ext cx="5553404" cy="22742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Unidad ejecutable más pequeña de un programa. Las instrucciones controlan el flujo u orden de ejecución.</a:t>
            </a:r>
          </a:p>
          <a:p>
            <a:pPr marL="12700" marR="12700" algn="just"/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Ejemplos: and, break,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continue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elif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else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for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if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import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is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not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or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p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rint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return, while, with, etc.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867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11560" y="161731"/>
            <a:ext cx="8352066" cy="11155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200" b="1" dirty="0">
                <a:solidFill>
                  <a:srgbClr val="002060"/>
                </a:solidFill>
                <a:latin typeface="Calibri"/>
                <a:cs typeface="Calibri"/>
              </a:rPr>
              <a:t>Reglas y convenciones de nombres para variables y constantes </a:t>
            </a:r>
            <a:r>
              <a:rPr lang="es-MX" sz="2800" b="1" dirty="0">
                <a:solidFill>
                  <a:srgbClr val="002060"/>
                </a:solidFill>
                <a:latin typeface="Calibri"/>
                <a:cs typeface="Calibri"/>
              </a:rPr>
              <a:t>(Python)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86004" y="1542305"/>
            <a:ext cx="8458708" cy="4069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primer carácter no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puede ser un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número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 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 dígito. </a:t>
            </a:r>
          </a:p>
          <a:p>
            <a:pPr marL="355600" marR="127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Inicie con letra o guion bajo _ (El resto puede ser letra, número o guion bajo _)</a:t>
            </a:r>
          </a:p>
          <a:p>
            <a:pPr marL="469900" marR="12700" lvl="1" algn="just">
              <a:spcAft>
                <a:spcPts val="12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NOTA: Los nombres que comienzan con guion bajo (_simple, _ _o doble) se reservan para variables con significado especial.</a:t>
            </a:r>
          </a:p>
          <a:p>
            <a:pPr marL="355600" marR="127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 use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símbolos especiales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como !, @, #, $, %, etc.</a:t>
            </a:r>
          </a:p>
          <a:p>
            <a:pPr marL="355600" marR="127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nombres de las variables pueden tener la combinación de letras en minúsculas (a - z) o MAYÚSCULAS (A - Z) o dígitos (0 - 9) o un guion bajo (_). </a:t>
            </a:r>
          </a:p>
          <a:p>
            <a:pPr marL="12700" marR="12700" algn="just"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   Por ejemplo:</a:t>
            </a:r>
          </a:p>
          <a:p>
            <a:pPr marL="812800" marR="12700" lvl="1" indent="-342900" algn="just">
              <a:buFont typeface="Arial" panose="020B0604020202020204" pitchFamily="34" charset="0"/>
              <a:buChar char="•"/>
            </a:pP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snake_case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</a:p>
          <a:p>
            <a:pPr marL="812800" marR="12700" lvl="1" indent="-342900" algn="just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MACRO_CASE </a:t>
            </a:r>
          </a:p>
          <a:p>
            <a:pPr marL="812800" marR="12700" lvl="1" indent="-342900" algn="just">
              <a:buFont typeface="Arial" panose="020B0604020202020204" pitchFamily="34" charset="0"/>
              <a:buChar char="•"/>
            </a:pP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camelCase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6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10B94919-D168-4B34-AC32-ABC0FD9656D1}"/>
              </a:ext>
            </a:extLst>
          </p:cNvPr>
          <p:cNvSpPr txBox="1"/>
          <p:nvPr/>
        </p:nvSpPr>
        <p:spPr>
          <a:xfrm>
            <a:off x="286004" y="5877272"/>
            <a:ext cx="7487108" cy="4263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 pueden usarse como identificadores, las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palabras reservadas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746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56740" y="519532"/>
            <a:ext cx="7278522" cy="11155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Palabras reservadas en Python</a:t>
            </a:r>
            <a:endParaRPr lang="es-MX" sz="32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1614" y="1569119"/>
            <a:ext cx="7540826" cy="45241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Existen ciertas palabras que tienen significado especial para el intérprete de Python. Estas no pueden utilizarse para nombrar variables o constantes. 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Algunas palabras reservadas son las siguientes:</a:t>
            </a:r>
          </a:p>
          <a:p>
            <a:pPr marL="12700" marR="12700" algn="just"/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and</a:t>
            </a: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break</a:t>
            </a: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continue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elif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else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for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from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CBCFB3D9-33A9-4B9C-BC3E-72F8A4E9F12D}"/>
              </a:ext>
            </a:extLst>
          </p:cNvPr>
          <p:cNvSpPr txBox="1"/>
          <p:nvPr/>
        </p:nvSpPr>
        <p:spPr>
          <a:xfrm>
            <a:off x="3275856" y="2924944"/>
            <a:ext cx="1524000" cy="28083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/>
            <a:endParaRPr lang="es-MX" dirty="0">
              <a:solidFill>
                <a:srgbClr val="C5DAEB"/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if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import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in</a:t>
            </a: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is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not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or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print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return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D5103590-11EE-4DA2-984B-D43426B56C82}"/>
              </a:ext>
            </a:extLst>
          </p:cNvPr>
          <p:cNvSpPr txBox="1"/>
          <p:nvPr/>
        </p:nvSpPr>
        <p:spPr>
          <a:xfrm>
            <a:off x="5264985" y="3165555"/>
            <a:ext cx="1981200" cy="1156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while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with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710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CBA901-A324-437A-A5CD-6C1A6EBA5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601896"/>
            <a:ext cx="3246426" cy="217963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987824" y="319009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0" name="object 15">
            <a:extLst>
              <a:ext uri="{FF2B5EF4-FFF2-40B4-BE49-F238E27FC236}">
                <a16:creationId xmlns:a16="http://schemas.microsoft.com/office/drawing/2014/main" id="{A0E28EA7-8C52-4301-95EA-B22A06EC5DAB}"/>
              </a:ext>
            </a:extLst>
          </p:cNvPr>
          <p:cNvSpPr txBox="1"/>
          <p:nvPr/>
        </p:nvSpPr>
        <p:spPr>
          <a:xfrm>
            <a:off x="1115616" y="1340768"/>
            <a:ext cx="8301837" cy="614939"/>
          </a:xfrm>
          <a:prstGeom prst="rect">
            <a:avLst/>
          </a:prstGeom>
        </p:spPr>
        <p:txBody>
          <a:bodyPr vert="horz" wrap="square" lIns="0" tIns="0" rIns="0" bIns="0" numCol="1" rtlCol="0">
            <a:noAutofit/>
          </a:bodyPr>
          <a:lstStyle/>
          <a:p>
            <a:pPr marL="12700" marR="12700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Señala si el nombre de las siguientes 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variables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es 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correcto/incorrecto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:</a:t>
            </a:r>
          </a:p>
        </p:txBody>
      </p:sp>
      <p:sp>
        <p:nvSpPr>
          <p:cNvPr id="33" name="object 15">
            <a:extLst>
              <a:ext uri="{FF2B5EF4-FFF2-40B4-BE49-F238E27FC236}">
                <a16:creationId xmlns:a16="http://schemas.microsoft.com/office/drawing/2014/main" id="{2D366791-367D-4628-8B73-062B1724F6FB}"/>
              </a:ext>
            </a:extLst>
          </p:cNvPr>
          <p:cNvSpPr txBox="1"/>
          <p:nvPr/>
        </p:nvSpPr>
        <p:spPr>
          <a:xfrm>
            <a:off x="1115616" y="1953838"/>
            <a:ext cx="6624737" cy="3419377"/>
          </a:xfrm>
          <a:prstGeom prst="rect">
            <a:avLst/>
          </a:prstGeom>
        </p:spPr>
        <p:txBody>
          <a:bodyPr vert="horz" wrap="square" lIns="0" tIns="0" rIns="0" bIns="0" numCol="2" rtlCol="0">
            <a:noAutofit/>
          </a:bodyPr>
          <a:lstStyle/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_</a:t>
            </a: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num_Alumno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#exterior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5Telefono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Radio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direccion_casa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miPerro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nombre_Pila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nombreProceso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correo_electronico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practica2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nombre del perro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teléfono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numero-lista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while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358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195736" y="404664"/>
            <a:ext cx="4987672" cy="9531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6000" b="1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  <a:endParaRPr sz="6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9456" y="1548756"/>
            <a:ext cx="6660231" cy="23203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Son los valores que puede tomar una variable. Los tipos de datos son los siguientes:</a:t>
            </a:r>
          </a:p>
          <a:p>
            <a:pPr marL="355600" marR="127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rgbClr val="0070C0"/>
                </a:solidFill>
                <a:cs typeface="Calibri"/>
              </a:rPr>
              <a:t>Numéricos</a:t>
            </a:r>
          </a:p>
          <a:p>
            <a:pPr marL="355600" marR="127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rgbClr val="0070C0"/>
                </a:solidFill>
                <a:cs typeface="Calibri"/>
              </a:rPr>
              <a:t>Alfanuméricos</a:t>
            </a:r>
          </a:p>
          <a:p>
            <a:pPr marL="355600" marR="127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rgbClr val="0070C0"/>
                </a:solidFill>
                <a:cs typeface="Calibri"/>
              </a:rPr>
              <a:t>Lógicos</a:t>
            </a:r>
          </a:p>
        </p:txBody>
      </p:sp>
      <p:pic>
        <p:nvPicPr>
          <p:cNvPr id="22" name="Imagen 21" descr="Imagen que contiene edificio&#10;&#10;Descripción generada automáticamente">
            <a:extLst>
              <a:ext uri="{FF2B5EF4-FFF2-40B4-BE49-F238E27FC236}">
                <a16:creationId xmlns:a16="http://schemas.microsoft.com/office/drawing/2014/main" id="{4D077EF4-3A52-4D71-A97D-66A99B569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884" y="4060041"/>
            <a:ext cx="6660232" cy="20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5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2771800" y="260648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  <a:endParaRPr sz="32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42" name="object 37">
            <a:extLst>
              <a:ext uri="{FF2B5EF4-FFF2-40B4-BE49-F238E27FC236}">
                <a16:creationId xmlns:a16="http://schemas.microsoft.com/office/drawing/2014/main" id="{4E6E52D2-9676-4A82-943A-4C0836D094DE}"/>
              </a:ext>
            </a:extLst>
          </p:cNvPr>
          <p:cNvSpPr txBox="1"/>
          <p:nvPr/>
        </p:nvSpPr>
        <p:spPr>
          <a:xfrm>
            <a:off x="1043608" y="1268760"/>
            <a:ext cx="7200800" cy="17863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8450" marR="1270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Datos numéricos: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 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Pueden representarse de dos formas:</a:t>
            </a:r>
          </a:p>
          <a:p>
            <a:pPr marL="755650" marR="1270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b="1" dirty="0">
                <a:solidFill>
                  <a:schemeClr val="accent5">
                    <a:lumMod val="75000"/>
                  </a:schemeClr>
                </a:solidFill>
                <a:cs typeface="Calibri"/>
              </a:rPr>
              <a:t>Números enteros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los cuales no tienen componentes fraccionarios y pueden ser positivos o negativos </a:t>
            </a:r>
          </a:p>
          <a:p>
            <a:pPr marL="755650" marR="1270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b="1" dirty="0">
                <a:solidFill>
                  <a:schemeClr val="accent5">
                    <a:lumMod val="75000"/>
                  </a:schemeClr>
                </a:solidFill>
                <a:cs typeface="Calibri"/>
              </a:rPr>
              <a:t>Números reales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pueden tener cifras decimales y pueden ser positivos o negativos.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F7112F8D-E8FB-4F08-8470-D4D90F028545}"/>
              </a:ext>
            </a:extLst>
          </p:cNvPr>
          <p:cNvSpPr txBox="1"/>
          <p:nvPr/>
        </p:nvSpPr>
        <p:spPr>
          <a:xfrm>
            <a:off x="1021438" y="3514864"/>
            <a:ext cx="7222970" cy="193302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8450" marR="1270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Datos alfanuméricos: 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Son datos que contienen caracteres no numéricos ya sean letras, caracteres especiales (,.=´+) o los dígitos mismos.</a:t>
            </a:r>
          </a:p>
          <a:p>
            <a:pPr marL="298450" marR="1270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Datos Lógicos: 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Podemos hablar de otro tipo de datos llamado “booleano”, el cual sólo puede tomar uno de dos valores : verdadero o falso.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83784F38-2A23-4D9E-B52B-9ED5FEA12216}"/>
              </a:ext>
            </a:extLst>
          </p:cNvPr>
          <p:cNvSpPr>
            <a:spLocks noChangeArrowheads="1"/>
          </p:cNvSpPr>
          <p:nvPr/>
        </p:nvSpPr>
        <p:spPr bwMode="auto">
          <a:xfrm rot="2220000">
            <a:off x="3064879" y="5752140"/>
            <a:ext cx="16637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3200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3015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B96592-B16A-452A-9F23-F3B73647E122}"/>
              </a:ext>
            </a:extLst>
          </p:cNvPr>
          <p:cNvSpPr>
            <a:spLocks noChangeArrowheads="1"/>
          </p:cNvSpPr>
          <p:nvPr/>
        </p:nvSpPr>
        <p:spPr bwMode="auto">
          <a:xfrm rot="20220000">
            <a:off x="6322532" y="5729947"/>
            <a:ext cx="22860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0.12541</a:t>
            </a:r>
          </a:p>
        </p:txBody>
      </p:sp>
      <p:pic>
        <p:nvPicPr>
          <p:cNvPr id="45" name="1 Imagen">
            <a:extLst>
              <a:ext uri="{FF2B5EF4-FFF2-40B4-BE49-F238E27FC236}">
                <a16:creationId xmlns:a16="http://schemas.microsoft.com/office/drawing/2014/main" id="{C963953E-CDEB-4A6A-ABDE-B95DFF083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572" y="5622371"/>
            <a:ext cx="1374098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0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 autoUpdateAnimBg="0" advAuto="0"/>
      <p:bldP spid="44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652191" y="574590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Numéricos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F12A6106-E11E-48C0-A599-A3A42F3FB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65104"/>
              </p:ext>
            </p:extLst>
          </p:nvPr>
        </p:nvGraphicFramePr>
        <p:xfrm>
          <a:off x="2024662" y="2415624"/>
          <a:ext cx="5599642" cy="230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340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3198302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</a:tblGrid>
              <a:tr h="52098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Tipo de dato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Python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894266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Entero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2400" b="1" dirty="0" err="1"/>
                        <a:t>num</a:t>
                      </a:r>
                      <a:r>
                        <a:rPr lang="es-MX" sz="2400" b="1" dirty="0"/>
                        <a:t> = 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894266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2400" b="1" dirty="0" err="1"/>
                        <a:t>numReal</a:t>
                      </a:r>
                      <a:r>
                        <a:rPr lang="es-MX" sz="2400" b="1" dirty="0"/>
                        <a:t> = 45.2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89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772179" y="620688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Alfanuméricos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F12A6106-E11E-48C0-A599-A3A42F3FB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284889"/>
              </p:ext>
            </p:extLst>
          </p:nvPr>
        </p:nvGraphicFramePr>
        <p:xfrm>
          <a:off x="1403648" y="2239680"/>
          <a:ext cx="6480720" cy="2739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014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3156706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</a:tblGrid>
              <a:tr h="77688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Tipo de dato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Python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77688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 err="1"/>
                        <a:t>Caracter</a:t>
                      </a:r>
                      <a:endParaRPr lang="es-MX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2400" b="1" dirty="0"/>
                        <a:t>letra = </a:t>
                      </a:r>
                      <a:r>
                        <a:rPr lang="es-MX" sz="2400" dirty="0"/>
                        <a:t>'</a:t>
                      </a:r>
                      <a:r>
                        <a:rPr lang="es-MX" sz="2400" b="1" dirty="0"/>
                        <a:t>c</a:t>
                      </a:r>
                      <a:r>
                        <a:rPr lang="es-MX" sz="2400" dirty="0"/>
                        <a:t>'</a:t>
                      </a:r>
                      <a:endParaRPr lang="es-MX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1185921">
                <a:tc>
                  <a:txBody>
                    <a:bodyPr/>
                    <a:lstStyle/>
                    <a:p>
                      <a:pPr algn="l"/>
                      <a:r>
                        <a:rPr lang="es-MX" sz="2400" b="1" dirty="0"/>
                        <a:t>Cadena de caracteres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400" b="1" dirty="0"/>
                        <a:t>c = "Hola mundo"</a:t>
                      </a:r>
                    </a:p>
                    <a:p>
                      <a:pPr algn="l"/>
                      <a:r>
                        <a:rPr lang="es-MX" sz="2400" b="1" dirty="0"/>
                        <a:t>c = "12345"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05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772179" y="594067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Lógicos o booleanos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F12A6106-E11E-48C0-A599-A3A42F3FB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482396"/>
              </p:ext>
            </p:extLst>
          </p:nvPr>
        </p:nvGraphicFramePr>
        <p:xfrm>
          <a:off x="2051720" y="2204864"/>
          <a:ext cx="5350971" cy="264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520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3483451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</a:tblGrid>
              <a:tr h="652376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Tipo de dato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Python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995852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Booleano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x = True</a:t>
                      </a:r>
                    </a:p>
                    <a:p>
                      <a:pPr algn="ctr"/>
                      <a:r>
                        <a:rPr lang="es-MX" sz="2400" b="1" dirty="0"/>
                        <a:t>x = 5 &gt;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995852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Booleano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y = False</a:t>
                      </a:r>
                    </a:p>
                    <a:p>
                      <a:pPr algn="ctr"/>
                      <a:r>
                        <a:rPr lang="es-MX" sz="2400" b="1" dirty="0"/>
                        <a:t>y = 3 &gt;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996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619672" y="548680"/>
            <a:ext cx="5599642" cy="8153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8940676-DBBC-4584-B8CB-17BBA47952D1}"/>
              </a:ext>
            </a:extLst>
          </p:cNvPr>
          <p:cNvSpPr/>
          <p:nvPr/>
        </p:nvSpPr>
        <p:spPr>
          <a:xfrm>
            <a:off x="1115616" y="1628800"/>
            <a:ext cx="7165510" cy="3728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Python ve diferente la variables si tiene mayúsculas o minúsculas:</a:t>
            </a:r>
          </a:p>
          <a:p>
            <a:pPr algn="just"/>
            <a:endParaRPr lang="es-MX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algn="just"/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Ejemplo:</a:t>
            </a:r>
          </a:p>
          <a:p>
            <a:pPr algn="just"/>
            <a:endParaRPr lang="es-MX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algn="just"/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En este ejemplo, las dos variables son distintas</a:t>
            </a:r>
          </a:p>
          <a:p>
            <a:pPr algn="just"/>
            <a:endParaRPr lang="es-MX" sz="2400" dirty="0">
              <a:solidFill>
                <a:srgbClr val="C5DAEB"/>
              </a:solidFill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Nombre =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juan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endParaRPr lang="es-MX" sz="2400" b="1" dirty="0">
              <a:solidFill>
                <a:schemeClr val="accent6">
                  <a:lumMod val="75000"/>
                </a:schemeClr>
              </a:solidFill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nombre =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pedro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endParaRPr lang="es-MX" sz="2400" b="1" dirty="0">
              <a:solidFill>
                <a:schemeClr val="accent6">
                  <a:lumMod val="75000"/>
                </a:schemeClr>
              </a:solidFill>
              <a:cs typeface="Calibri"/>
            </a:endParaRP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B5092493-9E0F-4041-84EA-AD183DAD7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024" y="4477914"/>
            <a:ext cx="1835102" cy="11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43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asiento, silla, taburete&#10;&#10;Descripción generada automáticamente">
            <a:extLst>
              <a:ext uri="{FF2B5EF4-FFF2-40B4-BE49-F238E27FC236}">
                <a16:creationId xmlns:a16="http://schemas.microsoft.com/office/drawing/2014/main" id="{0B230755-AC43-497C-90C3-F85DFB3D2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627" y="188640"/>
            <a:ext cx="2043459" cy="2043459"/>
          </a:xfrm>
          <a:prstGeom prst="rect">
            <a:avLst/>
          </a:prstGeom>
        </p:spPr>
      </p:pic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583954" y="2348880"/>
            <a:ext cx="8560046" cy="293234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 número entero: "))</a:t>
            </a:r>
          </a:p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 número decimal: "))</a:t>
            </a:r>
          </a:p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")</a:t>
            </a:r>
          </a:p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una cadena de caracteres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: ")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107504" y="433779"/>
            <a:ext cx="8334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Lectura de variables</a:t>
            </a:r>
          </a:p>
          <a:p>
            <a:pPr algn="ctr" eaLnBrk="0" hangingPunct="0"/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 input()</a:t>
            </a:r>
            <a:endParaRPr lang="es-ES_tradnl" sz="3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480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683568" y="1973986"/>
            <a:ext cx="8560046" cy="145501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 número entero: "))</a:t>
            </a:r>
          </a:p>
          <a:p>
            <a:pPr defTabSz="762000" eaLnBrk="0" hangingPunct="0">
              <a:lnSpc>
                <a:spcPct val="200000"/>
              </a:lnSpc>
            </a:pP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("El valor del número es: ", variable)</a:t>
            </a:r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107504" y="433779"/>
            <a:ext cx="8334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variables</a:t>
            </a:r>
          </a:p>
          <a:p>
            <a:pPr algn="ctr" eaLnBrk="0" hangingPunct="0"/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 </a:t>
            </a:r>
            <a:r>
              <a:rPr lang="es-ES" sz="32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print</a:t>
            </a: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</a:t>
            </a:r>
            <a:endParaRPr lang="es-ES_tradnl" sz="3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C139396-E296-460C-AF4B-0C1CACA7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4" y="4029078"/>
            <a:ext cx="3067050" cy="16383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1CE4D3C-7C4A-450C-B7EF-E665F654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249" y="4028526"/>
            <a:ext cx="4469067" cy="11281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83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90" name="Group 54"/>
          <p:cNvGraphicFramePr>
            <a:graphicFrameLocks noGrp="1"/>
          </p:cNvGraphicFramePr>
          <p:nvPr/>
        </p:nvGraphicFramePr>
        <p:xfrm>
          <a:off x="1404144" y="2132856"/>
          <a:ext cx="6335712" cy="2903538"/>
        </p:xfrm>
        <a:graphic>
          <a:graphicData uri="http://schemas.openxmlformats.org/drawingml/2006/table">
            <a:tbl>
              <a:tblPr/>
              <a:tblGrid>
                <a:gridCol w="3300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Tipo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Caracter</a:t>
                      </a:r>
                      <a:endParaRPr kumimoji="0" lang="es-MX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char</a:t>
                      </a:r>
                      <a:endParaRPr kumimoji="0" lang="es-MX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%c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int</a:t>
                      </a:r>
                      <a:endParaRPr kumimoji="0" lang="es-MX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%i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float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%f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Cadena de caracteres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%s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9">
            <a:extLst>
              <a:ext uri="{FF2B5EF4-FFF2-40B4-BE49-F238E27FC236}">
                <a16:creationId xmlns:a16="http://schemas.microsoft.com/office/drawing/2014/main" id="{602046A5-855A-498B-A9EE-F925E755D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76672"/>
            <a:ext cx="8334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variables</a:t>
            </a:r>
          </a:p>
          <a:p>
            <a:pPr algn="ctr" eaLnBrk="0" hangingPunct="0"/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Caracteres de sustitución</a:t>
            </a:r>
            <a:endParaRPr lang="es-ES_tradnl" sz="3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258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936259" y="3413742"/>
            <a:ext cx="3195491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 defTabSz="762000" eaLnBrk="0" hangingPunct="0"/>
            <a:r>
              <a:rPr lang="es-ES" sz="2400" dirty="0" err="1">
                <a:latin typeface="Times New Roman" pitchFamily="18" charset="0"/>
              </a:rPr>
              <a:t>print</a:t>
            </a:r>
            <a:r>
              <a:rPr lang="es-ES" sz="2400" dirty="0">
                <a:latin typeface="Times New Roman" pitchFamily="18" charset="0"/>
              </a:rPr>
              <a:t> ("</a:t>
            </a:r>
            <a:r>
              <a:rPr lang="es-ES" sz="2400" b="1" dirty="0">
                <a:solidFill>
                  <a:srgbClr val="FF0000"/>
                </a:solidFill>
                <a:latin typeface="Times New Roman" pitchFamily="18" charset="0"/>
              </a:rPr>
              <a:t>%i</a:t>
            </a:r>
            <a:r>
              <a:rPr lang="es-ES" sz="2400" dirty="0">
                <a:latin typeface="Times New Roman" pitchFamily="18" charset="0"/>
              </a:rPr>
              <a:t>"  % </a:t>
            </a:r>
            <a:r>
              <a:rPr lang="es-ES" sz="2400" dirty="0">
                <a:solidFill>
                  <a:srgbClr val="3333CC"/>
                </a:solidFill>
                <a:latin typeface="Times New Roman" pitchFamily="18" charset="0"/>
              </a:rPr>
              <a:t>Variable</a:t>
            </a:r>
            <a:r>
              <a:rPr lang="es-ES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92167" name="WordArt 7"/>
          <p:cNvSpPr>
            <a:spLocks noChangeArrowheads="1" noChangeShapeType="1" noTextEdit="1"/>
          </p:cNvSpPr>
          <p:nvPr/>
        </p:nvSpPr>
        <p:spPr bwMode="auto">
          <a:xfrm>
            <a:off x="1783414" y="2528316"/>
            <a:ext cx="990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3600" kern="10">
                <a:ln w="19050">
                  <a:solidFill>
                    <a:srgbClr val="99CCFF"/>
                  </a:solidFill>
                  <a:round/>
                  <a:headEnd type="none" w="sm" len="sm"/>
                  <a:tailEnd type="none" w="sm" len="sm"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int</a:t>
            </a:r>
          </a:p>
        </p:txBody>
      </p:sp>
      <p:sp>
        <p:nvSpPr>
          <p:cNvPr id="92168" name="WordArt 8"/>
          <p:cNvSpPr>
            <a:spLocks noChangeArrowheads="1" noChangeShapeType="1" noTextEdit="1"/>
          </p:cNvSpPr>
          <p:nvPr/>
        </p:nvSpPr>
        <p:spPr bwMode="auto">
          <a:xfrm>
            <a:off x="6156176" y="2636912"/>
            <a:ext cx="990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3600" kern="10">
                <a:ln w="19050">
                  <a:solidFill>
                    <a:srgbClr val="99CCFF"/>
                  </a:solidFill>
                  <a:round/>
                  <a:headEnd type="none" w="sm" len="sm"/>
                  <a:tailEnd type="none" w="sm" len="sm"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float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E0749E39-A9AF-4615-901D-EF08CAE19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7061" y="3459288"/>
            <a:ext cx="336701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 defTabSz="762000" eaLnBrk="0" hangingPunct="0"/>
            <a:r>
              <a:rPr lang="es-ES" sz="2400" dirty="0" err="1">
                <a:latin typeface="Times New Roman" pitchFamily="18" charset="0"/>
              </a:rPr>
              <a:t>print</a:t>
            </a:r>
            <a:r>
              <a:rPr lang="es-ES" sz="2400" dirty="0">
                <a:latin typeface="Times New Roman" pitchFamily="18" charset="0"/>
              </a:rPr>
              <a:t> ("</a:t>
            </a:r>
            <a:r>
              <a:rPr lang="es-ES" sz="2400" b="1" dirty="0">
                <a:solidFill>
                  <a:srgbClr val="FF0000"/>
                </a:solidFill>
                <a:latin typeface="Times New Roman" pitchFamily="18" charset="0"/>
              </a:rPr>
              <a:t>%f </a:t>
            </a:r>
            <a:r>
              <a:rPr lang="es-ES" sz="2400" dirty="0">
                <a:latin typeface="Times New Roman" pitchFamily="18" charset="0"/>
              </a:rPr>
              <a:t>"  % </a:t>
            </a:r>
            <a:r>
              <a:rPr lang="es-ES" sz="2400" dirty="0">
                <a:solidFill>
                  <a:srgbClr val="3333CC"/>
                </a:solidFill>
                <a:latin typeface="Times New Roman" pitchFamily="18" charset="0"/>
              </a:rPr>
              <a:t>Variable</a:t>
            </a:r>
            <a:r>
              <a:rPr lang="es-ES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8DD7361-648B-4F50-AB86-D502BC11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04664"/>
            <a:ext cx="8339444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variables</a:t>
            </a:r>
          </a:p>
          <a:p>
            <a:pPr algn="ctr" eaLnBrk="0" hangingPunct="0"/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Caracteres de sustitución</a:t>
            </a:r>
            <a:endParaRPr lang="es-ES_tradnl" sz="3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BE446582-1A99-418F-BE26-CCC16119F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127" y="5372317"/>
            <a:ext cx="3331746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 defTabSz="762000" eaLnBrk="0" hangingPunct="0"/>
            <a:r>
              <a:rPr lang="es-ES" sz="2400" dirty="0" err="1">
                <a:latin typeface="Times New Roman" pitchFamily="18" charset="0"/>
              </a:rPr>
              <a:t>print</a:t>
            </a:r>
            <a:r>
              <a:rPr lang="es-ES" sz="2400" dirty="0">
                <a:latin typeface="Times New Roman" pitchFamily="18" charset="0"/>
              </a:rPr>
              <a:t> ("</a:t>
            </a:r>
            <a:r>
              <a:rPr lang="es-ES" sz="2400" b="1" dirty="0">
                <a:solidFill>
                  <a:srgbClr val="FF0000"/>
                </a:solidFill>
                <a:latin typeface="Times New Roman" pitchFamily="18" charset="0"/>
              </a:rPr>
              <a:t>%c</a:t>
            </a:r>
            <a:r>
              <a:rPr lang="es-ES" sz="2400" dirty="0">
                <a:latin typeface="Times New Roman" pitchFamily="18" charset="0"/>
              </a:rPr>
              <a:t>"  % </a:t>
            </a:r>
            <a:r>
              <a:rPr lang="es-ES" sz="2400" dirty="0">
                <a:solidFill>
                  <a:srgbClr val="3333CC"/>
                </a:solidFill>
                <a:latin typeface="Times New Roman" pitchFamily="18" charset="0"/>
              </a:rPr>
              <a:t>Variable</a:t>
            </a:r>
            <a:r>
              <a:rPr lang="es-ES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9" name="WordArt 7">
            <a:extLst>
              <a:ext uri="{FF2B5EF4-FFF2-40B4-BE49-F238E27FC236}">
                <a16:creationId xmlns:a16="http://schemas.microsoft.com/office/drawing/2014/main" id="{8F10AF6F-0548-40AC-AC68-8D88002D277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12409" y="4486891"/>
            <a:ext cx="990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3600" kern="10" dirty="0" err="1">
                <a:ln w="19050">
                  <a:solidFill>
                    <a:srgbClr val="99CCFF"/>
                  </a:solidFill>
                  <a:round/>
                  <a:headEnd type="none" w="sm" len="sm"/>
                  <a:tailEnd type="none" w="sm" len="sm"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char</a:t>
            </a:r>
            <a:endParaRPr lang="es-MX" sz="3600" kern="10" dirty="0">
              <a:ln w="19050">
                <a:solidFill>
                  <a:srgbClr val="99CCFF"/>
                </a:solidFill>
                <a:round/>
                <a:headEnd type="none" w="sm" len="sm"/>
                <a:tailEnd type="none" w="sm" len="sm"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/>
            </a:endParaRPr>
          </a:p>
        </p:txBody>
      </p:sp>
      <p:sp>
        <p:nvSpPr>
          <p:cNvPr id="10" name="WordArt 8">
            <a:extLst>
              <a:ext uri="{FF2B5EF4-FFF2-40B4-BE49-F238E27FC236}">
                <a16:creationId xmlns:a16="http://schemas.microsoft.com/office/drawing/2014/main" id="{C673547D-EDEA-413F-AC0E-C7F7ABD5987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85171" y="4595487"/>
            <a:ext cx="990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3600" kern="10" dirty="0" err="1">
                <a:ln w="19050">
                  <a:solidFill>
                    <a:srgbClr val="99CCFF"/>
                  </a:solidFill>
                  <a:round/>
                  <a:headEnd type="none" w="sm" len="sm"/>
                  <a:tailEnd type="none" w="sm" len="sm"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string</a:t>
            </a:r>
            <a:endParaRPr lang="es-MX" sz="3600" kern="10" dirty="0">
              <a:ln w="19050">
                <a:solidFill>
                  <a:srgbClr val="99CCFF"/>
                </a:solidFill>
                <a:round/>
                <a:headEnd type="none" w="sm" len="sm"/>
                <a:tailEnd type="none" w="sm" len="sm"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94C57FEB-1A79-4566-AB3A-A04DBD51E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4184" y="5417863"/>
            <a:ext cx="3230756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 defTabSz="762000" eaLnBrk="0" hangingPunct="0"/>
            <a:r>
              <a:rPr lang="es-ES" sz="2400" dirty="0" err="1">
                <a:latin typeface="Times New Roman" pitchFamily="18" charset="0"/>
              </a:rPr>
              <a:t>print</a:t>
            </a:r>
            <a:r>
              <a:rPr lang="es-ES" sz="2400" dirty="0">
                <a:latin typeface="Times New Roman" pitchFamily="18" charset="0"/>
              </a:rPr>
              <a:t> ("</a:t>
            </a:r>
            <a:r>
              <a:rPr lang="es-ES" sz="2400" b="1" dirty="0">
                <a:solidFill>
                  <a:srgbClr val="FF0000"/>
                </a:solidFill>
                <a:latin typeface="Times New Roman" pitchFamily="18" charset="0"/>
              </a:rPr>
              <a:t>%s</a:t>
            </a:r>
            <a:r>
              <a:rPr lang="es-ES" sz="2400" dirty="0">
                <a:latin typeface="Times New Roman" pitchFamily="18" charset="0"/>
              </a:rPr>
              <a:t>"  % </a:t>
            </a:r>
            <a:r>
              <a:rPr lang="es-ES" sz="2400" dirty="0">
                <a:solidFill>
                  <a:srgbClr val="3333CC"/>
                </a:solidFill>
                <a:latin typeface="Times New Roman" pitchFamily="18" charset="0"/>
              </a:rPr>
              <a:t>Variable</a:t>
            </a:r>
            <a:r>
              <a:rPr lang="es-ES" sz="240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251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/>
      <p:bldP spid="92167" grpId="0"/>
      <p:bldP spid="92168" grpId="0"/>
      <p:bldP spid="12" grpId="0"/>
      <p:bldP spid="7" grpId="0" autoUpdateAnimBg="0"/>
      <p:bldP spid="8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85800" y="151755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331640" y="1696393"/>
            <a:ext cx="6193432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ts val="4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Definir el algoritmo que calcule</a:t>
            </a:r>
          </a:p>
          <a:p>
            <a:pPr algn="ctr">
              <a:lnSpc>
                <a:spcPts val="4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el área de un circulo.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5FB1B5C9-CE8A-4B6C-80EB-E7B8E6F19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996952"/>
            <a:ext cx="3600400" cy="326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3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931694" y="2072795"/>
            <a:ext cx="6598840" cy="22635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Algoritmo: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Área de un círculo</a:t>
            </a:r>
          </a:p>
          <a:p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3500"/>
              </a:lnSpc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1. Pedir el </a:t>
            </a: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radio</a:t>
            </a:r>
          </a:p>
          <a:p>
            <a:pPr>
              <a:lnSpc>
                <a:spcPts val="3500"/>
              </a:lnSpc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2. </a:t>
            </a:r>
            <a:r>
              <a:rPr lang="es-MX" sz="2600" b="1" dirty="0" err="1">
                <a:solidFill>
                  <a:schemeClr val="bg2">
                    <a:lumMod val="25000"/>
                  </a:schemeClr>
                </a:solidFill>
              </a:rPr>
              <a:t>area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= PI * radio * radio</a:t>
            </a:r>
          </a:p>
          <a:p>
            <a:pPr>
              <a:lnSpc>
                <a:spcPts val="3500"/>
              </a:lnSpc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3. escribir(</a:t>
            </a:r>
            <a:r>
              <a:rPr lang="es-MX" sz="2600" b="1" dirty="0" err="1">
                <a:solidFill>
                  <a:schemeClr val="bg2">
                    <a:lumMod val="25000"/>
                  </a:schemeClr>
                </a:solidFill>
              </a:rPr>
              <a:t>area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156" y="3204579"/>
            <a:ext cx="2160240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843808" y="260648"/>
            <a:ext cx="3132348" cy="12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E9BAA395-C23D-4FD2-99BF-C79611F37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81935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3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611560" y="620688"/>
            <a:ext cx="6264696" cy="31125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Programa: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Área de un círculo</a:t>
            </a:r>
          </a:p>
          <a:p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s-MX" sz="2600" b="1" dirty="0" err="1">
                <a:solidFill>
                  <a:srgbClr val="FF0000"/>
                </a:solidFill>
              </a:rPr>
              <a:t>import</a:t>
            </a:r>
            <a:r>
              <a:rPr lang="es-MX" sz="2600" b="1" dirty="0">
                <a:solidFill>
                  <a:srgbClr val="FF0000"/>
                </a:solidFill>
              </a:rPr>
              <a:t> </a:t>
            </a:r>
            <a:r>
              <a:rPr lang="es-MX" sz="2600" b="1" dirty="0" err="1">
                <a:solidFill>
                  <a:srgbClr val="FF0000"/>
                </a:solidFill>
              </a:rPr>
              <a:t>math</a:t>
            </a:r>
            <a:endParaRPr lang="es-MX" sz="2600" b="1" dirty="0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</a:pPr>
            <a:endParaRPr lang="es-ES" sz="26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3500"/>
              </a:lnSpc>
            </a:pP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radio =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float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(input("Introduce el radio: "))</a:t>
            </a:r>
          </a:p>
          <a:p>
            <a:pPr>
              <a:lnSpc>
                <a:spcPts val="3500"/>
              </a:lnSpc>
            </a:pP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area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es-MX" sz="2600" b="1" dirty="0" err="1">
                <a:solidFill>
                  <a:srgbClr val="FF0000"/>
                </a:solidFill>
              </a:rPr>
              <a:t>math.pi</a:t>
            </a:r>
            <a:r>
              <a:rPr lang="es-MX" sz="2600" b="1" dirty="0">
                <a:solidFill>
                  <a:srgbClr val="FF0000"/>
                </a:solidFill>
              </a:rPr>
              <a:t>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* </a:t>
            </a:r>
            <a:r>
              <a:rPr lang="es-MX" sz="2600" b="1" dirty="0" err="1">
                <a:solidFill>
                  <a:srgbClr val="FF0000"/>
                </a:solidFill>
              </a:rPr>
              <a:t>math.pow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(radio,2)</a:t>
            </a:r>
          </a:p>
          <a:p>
            <a:pPr>
              <a:lnSpc>
                <a:spcPts val="3500"/>
              </a:lnSpc>
            </a:pP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print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"EI área del círculo es: ", </a:t>
            </a: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area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670" y="1588520"/>
            <a:ext cx="1728192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6372200" y="5733256"/>
            <a:ext cx="3132348" cy="12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E9BAA395-C23D-4FD2-99BF-C79611F37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725144"/>
            <a:ext cx="1531162" cy="14210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C31DB57-B040-4746-9B51-BC34BB44D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4146745"/>
            <a:ext cx="6353102" cy="13681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0958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973138" y="1412776"/>
            <a:ext cx="7127875" cy="176971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defTabSz="762000" eaLnBrk="0" hangingPunct="0"/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Definir el algoritmo y el programa que transforme los grados </a:t>
            </a:r>
            <a:r>
              <a:rPr lang="es-MX" sz="2800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 a Celsius.</a:t>
            </a:r>
          </a:p>
          <a:p>
            <a:pPr algn="ctr" defTabSz="762000" eaLnBrk="0" hangingPunct="0">
              <a:lnSpc>
                <a:spcPts val="3000"/>
              </a:lnSpc>
            </a:pPr>
            <a:endParaRPr lang="es-MX" sz="2800" dirty="0">
              <a:solidFill>
                <a:schemeClr val="bg2">
                  <a:lumMod val="25000"/>
                </a:schemeClr>
              </a:solidFill>
            </a:endParaRPr>
          </a:p>
          <a:p>
            <a:pPr algn="ctr" defTabSz="762000" eaLnBrk="0" hangingPunct="0"/>
            <a:r>
              <a:rPr lang="es-MX" sz="2800" b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celsius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5 / 9 ( </a:t>
            </a:r>
            <a:r>
              <a:rPr lang="es-MX" sz="2800" b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farenheit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32)</a:t>
            </a:r>
            <a:endParaRPr lang="es-ES" sz="28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971601" y="260648"/>
            <a:ext cx="69847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  <a:endParaRPr lang="es-ES_tradnl" sz="24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439569"/>
            <a:ext cx="3644625" cy="3035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237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843808" y="260648"/>
            <a:ext cx="3132348" cy="12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E9BAA395-C23D-4FD2-99BF-C79611F37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175133"/>
            <a:ext cx="1728192" cy="1603861"/>
          </a:xfrm>
          <a:prstGeom prst="rect">
            <a:avLst/>
          </a:prstGeom>
        </p:spPr>
      </p:pic>
      <p:sp>
        <p:nvSpPr>
          <p:cNvPr id="7" name="1 CuadroTexto">
            <a:extLst>
              <a:ext uri="{FF2B5EF4-FFF2-40B4-BE49-F238E27FC236}">
                <a16:creationId xmlns:a16="http://schemas.microsoft.com/office/drawing/2014/main" id="{EC42340F-5624-42D8-8884-ABB0F885E6FE}"/>
              </a:ext>
            </a:extLst>
          </p:cNvPr>
          <p:cNvSpPr txBox="1"/>
          <p:nvPr/>
        </p:nvSpPr>
        <p:spPr>
          <a:xfrm>
            <a:off x="1115616" y="2227645"/>
            <a:ext cx="7534944" cy="24027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Algoritmo: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Conversión de grados </a:t>
            </a: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a Celsius</a:t>
            </a:r>
          </a:p>
          <a:p>
            <a:endParaRPr lang="es-MX" sz="800" dirty="0">
              <a:solidFill>
                <a:schemeClr val="bg2">
                  <a:lumMod val="25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Pedir los grados </a:t>
            </a:r>
            <a:r>
              <a:rPr lang="es-MX" sz="2600" b="1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celsius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= 5 / 9 ( </a:t>
            </a:r>
            <a:r>
              <a:rPr lang="es-MX" sz="2600" b="1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– 32)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Escribir(</a:t>
            </a: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celsius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216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79828" y="476672"/>
            <a:ext cx="8712968" cy="27124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Programa: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Conversión de grados </a:t>
            </a: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a Celsius</a:t>
            </a:r>
          </a:p>
          <a:p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3500"/>
              </a:lnSpc>
            </a:pPr>
            <a:r>
              <a:rPr lang="es-ES" sz="2600" b="1" dirty="0" err="1">
                <a:solidFill>
                  <a:srgbClr val="FF0000"/>
                </a:solidFill>
              </a:rPr>
              <a:t>farenheit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float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(input("Introduce los grados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: "))</a:t>
            </a:r>
          </a:p>
          <a:p>
            <a:pPr>
              <a:lnSpc>
                <a:spcPts val="3500"/>
              </a:lnSpc>
            </a:pPr>
            <a:r>
              <a:rPr lang="sv-SE" sz="2600" b="1" dirty="0">
                <a:solidFill>
                  <a:srgbClr val="FF0000"/>
                </a:solidFill>
              </a:rPr>
              <a:t>celsius</a:t>
            </a:r>
            <a:r>
              <a:rPr lang="sv-SE" sz="2600" dirty="0">
                <a:solidFill>
                  <a:schemeClr val="bg2">
                    <a:lumMod val="25000"/>
                  </a:schemeClr>
                </a:solidFill>
              </a:rPr>
              <a:t> = 5 / 9 * ( </a:t>
            </a:r>
            <a:r>
              <a:rPr lang="sv-SE" sz="2600" b="1" dirty="0">
                <a:solidFill>
                  <a:srgbClr val="FF0000"/>
                </a:solidFill>
              </a:rPr>
              <a:t>farenheit</a:t>
            </a:r>
            <a:r>
              <a:rPr lang="sv-SE" sz="2600" dirty="0">
                <a:solidFill>
                  <a:schemeClr val="bg2">
                    <a:lumMod val="25000"/>
                  </a:schemeClr>
                </a:solidFill>
              </a:rPr>
              <a:t> - 32)</a:t>
            </a:r>
          </a:p>
          <a:p>
            <a:pPr>
              <a:lnSpc>
                <a:spcPts val="3500"/>
              </a:lnSpc>
            </a:pP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print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"</a:t>
            </a:r>
            <a:r>
              <a:rPr lang="es-ES" sz="2600" b="1" dirty="0">
                <a:solidFill>
                  <a:srgbClr val="0070C0"/>
                </a:solidFill>
              </a:rPr>
              <a:t>%.2f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grados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equivalen a </a:t>
            </a:r>
            <a:r>
              <a:rPr lang="es-ES" sz="2600" b="1" dirty="0">
                <a:solidFill>
                  <a:schemeClr val="accent6">
                    <a:lumMod val="75000"/>
                  </a:schemeClr>
                </a:solidFill>
              </a:rPr>
              <a:t>%2.f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grados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celsius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"  </a:t>
            </a:r>
            <a:r>
              <a:rPr lang="es-ES" sz="2600" b="1" dirty="0">
                <a:solidFill>
                  <a:schemeClr val="bg2">
                    <a:lumMod val="25000"/>
                  </a:schemeClr>
                </a:solidFill>
              </a:rPr>
              <a:t>%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es-ES" sz="2600" b="1" dirty="0" err="1">
                <a:solidFill>
                  <a:srgbClr val="0070C0"/>
                </a:solidFill>
              </a:rPr>
              <a:t>farenheit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s-ES" sz="2600" b="1" dirty="0" err="1">
                <a:solidFill>
                  <a:schemeClr val="accent6">
                    <a:lumMod val="75000"/>
                  </a:schemeClr>
                </a:solidFill>
              </a:rPr>
              <a:t>celsius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))</a:t>
            </a:r>
            <a:endParaRPr lang="es-MX" sz="2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1907093-C21E-4093-B0B6-D4AADFBF0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231" y="5777409"/>
            <a:ext cx="3132348" cy="12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  <a:endParaRPr lang="es-ES_tradnl" sz="3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10" name="1 Imagen">
            <a:extLst>
              <a:ext uri="{FF2B5EF4-FFF2-40B4-BE49-F238E27FC236}">
                <a16:creationId xmlns:a16="http://schemas.microsoft.com/office/drawing/2014/main" id="{9D188EAE-D2D2-4A31-BB8F-F92697C3D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5201134"/>
            <a:ext cx="1022218" cy="94867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78B8136-9E9F-46AB-8091-43225A5E0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25" y="3472496"/>
            <a:ext cx="8188549" cy="173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00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25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1370</TotalTime>
  <Words>1001</Words>
  <Application>Microsoft Office PowerPoint</Application>
  <PresentationFormat>Presentación en pantalla (4:3)</PresentationFormat>
  <Paragraphs>210</Paragraphs>
  <Slides>25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Calibri</vt:lpstr>
      <vt:lpstr>Dom Casual</vt:lpstr>
      <vt:lpstr>Impact</vt:lpstr>
      <vt:lpstr>Times New Roman</vt:lpstr>
      <vt:lpstr>Wingdings</vt:lpstr>
      <vt:lpstr>Tema de Office</vt:lpstr>
      <vt:lpstr>TI 3008 C Analítica de datos y herramientas de inteligencia artificial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91</cp:revision>
  <dcterms:created xsi:type="dcterms:W3CDTF">2013-06-11T22:32:36Z</dcterms:created>
  <dcterms:modified xsi:type="dcterms:W3CDTF">2026-08-10T23:16:08Z</dcterms:modified>
</cp:coreProperties>
</file>