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7" r:id="rId2"/>
    <p:sldId id="284" r:id="rId3"/>
    <p:sldId id="259" r:id="rId4"/>
    <p:sldId id="283" r:id="rId5"/>
    <p:sldId id="285" r:id="rId6"/>
    <p:sldId id="258" r:id="rId7"/>
    <p:sldId id="298" r:id="rId8"/>
    <p:sldId id="300" r:id="rId9"/>
    <p:sldId id="301" r:id="rId10"/>
    <p:sldId id="358" r:id="rId11"/>
    <p:sldId id="288" r:id="rId12"/>
    <p:sldId id="289" r:id="rId13"/>
    <p:sldId id="290" r:id="rId14"/>
    <p:sldId id="302" r:id="rId15"/>
    <p:sldId id="303" r:id="rId16"/>
    <p:sldId id="305" r:id="rId17"/>
    <p:sldId id="291" r:id="rId18"/>
    <p:sldId id="292" r:id="rId19"/>
    <p:sldId id="293" r:id="rId20"/>
    <p:sldId id="344" r:id="rId21"/>
    <p:sldId id="345" r:id="rId22"/>
    <p:sldId id="359" r:id="rId23"/>
    <p:sldId id="360" r:id="rId24"/>
    <p:sldId id="282" r:id="rId25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03" autoAdjust="0"/>
    <p:restoredTop sz="93817" autoAdjust="0"/>
  </p:normalViewPr>
  <p:slideViewPr>
    <p:cSldViewPr>
      <p:cViewPr varScale="1">
        <p:scale>
          <a:sx n="116" d="100"/>
          <a:sy n="116" d="100"/>
        </p:scale>
        <p:origin x="1062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modSld">
      <pc:chgData name="Lizethe Pérez Fuertes" userId="4ae9ef87-2a7d-42f8-8dfa-0a501a9e2ff4" providerId="ADAL" clId="{FDDD45CB-1330-4033-A842-3D2746AFF7C7}" dt="2026-08-11T16:22:28.882" v="5" actId="6549"/>
      <pc:docMkLst>
        <pc:docMk/>
      </pc:docMkLst>
      <pc:sldChg chg="modSp mod">
        <pc:chgData name="Lizethe Pérez Fuertes" userId="4ae9ef87-2a7d-42f8-8dfa-0a501a9e2ff4" providerId="ADAL" clId="{FDDD45CB-1330-4033-A842-3D2746AFF7C7}" dt="2026-08-11T16:22:28.882" v="5" actId="6549"/>
        <pc:sldMkLst>
          <pc:docMk/>
          <pc:sldMk cId="2553855534" sldId="257"/>
        </pc:sldMkLst>
        <pc:spChg chg="mod">
          <ac:chgData name="Lizethe Pérez Fuertes" userId="4ae9ef87-2a7d-42f8-8dfa-0a501a9e2ff4" providerId="ADAL" clId="{FDDD45CB-1330-4033-A842-3D2746AFF7C7}" dt="2026-08-11T16:22:28.882" v="5" actId="6549"/>
          <ac:spMkLst>
            <pc:docMk/>
            <pc:sldMk cId="2553855534" sldId="257"/>
            <ac:spMk id="7" creationId="{585812A4-95EC-4ECB-9775-23912D6B0B7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45F07-8756-451B-A938-0248325FC7BB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3AEC0-242E-4FA7-9D3C-51E1036AC3CB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706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60684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061992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26409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825041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662DF-BC41-459C-91F2-8BDB7DA00AEC}" type="slidenum">
              <a:rPr lang="es-MX" smtClean="0"/>
              <a:t>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211868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662DF-BC41-459C-91F2-8BDB7DA00AEC}" type="slidenum">
              <a:rPr lang="es-MX" smtClean="0"/>
              <a:t>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906349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662DF-BC41-459C-91F2-8BDB7DA00AEC}" type="slidenum">
              <a:rPr lang="es-MX" smtClean="0"/>
              <a:t>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692055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453852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944019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662DF-BC41-459C-91F2-8BDB7DA00AEC}" type="slidenum">
              <a:rPr lang="es-MX" smtClean="0"/>
              <a:t>14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014973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662DF-BC41-459C-91F2-8BDB7DA00AEC}" type="slidenum">
              <a:rPr lang="es-MX" smtClean="0"/>
              <a:t>15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69102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662DF-BC41-459C-91F2-8BDB7DA00AEC}" type="slidenum">
              <a:rPr lang="es-MX" smtClean="0"/>
              <a:t>16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126091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18431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662DF-BC41-459C-91F2-8BDB7DA00AEC}" type="slidenum">
              <a:rPr lang="es-MX" smtClean="0"/>
              <a:t>20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39803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662DF-BC41-459C-91F2-8BDB7DA00AEC}" type="slidenum">
              <a:rPr lang="es-MX" smtClean="0"/>
              <a:t>21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931562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22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819886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662DF-BC41-459C-91F2-8BDB7DA00AEC}" type="slidenum">
              <a:rPr lang="es-MX" smtClean="0"/>
              <a:t>23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97617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3136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3379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278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76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7915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7974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2515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4470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9592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3289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78841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4696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8/11/2026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0414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5A0DC-66C6-4CEC-A5EB-F8C97CEC3796}" type="datetimeFigureOut">
              <a:rPr lang="es-MX" smtClean="0"/>
              <a:t>11/08/2026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17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9672" y="1916832"/>
            <a:ext cx="5976664" cy="1613913"/>
          </a:xfrm>
        </p:spPr>
        <p:txBody>
          <a:bodyPr rtlCol="0">
            <a:normAutofit/>
          </a:bodyPr>
          <a:lstStyle/>
          <a:p>
            <a:pPr eaLnBrk="1" fontAlgn="auto" hangingPunct="1">
              <a:lnSpc>
                <a:spcPts val="4000"/>
              </a:lnSpc>
              <a:spcAft>
                <a:spcPts val="0"/>
              </a:spcAft>
              <a:defRPr/>
            </a:pPr>
            <a:r>
              <a:rPr lang="es-MX" b="1">
                <a:solidFill>
                  <a:schemeClr val="accent4">
                    <a:lumMod val="50000"/>
                  </a:schemeClr>
                </a:solidFill>
              </a:rPr>
              <a:t>Estructuras condicionales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  <a:endParaRPr lang="es-MX" sz="2000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99990CD-4FEE-46A2-B825-7A6DDB6D7A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5544" y="3068960"/>
            <a:ext cx="2723176" cy="2664296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85812A4-95EC-4ECB-9775-23912D6B0B70}"/>
              </a:ext>
            </a:extLst>
          </p:cNvPr>
          <p:cNvSpPr txBox="1">
            <a:spLocks/>
          </p:cNvSpPr>
          <p:nvPr/>
        </p:nvSpPr>
        <p:spPr>
          <a:xfrm>
            <a:off x="684684" y="389731"/>
            <a:ext cx="806489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s-MX" sz="3200">
                <a:solidFill>
                  <a:schemeClr val="bg2">
                    <a:lumMod val="50000"/>
                  </a:schemeClr>
                </a:solidFill>
              </a:rPr>
              <a:t>TI 3008 </a:t>
            </a: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C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Analítica de datos y herramientas de inteligencia artificial</a:t>
            </a:r>
          </a:p>
        </p:txBody>
      </p:sp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3059490" y="332656"/>
            <a:ext cx="3289618" cy="6350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4400" b="1" spc="-25" dirty="0">
                <a:solidFill>
                  <a:srgbClr val="002060"/>
                </a:solidFill>
                <a:latin typeface="Calibri"/>
                <a:cs typeface="Calibri"/>
              </a:rPr>
              <a:t>C</a:t>
            </a:r>
            <a:r>
              <a:rPr sz="4400" b="1" spc="-20" dirty="0">
                <a:solidFill>
                  <a:srgbClr val="002060"/>
                </a:solidFill>
                <a:latin typeface="Calibri"/>
                <a:cs typeface="Calibri"/>
              </a:rPr>
              <a:t>ondicional</a:t>
            </a:r>
            <a:r>
              <a:rPr sz="4400" b="1" spc="-10" dirty="0">
                <a:solidFill>
                  <a:srgbClr val="002060"/>
                </a:solidFill>
                <a:latin typeface="Calibri"/>
                <a:cs typeface="Calibri"/>
              </a:rPr>
              <a:t> if</a:t>
            </a:r>
            <a:endParaRPr sz="44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3859" y="1412776"/>
            <a:ext cx="7920880" cy="451685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>
              <a:lnSpc>
                <a:spcPct val="150000"/>
              </a:lnSpc>
              <a:spcAft>
                <a:spcPts val="1200"/>
              </a:spcAft>
            </a:pP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Es </a:t>
            </a: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  <a:sym typeface="Georgia"/>
              </a:rPr>
              <a:t>la estructura de código en la cual una </a:t>
            </a:r>
            <a:r>
              <a:rPr lang="es-MX" sz="2400" b="1" dirty="0">
                <a:solidFill>
                  <a:schemeClr val="accent3">
                    <a:lumMod val="75000"/>
                  </a:schemeClr>
                </a:solidFill>
                <a:cs typeface="Calibri"/>
                <a:sym typeface="Georgia"/>
              </a:rPr>
              <a:t>condición </a:t>
            </a:r>
            <a:r>
              <a:rPr lang="es-MX" sz="2400" b="1" i="1" dirty="0">
                <a:solidFill>
                  <a:schemeClr val="accent3">
                    <a:lumMod val="75000"/>
                  </a:schemeClr>
                </a:solidFill>
                <a:cs typeface="Calibri"/>
                <a:sym typeface="Georgia"/>
              </a:rPr>
              <a:t>(expresión lógica)</a:t>
            </a:r>
            <a:r>
              <a:rPr lang="es-MX" sz="2400" b="1" dirty="0">
                <a:solidFill>
                  <a:schemeClr val="accent3">
                    <a:lumMod val="75000"/>
                  </a:schemeClr>
                </a:solidFill>
                <a:cs typeface="Calibri"/>
                <a:sym typeface="Georgia"/>
              </a:rPr>
              <a:t> </a:t>
            </a: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  <a:sym typeface="Georgia"/>
              </a:rPr>
              <a:t>determina la ejecución de un bloque de código por única vez.</a:t>
            </a:r>
          </a:p>
          <a:p>
            <a:pPr marL="12700" marR="12700" algn="just">
              <a:lnSpc>
                <a:spcPct val="150000"/>
              </a:lnSpc>
              <a:spcAft>
                <a:spcPts val="1200"/>
              </a:spcAft>
            </a:pP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  <a:sym typeface="Georgia"/>
              </a:rPr>
              <a:t>Esta estructura puede ser de tres tipos: </a:t>
            </a:r>
          </a:p>
          <a:p>
            <a:pPr marL="469900" marR="12700" indent="-457200" algn="just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cs typeface="Calibri"/>
                <a:sym typeface="Georgia"/>
              </a:rPr>
              <a:t>Condicional simple</a:t>
            </a:r>
          </a:p>
          <a:p>
            <a:pPr marL="469900" marR="12700" indent="-457200" algn="just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cs typeface="Calibri"/>
                <a:sym typeface="Georgia"/>
              </a:rPr>
              <a:t>Condicional compuesta</a:t>
            </a:r>
          </a:p>
          <a:p>
            <a:pPr marL="469900" marR="12700" indent="-457200" algn="just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cs typeface="Calibri"/>
                <a:sym typeface="Georgia"/>
              </a:rPr>
              <a:t>Condicional anidada</a:t>
            </a:r>
            <a:endParaRPr sz="2400" b="1" dirty="0">
              <a:solidFill>
                <a:schemeClr val="accent6">
                  <a:lumMod val="75000"/>
                </a:schemeClr>
              </a:solidFill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2456" y="5726429"/>
            <a:ext cx="102870" cy="203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1200" spc="-10" dirty="0">
                <a:solidFill>
                  <a:srgbClr val="18BAD4"/>
                </a:solidFill>
                <a:latin typeface="Calibri"/>
                <a:cs typeface="Calibri"/>
              </a:rPr>
              <a:t>2</a:t>
            </a:r>
            <a:endParaRPr sz="1200" dirty="0">
              <a:latin typeface="Calibri"/>
              <a:cs typeface="Calibri"/>
            </a:endParaRPr>
          </a:p>
        </p:txBody>
      </p:sp>
      <p:pic>
        <p:nvPicPr>
          <p:cNvPr id="17" name="Imagen 16" descr="Imagen que contiene dibujo&#10;&#10;Descripción generada automáticamente">
            <a:extLst>
              <a:ext uri="{FF2B5EF4-FFF2-40B4-BE49-F238E27FC236}">
                <a16:creationId xmlns:a16="http://schemas.microsoft.com/office/drawing/2014/main" id="{3C117393-D11E-42F1-8CB7-1478BB67BD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3839090"/>
            <a:ext cx="2300908" cy="2090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605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2770379" y="3112522"/>
            <a:ext cx="5829174" cy="6832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3600" b="1" dirty="0" err="1">
                <a:solidFill>
                  <a:srgbClr val="002060"/>
                </a:solidFill>
                <a:latin typeface="Calibri"/>
                <a:cs typeface="Calibri"/>
              </a:rPr>
              <a:t>Condicional</a:t>
            </a:r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 simple</a:t>
            </a:r>
            <a:endParaRPr sz="36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4800" b="1" spc="-2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4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 txBox="1"/>
          <p:nvPr/>
        </p:nvSpPr>
        <p:spPr>
          <a:xfrm>
            <a:off x="827584" y="1283781"/>
            <a:ext cx="7704856" cy="2649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>
              <a:lnSpc>
                <a:spcPct val="150000"/>
              </a:lnSpc>
              <a:spcAft>
                <a:spcPts val="600"/>
              </a:spcAft>
            </a:pP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Toma una decisión referente a la acción de ejecutar un bloque de código, basándose en el resultado (verdadero o falso) de una 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condición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.</a:t>
            </a:r>
          </a:p>
          <a:p>
            <a:pPr marL="12700" marR="12700" algn="just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</a:pP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Cuando se ejecuta la condicional simple, primero se evalúa la 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condición</a:t>
            </a: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(</a:t>
            </a:r>
            <a:r>
              <a:rPr lang="es-MX" sz="2000" i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Expresión lógica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), si el resultado es verdadero (true) entonces se ejecutan las instrucciones del Código del if.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92456" y="5726429"/>
            <a:ext cx="102870" cy="203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1200" spc="-10" dirty="0">
                <a:solidFill>
                  <a:srgbClr val="18BAD4"/>
                </a:solidFill>
                <a:latin typeface="Calibri"/>
                <a:cs typeface="Calibri"/>
              </a:rPr>
              <a:t>4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7" name="object 14">
            <a:extLst>
              <a:ext uri="{FF2B5EF4-FFF2-40B4-BE49-F238E27FC236}">
                <a16:creationId xmlns:a16="http://schemas.microsoft.com/office/drawing/2014/main" id="{3377A7EF-D2C8-413B-A257-11F71BB5E82C}"/>
              </a:ext>
            </a:extLst>
          </p:cNvPr>
          <p:cNvSpPr txBox="1"/>
          <p:nvPr/>
        </p:nvSpPr>
        <p:spPr>
          <a:xfrm>
            <a:off x="2051720" y="332656"/>
            <a:ext cx="5200183" cy="6350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4400" b="1" spc="-25" dirty="0" err="1">
                <a:solidFill>
                  <a:srgbClr val="002060"/>
                </a:solidFill>
                <a:latin typeface="Calibri"/>
                <a:cs typeface="Calibri"/>
              </a:rPr>
              <a:t>C</a:t>
            </a:r>
            <a:r>
              <a:rPr sz="4400" b="1" spc="-20" dirty="0" err="1">
                <a:solidFill>
                  <a:srgbClr val="002060"/>
                </a:solidFill>
                <a:latin typeface="Calibri"/>
                <a:cs typeface="Calibri"/>
              </a:rPr>
              <a:t>ondicional</a:t>
            </a:r>
            <a:r>
              <a:rPr sz="4400" b="1" spc="-1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lang="es-MX" sz="4400" b="1" spc="-10" dirty="0">
                <a:solidFill>
                  <a:srgbClr val="002060"/>
                </a:solidFill>
                <a:latin typeface="Calibri"/>
                <a:cs typeface="Calibri"/>
              </a:rPr>
              <a:t>if simple</a:t>
            </a:r>
            <a:endParaRPr sz="44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33B862AD-C940-46C1-A0C5-13F297C83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7881" y="4221025"/>
            <a:ext cx="4724399" cy="2198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329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 txBox="1"/>
          <p:nvPr/>
        </p:nvSpPr>
        <p:spPr>
          <a:xfrm>
            <a:off x="1092371" y="1466890"/>
            <a:ext cx="7151355" cy="9406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>
              <a:lnSpc>
                <a:spcPct val="150000"/>
              </a:lnSpc>
              <a:spcAft>
                <a:spcPts val="600"/>
              </a:spcAft>
            </a:pP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La estructura básica de la condicional simple en Python tiene la siguiente forma: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92456" y="5726429"/>
            <a:ext cx="102870" cy="203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1200" spc="-10" dirty="0">
                <a:solidFill>
                  <a:srgbClr val="18BAD4"/>
                </a:solidFill>
                <a:latin typeface="Calibri"/>
                <a:cs typeface="Calibri"/>
              </a:rPr>
              <a:t>5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7" name="object 14">
            <a:extLst>
              <a:ext uri="{FF2B5EF4-FFF2-40B4-BE49-F238E27FC236}">
                <a16:creationId xmlns:a16="http://schemas.microsoft.com/office/drawing/2014/main" id="{3377A7EF-D2C8-413B-A257-11F71BB5E82C}"/>
              </a:ext>
            </a:extLst>
          </p:cNvPr>
          <p:cNvSpPr txBox="1"/>
          <p:nvPr/>
        </p:nvSpPr>
        <p:spPr>
          <a:xfrm>
            <a:off x="2267744" y="361660"/>
            <a:ext cx="5200183" cy="6350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4400" b="1" spc="-25" dirty="0" err="1">
                <a:solidFill>
                  <a:srgbClr val="002060"/>
                </a:solidFill>
                <a:latin typeface="Calibri"/>
                <a:cs typeface="Calibri"/>
              </a:rPr>
              <a:t>C</a:t>
            </a:r>
            <a:r>
              <a:rPr sz="4400" b="1" spc="-20" dirty="0" err="1">
                <a:solidFill>
                  <a:srgbClr val="002060"/>
                </a:solidFill>
                <a:latin typeface="Calibri"/>
                <a:cs typeface="Calibri"/>
              </a:rPr>
              <a:t>ondicional</a:t>
            </a:r>
            <a:r>
              <a:rPr sz="4400" b="1" spc="-1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lang="es-MX" sz="4400" b="1" spc="-10" dirty="0">
                <a:solidFill>
                  <a:srgbClr val="002060"/>
                </a:solidFill>
                <a:latin typeface="Calibri"/>
                <a:cs typeface="Calibri"/>
              </a:rPr>
              <a:t>if simple</a:t>
            </a:r>
            <a:endParaRPr sz="44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19" name="Google Shape;65;p9">
            <a:extLst>
              <a:ext uri="{FF2B5EF4-FFF2-40B4-BE49-F238E27FC236}">
                <a16:creationId xmlns:a16="http://schemas.microsoft.com/office/drawing/2014/main" id="{DD55D289-0BCE-4A13-8697-AACC8060C7AC}"/>
              </a:ext>
            </a:extLst>
          </p:cNvPr>
          <p:cNvSpPr txBox="1"/>
          <p:nvPr/>
        </p:nvSpPr>
        <p:spPr>
          <a:xfrm>
            <a:off x="1122976" y="2996952"/>
            <a:ext cx="4673636" cy="1635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590">
              <a:lnSpc>
                <a:spcPct val="150000"/>
              </a:lnSpc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lang="en-US" sz="2800" dirty="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condición:</a:t>
            </a:r>
            <a:endParaRPr sz="2800" dirty="0">
              <a:solidFill>
                <a:schemeClr val="accent6">
                  <a:lumMod val="75000"/>
                </a:schemeClr>
              </a:solidFill>
            </a:endParaRPr>
          </a:p>
          <a:p>
            <a:pPr marL="745490">
              <a:lnSpc>
                <a:spcPct val="150000"/>
              </a:lnSpc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código</a:t>
            </a:r>
            <a:endParaRPr lang="en-US" sz="28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745490"/>
            <a:endParaRPr lang="en-US" sz="3600" dirty="0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EDCA369E-85A1-4EA3-A25B-5F1ED5112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968" y="3453796"/>
            <a:ext cx="4283214" cy="199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677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2176724" y="443983"/>
            <a:ext cx="5200183" cy="6350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4400" b="1" spc="-25" dirty="0" err="1">
                <a:solidFill>
                  <a:srgbClr val="002060"/>
                </a:solidFill>
                <a:latin typeface="Calibri"/>
                <a:cs typeface="Calibri"/>
              </a:rPr>
              <a:t>C</a:t>
            </a:r>
            <a:r>
              <a:rPr sz="4400" b="1" spc="-20" dirty="0" err="1">
                <a:solidFill>
                  <a:srgbClr val="002060"/>
                </a:solidFill>
                <a:latin typeface="Calibri"/>
                <a:cs typeface="Calibri"/>
              </a:rPr>
              <a:t>ondicional</a:t>
            </a:r>
            <a:r>
              <a:rPr sz="4400" b="1" spc="-1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lang="es-MX" sz="4400" b="1" spc="-10" dirty="0">
                <a:solidFill>
                  <a:srgbClr val="002060"/>
                </a:solidFill>
                <a:latin typeface="Calibri"/>
                <a:cs typeface="Calibri"/>
              </a:rPr>
              <a:t>if simple</a:t>
            </a:r>
            <a:endParaRPr sz="44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22391" y="1598030"/>
            <a:ext cx="8928992" cy="43090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2094230">
              <a:spcAft>
                <a:spcPts val="1200"/>
              </a:spcAft>
            </a:pPr>
            <a:r>
              <a:rPr lang="es-ES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  </a:t>
            </a:r>
            <a:r>
              <a:rPr sz="240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Ejemplo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de sentencia if en su forma </a:t>
            </a:r>
            <a:r>
              <a:rPr sz="240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más</a:t>
            </a:r>
            <a:r>
              <a:rPr lang="es-ES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simple:</a:t>
            </a:r>
            <a:endParaRPr sz="24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75657" y="2558907"/>
            <a:ext cx="1612703" cy="65608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3200" b="1" dirty="0">
                <a:solidFill>
                  <a:schemeClr val="accent6">
                    <a:lumMod val="75000"/>
                  </a:schemeClr>
                </a:solidFill>
                <a:cs typeface="Arial" panose="020B0604020202020204" pitchFamily="34" charset="0"/>
              </a:rPr>
              <a:t>if</a:t>
            </a:r>
            <a:r>
              <a:rPr sz="3200" b="1" spc="-10" dirty="0">
                <a:solidFill>
                  <a:schemeClr val="accent6">
                    <a:lumMod val="7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sz="3200" b="1" dirty="0">
                <a:solidFill>
                  <a:schemeClr val="accent6">
                    <a:lumMod val="75000"/>
                  </a:schemeClr>
                </a:solidFill>
                <a:cs typeface="Arial" panose="020B0604020202020204" pitchFamily="34" charset="0"/>
              </a:rPr>
              <a:t>x&gt;0:</a:t>
            </a:r>
            <a:endParaRPr sz="3200" dirty="0">
              <a:solidFill>
                <a:schemeClr val="accent6">
                  <a:lumMod val="7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28544" y="3304901"/>
            <a:ext cx="6019590" cy="56549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3200" b="1" dirty="0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pri</a:t>
            </a:r>
            <a:r>
              <a:rPr sz="3200" b="1" spc="5" dirty="0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n</a:t>
            </a:r>
            <a:r>
              <a:rPr sz="3200" b="1" dirty="0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t</a:t>
            </a:r>
            <a:r>
              <a:rPr sz="3200" b="1" spc="-5" dirty="0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sz="3200" b="1" dirty="0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(</a:t>
            </a:r>
            <a:r>
              <a:rPr lang="es-MX" sz="3200" b="1" dirty="0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"</a:t>
            </a:r>
            <a:r>
              <a:rPr sz="3200" b="1" spc="-10" dirty="0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x</a:t>
            </a:r>
            <a:r>
              <a:rPr sz="3200" b="1" spc="5" dirty="0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sz="3200" b="1" dirty="0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es</a:t>
            </a:r>
            <a:r>
              <a:rPr sz="3200" b="1" spc="-10" dirty="0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sz="3200" b="1" spc="5" dirty="0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u</a:t>
            </a:r>
            <a:r>
              <a:rPr sz="3200" b="1" dirty="0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n </a:t>
            </a:r>
            <a:r>
              <a:rPr sz="3200" b="1" dirty="0" err="1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núme</a:t>
            </a:r>
            <a:r>
              <a:rPr sz="3200" b="1" spc="-10" dirty="0" err="1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r</a:t>
            </a:r>
            <a:r>
              <a:rPr sz="3200" b="1" dirty="0" err="1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o</a:t>
            </a:r>
            <a:r>
              <a:rPr sz="3200" b="1" spc="5" dirty="0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p</a:t>
            </a:r>
            <a:r>
              <a:rPr sz="3200" b="1" spc="5" dirty="0" err="1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o</a:t>
            </a:r>
            <a:r>
              <a:rPr sz="3200" b="1" dirty="0" err="1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siti</a:t>
            </a:r>
            <a:r>
              <a:rPr sz="3200" b="1" spc="-40" dirty="0" err="1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v</a:t>
            </a:r>
            <a:r>
              <a:rPr sz="3200" b="1" dirty="0" err="1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o</a:t>
            </a:r>
            <a:r>
              <a:rPr lang="es-MX" sz="3200" b="1" dirty="0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"</a:t>
            </a:r>
            <a:r>
              <a:rPr sz="3200" b="1" dirty="0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)</a:t>
            </a:r>
          </a:p>
          <a:p>
            <a:pPr>
              <a:lnSpc>
                <a:spcPts val="1000"/>
              </a:lnSpc>
            </a:pPr>
            <a:endParaRPr sz="1000" dirty="0"/>
          </a:p>
        </p:txBody>
      </p:sp>
      <p:sp>
        <p:nvSpPr>
          <p:cNvPr id="20" name="object 20"/>
          <p:cNvSpPr/>
          <p:nvPr/>
        </p:nvSpPr>
        <p:spPr>
          <a:xfrm>
            <a:off x="2817719" y="2715801"/>
            <a:ext cx="683387" cy="171151"/>
          </a:xfrm>
          <a:custGeom>
            <a:avLst/>
            <a:gdLst/>
            <a:ahLst/>
            <a:cxnLst/>
            <a:rect l="l" t="t" r="r" b="b"/>
            <a:pathLst>
              <a:path w="683387" h="171151">
                <a:moveTo>
                  <a:pt x="608291" y="85892"/>
                </a:moveTo>
                <a:lnTo>
                  <a:pt x="515050" y="142554"/>
                </a:lnTo>
                <a:lnTo>
                  <a:pt x="513262" y="153234"/>
                </a:lnTo>
                <a:lnTo>
                  <a:pt x="518458" y="166299"/>
                </a:lnTo>
                <a:lnTo>
                  <a:pt x="529180" y="171151"/>
                </a:lnTo>
                <a:lnTo>
                  <a:pt x="540893" y="168740"/>
                </a:lnTo>
                <a:lnTo>
                  <a:pt x="650754" y="104605"/>
                </a:lnTo>
                <a:lnTo>
                  <a:pt x="645668" y="104605"/>
                </a:lnTo>
                <a:lnTo>
                  <a:pt x="645668" y="102065"/>
                </a:lnTo>
                <a:lnTo>
                  <a:pt x="636016" y="102065"/>
                </a:lnTo>
                <a:lnTo>
                  <a:pt x="608291" y="85892"/>
                </a:lnTo>
                <a:close/>
              </a:path>
              <a:path w="683387" h="171151">
                <a:moveTo>
                  <a:pt x="575056" y="66505"/>
                </a:moveTo>
                <a:lnTo>
                  <a:pt x="0" y="66505"/>
                </a:lnTo>
                <a:lnTo>
                  <a:pt x="0" y="104605"/>
                </a:lnTo>
                <a:lnTo>
                  <a:pt x="577499" y="104605"/>
                </a:lnTo>
                <a:lnTo>
                  <a:pt x="608291" y="85892"/>
                </a:lnTo>
                <a:lnTo>
                  <a:pt x="575056" y="66505"/>
                </a:lnTo>
                <a:close/>
              </a:path>
              <a:path w="683387" h="171151">
                <a:moveTo>
                  <a:pt x="650754" y="66505"/>
                </a:moveTo>
                <a:lnTo>
                  <a:pt x="645668" y="66505"/>
                </a:lnTo>
                <a:lnTo>
                  <a:pt x="645668" y="104605"/>
                </a:lnTo>
                <a:lnTo>
                  <a:pt x="650754" y="104605"/>
                </a:lnTo>
                <a:lnTo>
                  <a:pt x="683387" y="85555"/>
                </a:lnTo>
                <a:lnTo>
                  <a:pt x="650754" y="66505"/>
                </a:lnTo>
                <a:close/>
              </a:path>
              <a:path w="683387" h="171151">
                <a:moveTo>
                  <a:pt x="636016" y="69045"/>
                </a:moveTo>
                <a:lnTo>
                  <a:pt x="608291" y="85892"/>
                </a:lnTo>
                <a:lnTo>
                  <a:pt x="636016" y="102065"/>
                </a:lnTo>
                <a:lnTo>
                  <a:pt x="636016" y="69045"/>
                </a:lnTo>
                <a:close/>
              </a:path>
              <a:path w="683387" h="171151">
                <a:moveTo>
                  <a:pt x="645668" y="69045"/>
                </a:moveTo>
                <a:lnTo>
                  <a:pt x="636016" y="69045"/>
                </a:lnTo>
                <a:lnTo>
                  <a:pt x="636016" y="102065"/>
                </a:lnTo>
                <a:lnTo>
                  <a:pt x="645668" y="102065"/>
                </a:lnTo>
                <a:lnTo>
                  <a:pt x="645668" y="69045"/>
                </a:lnTo>
                <a:close/>
              </a:path>
              <a:path w="683387" h="171151">
                <a:moveTo>
                  <a:pt x="532253" y="0"/>
                </a:moveTo>
                <a:lnTo>
                  <a:pt x="521814" y="3565"/>
                </a:lnTo>
                <a:lnTo>
                  <a:pt x="512687" y="14753"/>
                </a:lnTo>
                <a:lnTo>
                  <a:pt x="513777" y="26420"/>
                </a:lnTo>
                <a:lnTo>
                  <a:pt x="521716" y="35390"/>
                </a:lnTo>
                <a:lnTo>
                  <a:pt x="608291" y="85892"/>
                </a:lnTo>
                <a:lnTo>
                  <a:pt x="636016" y="69045"/>
                </a:lnTo>
                <a:lnTo>
                  <a:pt x="645668" y="69045"/>
                </a:lnTo>
                <a:lnTo>
                  <a:pt x="645668" y="66505"/>
                </a:lnTo>
                <a:lnTo>
                  <a:pt x="650754" y="66505"/>
                </a:lnTo>
                <a:lnTo>
                  <a:pt x="540893" y="2370"/>
                </a:lnTo>
                <a:lnTo>
                  <a:pt x="532253" y="0"/>
                </a:lnTo>
                <a:close/>
              </a:path>
            </a:pathLst>
          </a:custGeom>
          <a:solidFill>
            <a:srgbClr val="357DB8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22"/>
          <p:cNvSpPr txBox="1"/>
          <p:nvPr/>
        </p:nvSpPr>
        <p:spPr>
          <a:xfrm>
            <a:off x="3697077" y="2631892"/>
            <a:ext cx="3863340" cy="33896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2200" b="1" dirty="0">
                <a:solidFill>
                  <a:srgbClr val="00B0F0"/>
                </a:solidFill>
                <a:cs typeface="Arial"/>
              </a:rPr>
              <a:t>Exp</a:t>
            </a:r>
            <a:r>
              <a:rPr sz="2200" b="1" spc="5" dirty="0">
                <a:solidFill>
                  <a:srgbClr val="00B0F0"/>
                </a:solidFill>
                <a:cs typeface="Arial"/>
              </a:rPr>
              <a:t>r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es</a:t>
            </a:r>
            <a:r>
              <a:rPr sz="2200" b="1" spc="5" dirty="0">
                <a:solidFill>
                  <a:srgbClr val="00B0F0"/>
                </a:solidFill>
                <a:cs typeface="Arial"/>
              </a:rPr>
              <a:t>i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ón</a:t>
            </a:r>
            <a:r>
              <a:rPr sz="2200" b="1" spc="-40" dirty="0">
                <a:solidFill>
                  <a:srgbClr val="00B0F0"/>
                </a:solidFill>
                <a:cs typeface="Arial"/>
              </a:rPr>
              <a:t> 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b</a:t>
            </a:r>
            <a:r>
              <a:rPr sz="2200" b="1" spc="-10" dirty="0">
                <a:solidFill>
                  <a:srgbClr val="00B0F0"/>
                </a:solidFill>
                <a:cs typeface="Arial"/>
              </a:rPr>
              <a:t>o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oleana:</a:t>
            </a:r>
            <a:r>
              <a:rPr sz="2200" b="1" spc="-45" dirty="0">
                <a:solidFill>
                  <a:srgbClr val="00B0F0"/>
                </a:solidFill>
                <a:cs typeface="Arial"/>
              </a:rPr>
              <a:t> 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co</a:t>
            </a:r>
            <a:r>
              <a:rPr sz="2200" b="1" spc="-10" dirty="0">
                <a:solidFill>
                  <a:srgbClr val="00B0F0"/>
                </a:solidFill>
                <a:cs typeface="Arial"/>
              </a:rPr>
              <a:t>n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dic</a:t>
            </a:r>
            <a:r>
              <a:rPr sz="2200" b="1" spc="5" dirty="0">
                <a:solidFill>
                  <a:srgbClr val="00B0F0"/>
                </a:solidFill>
                <a:cs typeface="Arial"/>
              </a:rPr>
              <a:t>i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ón</a:t>
            </a:r>
          </a:p>
        </p:txBody>
      </p:sp>
      <p:sp>
        <p:nvSpPr>
          <p:cNvPr id="23" name="object 23"/>
          <p:cNvSpPr/>
          <p:nvPr/>
        </p:nvSpPr>
        <p:spPr>
          <a:xfrm>
            <a:off x="4548413" y="3960303"/>
            <a:ext cx="171152" cy="436880"/>
          </a:xfrm>
          <a:custGeom>
            <a:avLst/>
            <a:gdLst/>
            <a:ahLst/>
            <a:cxnLst/>
            <a:rect l="l" t="t" r="r" b="b"/>
            <a:pathLst>
              <a:path w="171152" h="436879">
                <a:moveTo>
                  <a:pt x="17930" y="266740"/>
                </a:moveTo>
                <a:lnTo>
                  <a:pt x="4846" y="271900"/>
                </a:lnTo>
                <a:lnTo>
                  <a:pt x="0" y="282609"/>
                </a:lnTo>
                <a:lnTo>
                  <a:pt x="2411" y="294360"/>
                </a:lnTo>
                <a:lnTo>
                  <a:pt x="85596" y="436880"/>
                </a:lnTo>
                <a:lnTo>
                  <a:pt x="107664" y="399072"/>
                </a:lnTo>
                <a:lnTo>
                  <a:pt x="66546" y="399072"/>
                </a:lnTo>
                <a:lnTo>
                  <a:pt x="66546" y="328510"/>
                </a:lnTo>
                <a:lnTo>
                  <a:pt x="35431" y="275170"/>
                </a:lnTo>
                <a:lnTo>
                  <a:pt x="28619" y="268547"/>
                </a:lnTo>
                <a:lnTo>
                  <a:pt x="17930" y="266740"/>
                </a:lnTo>
                <a:close/>
              </a:path>
              <a:path w="171152" h="436879">
                <a:moveTo>
                  <a:pt x="66546" y="328510"/>
                </a:moveTo>
                <a:lnTo>
                  <a:pt x="66546" y="399072"/>
                </a:lnTo>
                <a:lnTo>
                  <a:pt x="104646" y="399072"/>
                </a:lnTo>
                <a:lnTo>
                  <a:pt x="104646" y="389470"/>
                </a:lnTo>
                <a:lnTo>
                  <a:pt x="69086" y="389470"/>
                </a:lnTo>
                <a:lnTo>
                  <a:pt x="85596" y="361168"/>
                </a:lnTo>
                <a:lnTo>
                  <a:pt x="66546" y="328510"/>
                </a:lnTo>
                <a:close/>
              </a:path>
              <a:path w="171152" h="436879">
                <a:moveTo>
                  <a:pt x="156419" y="266161"/>
                </a:moveTo>
                <a:lnTo>
                  <a:pt x="144740" y="267257"/>
                </a:lnTo>
                <a:lnTo>
                  <a:pt x="135761" y="275170"/>
                </a:lnTo>
                <a:lnTo>
                  <a:pt x="104646" y="328510"/>
                </a:lnTo>
                <a:lnTo>
                  <a:pt x="104646" y="399072"/>
                </a:lnTo>
                <a:lnTo>
                  <a:pt x="107664" y="399072"/>
                </a:lnTo>
                <a:lnTo>
                  <a:pt x="168781" y="294360"/>
                </a:lnTo>
                <a:lnTo>
                  <a:pt x="171152" y="285693"/>
                </a:lnTo>
                <a:lnTo>
                  <a:pt x="167595" y="275251"/>
                </a:lnTo>
                <a:lnTo>
                  <a:pt x="156419" y="266161"/>
                </a:lnTo>
                <a:close/>
              </a:path>
              <a:path w="171152" h="436879">
                <a:moveTo>
                  <a:pt x="85596" y="361168"/>
                </a:moveTo>
                <a:lnTo>
                  <a:pt x="69086" y="389470"/>
                </a:lnTo>
                <a:lnTo>
                  <a:pt x="102106" y="389470"/>
                </a:lnTo>
                <a:lnTo>
                  <a:pt x="85596" y="361168"/>
                </a:lnTo>
                <a:close/>
              </a:path>
              <a:path w="171152" h="436879">
                <a:moveTo>
                  <a:pt x="104646" y="328510"/>
                </a:moveTo>
                <a:lnTo>
                  <a:pt x="85596" y="361168"/>
                </a:lnTo>
                <a:lnTo>
                  <a:pt x="102106" y="389470"/>
                </a:lnTo>
                <a:lnTo>
                  <a:pt x="104646" y="389470"/>
                </a:lnTo>
                <a:lnTo>
                  <a:pt x="104646" y="328510"/>
                </a:lnTo>
                <a:close/>
              </a:path>
              <a:path w="171152" h="436879">
                <a:moveTo>
                  <a:pt x="104646" y="0"/>
                </a:moveTo>
                <a:lnTo>
                  <a:pt x="66546" y="0"/>
                </a:lnTo>
                <a:lnTo>
                  <a:pt x="66546" y="328510"/>
                </a:lnTo>
                <a:lnTo>
                  <a:pt x="85596" y="361168"/>
                </a:lnTo>
                <a:lnTo>
                  <a:pt x="104646" y="328510"/>
                </a:lnTo>
                <a:lnTo>
                  <a:pt x="104646" y="0"/>
                </a:lnTo>
                <a:close/>
              </a:path>
            </a:pathLst>
          </a:custGeom>
          <a:solidFill>
            <a:srgbClr val="357DB8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2282008" y="4437112"/>
            <a:ext cx="4877005" cy="11932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>
              <a:lnSpc>
                <a:spcPct val="150000"/>
              </a:lnSpc>
            </a:pPr>
            <a:r>
              <a:rPr lang="es-MX" sz="2200" b="1" dirty="0">
                <a:solidFill>
                  <a:srgbClr val="00B0F0"/>
                </a:solidFill>
                <a:cs typeface="Arial"/>
              </a:rPr>
              <a:t>Si</a:t>
            </a:r>
            <a:r>
              <a:rPr lang="es-MX" sz="2200" b="1" spc="-10" dirty="0">
                <a:solidFill>
                  <a:srgbClr val="00B0F0"/>
                </a:solidFill>
                <a:cs typeface="Arial"/>
              </a:rPr>
              <a:t> </a:t>
            </a:r>
            <a:r>
              <a:rPr lang="es-MX" sz="2200" b="1" dirty="0">
                <a:solidFill>
                  <a:srgbClr val="00B0F0"/>
                </a:solidFill>
                <a:cs typeface="Arial"/>
              </a:rPr>
              <a:t>la </a:t>
            </a:r>
            <a:r>
              <a:rPr lang="es-MX" sz="2200" b="1" spc="-10" dirty="0">
                <a:solidFill>
                  <a:srgbClr val="00B0F0"/>
                </a:solidFill>
                <a:cs typeface="Arial"/>
              </a:rPr>
              <a:t>c</a:t>
            </a:r>
            <a:r>
              <a:rPr lang="es-MX" sz="2200" b="1" dirty="0">
                <a:solidFill>
                  <a:srgbClr val="00B0F0"/>
                </a:solidFill>
                <a:cs typeface="Arial"/>
              </a:rPr>
              <a:t>ondi</a:t>
            </a:r>
            <a:r>
              <a:rPr lang="es-MX" sz="2200" b="1" spc="-10" dirty="0">
                <a:solidFill>
                  <a:srgbClr val="00B0F0"/>
                </a:solidFill>
                <a:cs typeface="Arial"/>
              </a:rPr>
              <a:t>c</a:t>
            </a:r>
            <a:r>
              <a:rPr lang="es-MX" sz="2200" b="1" dirty="0">
                <a:solidFill>
                  <a:srgbClr val="00B0F0"/>
                </a:solidFill>
                <a:cs typeface="Arial"/>
              </a:rPr>
              <a:t>ión</a:t>
            </a:r>
            <a:r>
              <a:rPr lang="es-MX" sz="2200" b="1" spc="-20" dirty="0">
                <a:solidFill>
                  <a:srgbClr val="00B0F0"/>
                </a:solidFill>
                <a:cs typeface="Arial"/>
              </a:rPr>
              <a:t> </a:t>
            </a:r>
            <a:r>
              <a:rPr lang="es-MX" sz="2200" b="1" spc="-10" dirty="0">
                <a:solidFill>
                  <a:srgbClr val="00B0F0"/>
                </a:solidFill>
                <a:cs typeface="Arial"/>
              </a:rPr>
              <a:t>s</a:t>
            </a:r>
            <a:r>
              <a:rPr lang="es-MX" sz="2200" b="1" dirty="0">
                <a:solidFill>
                  <a:srgbClr val="00B0F0"/>
                </a:solidFill>
                <a:cs typeface="Arial"/>
              </a:rPr>
              <a:t>e</a:t>
            </a:r>
            <a:r>
              <a:rPr lang="es-MX" sz="2200" b="1" spc="-5" dirty="0">
                <a:solidFill>
                  <a:srgbClr val="00B0F0"/>
                </a:solidFill>
                <a:cs typeface="Arial"/>
              </a:rPr>
              <a:t> </a:t>
            </a:r>
            <a:r>
              <a:rPr lang="es-MX" sz="2200" b="1" dirty="0">
                <a:solidFill>
                  <a:srgbClr val="00B0F0"/>
                </a:solidFill>
                <a:cs typeface="Arial"/>
              </a:rPr>
              <a:t>cu</a:t>
            </a:r>
            <a:r>
              <a:rPr lang="es-MX" sz="2200" b="1" spc="-10" dirty="0">
                <a:solidFill>
                  <a:srgbClr val="00B0F0"/>
                </a:solidFill>
                <a:cs typeface="Arial"/>
              </a:rPr>
              <a:t>m</a:t>
            </a:r>
            <a:r>
              <a:rPr lang="es-MX" sz="2200" b="1" dirty="0">
                <a:solidFill>
                  <a:srgbClr val="00B0F0"/>
                </a:solidFill>
                <a:cs typeface="Arial"/>
              </a:rPr>
              <a:t>ple s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e</a:t>
            </a:r>
            <a:r>
              <a:rPr sz="2200" b="1" spc="-10" dirty="0">
                <a:solidFill>
                  <a:srgbClr val="00B0F0"/>
                </a:solidFill>
                <a:cs typeface="Arial"/>
              </a:rPr>
              <a:t> 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eje</a:t>
            </a:r>
            <a:r>
              <a:rPr sz="2200" b="1" spc="-10" dirty="0">
                <a:solidFill>
                  <a:srgbClr val="00B0F0"/>
                </a:solidFill>
                <a:cs typeface="Arial"/>
              </a:rPr>
              <a:t>c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utan</a:t>
            </a:r>
            <a:r>
              <a:rPr sz="2200" b="1" spc="5" dirty="0">
                <a:solidFill>
                  <a:srgbClr val="00B0F0"/>
                </a:solidFill>
                <a:cs typeface="Arial"/>
              </a:rPr>
              <a:t> 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las</a:t>
            </a:r>
            <a:r>
              <a:rPr sz="2200" b="1" spc="-10" dirty="0">
                <a:solidFill>
                  <a:srgbClr val="00B0F0"/>
                </a:solidFill>
                <a:cs typeface="Arial"/>
              </a:rPr>
              <a:t> </a:t>
            </a:r>
            <a:r>
              <a:rPr sz="2200" b="1" spc="5" dirty="0">
                <a:solidFill>
                  <a:srgbClr val="00B0F0"/>
                </a:solidFill>
                <a:cs typeface="Arial"/>
              </a:rPr>
              <a:t>i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nstruc</a:t>
            </a:r>
            <a:r>
              <a:rPr sz="2200" b="1" spc="-10" dirty="0">
                <a:solidFill>
                  <a:srgbClr val="00B0F0"/>
                </a:solidFill>
                <a:cs typeface="Arial"/>
              </a:rPr>
              <a:t>c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i</a:t>
            </a:r>
            <a:r>
              <a:rPr sz="2200" b="1" spc="5" dirty="0">
                <a:solidFill>
                  <a:srgbClr val="00B0F0"/>
                </a:solidFill>
                <a:cs typeface="Arial"/>
              </a:rPr>
              <a:t>o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nes</a:t>
            </a:r>
            <a:r>
              <a:rPr sz="2200" b="1" spc="-10" dirty="0">
                <a:solidFill>
                  <a:srgbClr val="00B0F0"/>
                </a:solidFill>
                <a:cs typeface="Arial"/>
              </a:rPr>
              <a:t> </a:t>
            </a:r>
            <a:r>
              <a:rPr sz="2200" b="1" spc="5" dirty="0">
                <a:solidFill>
                  <a:srgbClr val="00B0F0"/>
                </a:solidFill>
                <a:cs typeface="Arial"/>
              </a:rPr>
              <a:t>d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el</a:t>
            </a:r>
            <a:r>
              <a:rPr sz="2200" b="1" spc="-10" dirty="0">
                <a:solidFill>
                  <a:srgbClr val="00B0F0"/>
                </a:solidFill>
                <a:cs typeface="Arial"/>
              </a:rPr>
              <a:t> 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b</a:t>
            </a:r>
            <a:r>
              <a:rPr sz="2200" b="1" spc="5" dirty="0">
                <a:solidFill>
                  <a:srgbClr val="00B0F0"/>
                </a:solidFill>
                <a:cs typeface="Arial"/>
              </a:rPr>
              <a:t>l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o</a:t>
            </a:r>
            <a:r>
              <a:rPr sz="2200" b="1" spc="5" dirty="0">
                <a:solidFill>
                  <a:srgbClr val="00B0F0"/>
                </a:solidFill>
                <a:cs typeface="Arial"/>
              </a:rPr>
              <a:t>q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ue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A1340C6-0639-4B0F-99CD-2D79C628EB22}"/>
              </a:ext>
            </a:extLst>
          </p:cNvPr>
          <p:cNvSpPr/>
          <p:nvPr/>
        </p:nvSpPr>
        <p:spPr>
          <a:xfrm>
            <a:off x="1295867" y="2500349"/>
            <a:ext cx="6372477" cy="308889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2667000" y="1466341"/>
            <a:ext cx="3649700" cy="584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Actividad grupal</a:t>
            </a:r>
            <a:endParaRPr sz="36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699795" y="2965450"/>
            <a:ext cx="6005492" cy="135737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sz="20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P</a:t>
            </a:r>
            <a:r>
              <a:rPr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e</a:t>
            </a:r>
            <a:r>
              <a:rPr sz="20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di</a:t>
            </a:r>
            <a:r>
              <a:rPr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r</a:t>
            </a:r>
            <a:r>
              <a:rPr sz="2000" spc="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al</a:t>
            </a:r>
            <a:r>
              <a:rPr sz="2000" spc="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usuario</a:t>
            </a:r>
            <a:r>
              <a:rPr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su</a:t>
            </a:r>
            <a:r>
              <a:rPr sz="20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000" spc="-5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e</a:t>
            </a: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dad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.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  <a:p>
            <a:pPr marL="355600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Si edad</a:t>
            </a:r>
            <a:r>
              <a:rPr sz="2000" spc="1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es</a:t>
            </a:r>
            <a:r>
              <a:rPr sz="2000" spc="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mayor o</a:t>
            </a:r>
            <a:r>
              <a:rPr sz="20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i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g</a:t>
            </a:r>
            <a:r>
              <a:rPr sz="2000" spc="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u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al</a:t>
            </a:r>
            <a:r>
              <a:rPr sz="2000" spc="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a</a:t>
            </a:r>
            <a:r>
              <a:rPr sz="2000" spc="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18 </a:t>
            </a:r>
            <a:r>
              <a:rPr sz="20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i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nd</a:t>
            </a:r>
            <a:r>
              <a:rPr sz="20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i</a:t>
            </a:r>
            <a:r>
              <a:rPr sz="20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c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ar</a:t>
            </a:r>
            <a:r>
              <a:rPr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le</a:t>
            </a:r>
            <a:r>
              <a:rPr sz="2000" spc="2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qu</a:t>
            </a:r>
            <a:r>
              <a:rPr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e</a:t>
            </a:r>
            <a:r>
              <a:rPr sz="2000" spc="1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es</a:t>
            </a:r>
            <a:r>
              <a:rPr sz="2000" spc="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mayor de </a:t>
            </a:r>
            <a:r>
              <a:rPr sz="2000" spc="-5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e</a:t>
            </a: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dad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.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26" name="object 25">
            <a:extLst>
              <a:ext uri="{FF2B5EF4-FFF2-40B4-BE49-F238E27FC236}">
                <a16:creationId xmlns:a16="http://schemas.microsoft.com/office/drawing/2014/main" id="{0663B11B-215D-46AB-A19C-E39A65374766}"/>
              </a:ext>
            </a:extLst>
          </p:cNvPr>
          <p:cNvSpPr txBox="1"/>
          <p:nvPr/>
        </p:nvSpPr>
        <p:spPr>
          <a:xfrm>
            <a:off x="2670858" y="2407217"/>
            <a:ext cx="6108601" cy="50286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spcAft>
                <a:spcPts val="600"/>
              </a:spcAft>
            </a:pPr>
            <a:r>
              <a:rPr lang="es-MX" sz="20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Definir el algoritmo</a:t>
            </a:r>
            <a:r>
              <a:rPr lang="es-MX" sz="2000" b="1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lang="es-MX" sz="20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y el programa en </a:t>
            </a:r>
            <a:r>
              <a:rPr lang="es-MX" sz="2000" b="1" spc="-2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Python</a:t>
            </a:r>
            <a:r>
              <a:rPr lang="es-MX" sz="2000" spc="-2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:</a:t>
            </a:r>
            <a:endParaRPr sz="2000" dirty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8BBC9BD6-B05D-4DB3-BED2-301CAA8052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0320" y="4071488"/>
            <a:ext cx="2800689" cy="1880369"/>
          </a:xfrm>
          <a:prstGeom prst="rect">
            <a:avLst/>
          </a:prstGeom>
        </p:spPr>
      </p:pic>
      <p:sp>
        <p:nvSpPr>
          <p:cNvPr id="32" name="object 26">
            <a:extLst>
              <a:ext uri="{FF2B5EF4-FFF2-40B4-BE49-F238E27FC236}">
                <a16:creationId xmlns:a16="http://schemas.microsoft.com/office/drawing/2014/main" id="{96D9A129-C789-411B-AA78-1367C71B2FBE}"/>
              </a:ext>
            </a:extLst>
          </p:cNvPr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4800" b="1" spc="-2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4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03454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2843808" y="1511553"/>
            <a:ext cx="3649700" cy="584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Algoritmo</a:t>
            </a:r>
          </a:p>
          <a:p>
            <a:pPr marL="12700"/>
            <a:r>
              <a:rPr lang="es-MX" sz="2800" b="1" dirty="0">
                <a:solidFill>
                  <a:schemeClr val="bg1"/>
                </a:solidFill>
                <a:latin typeface="Calibri"/>
                <a:cs typeface="Calibri"/>
              </a:rPr>
              <a:t>Algoritmo</a:t>
            </a:r>
            <a:endParaRPr sz="2800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37" name="object 3">
            <a:extLst>
              <a:ext uri="{FF2B5EF4-FFF2-40B4-BE49-F238E27FC236}">
                <a16:creationId xmlns:a16="http://schemas.microsoft.com/office/drawing/2014/main" id="{0A3F522B-39E5-49DC-BBF2-4B9B39163ED1}"/>
              </a:ext>
            </a:extLst>
          </p:cNvPr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8" name="object 26">
            <a:extLst>
              <a:ext uri="{FF2B5EF4-FFF2-40B4-BE49-F238E27FC236}">
                <a16:creationId xmlns:a16="http://schemas.microsoft.com/office/drawing/2014/main" id="{E19F8F01-05D7-4A66-BEDB-7CAE9A25BD4A}"/>
              </a:ext>
            </a:extLst>
          </p:cNvPr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4800" b="1" spc="-2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4800" dirty="0">
              <a:latin typeface="Calibri"/>
              <a:cs typeface="Calibri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B4E5043-8BD4-4BD1-A2E4-E4D8C11F4763}"/>
              </a:ext>
            </a:extLst>
          </p:cNvPr>
          <p:cNvSpPr txBox="1"/>
          <p:nvPr/>
        </p:nvSpPr>
        <p:spPr>
          <a:xfrm>
            <a:off x="2747770" y="2139615"/>
            <a:ext cx="4972686" cy="249299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endParaRPr lang="es-MX" sz="2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MX" sz="2400" dirty="0"/>
              <a:t>Pedir la edad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MX" sz="2400" dirty="0"/>
              <a:t>Si edad &gt;= 18</a:t>
            </a:r>
          </a:p>
          <a:p>
            <a:pPr>
              <a:lnSpc>
                <a:spcPct val="150000"/>
              </a:lnSpc>
            </a:pPr>
            <a:r>
              <a:rPr lang="es-MX" sz="2400" dirty="0"/>
              <a:t>           Escribir(“Eres mayor de edad”)</a:t>
            </a:r>
          </a:p>
          <a:p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2185813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2639976" y="1639422"/>
            <a:ext cx="5096616" cy="65125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Programa en Python</a:t>
            </a:r>
            <a:endParaRPr sz="28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39" name="object 3">
            <a:extLst>
              <a:ext uri="{FF2B5EF4-FFF2-40B4-BE49-F238E27FC236}">
                <a16:creationId xmlns:a16="http://schemas.microsoft.com/office/drawing/2014/main" id="{A525328C-784D-4E43-B52C-66C9899CC64E}"/>
              </a:ext>
            </a:extLst>
          </p:cNvPr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pic>
        <p:nvPicPr>
          <p:cNvPr id="40" name="Imagen 39">
            <a:extLst>
              <a:ext uri="{FF2B5EF4-FFF2-40B4-BE49-F238E27FC236}">
                <a16:creationId xmlns:a16="http://schemas.microsoft.com/office/drawing/2014/main" id="{BBC8D6D7-BAE4-4157-808B-3F212D5AF5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9976" y="2575707"/>
            <a:ext cx="6224916" cy="1665438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92CAD75B-0586-4CEB-A051-AE58F6A7B66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3987546"/>
            <a:ext cx="855044" cy="855044"/>
          </a:xfrm>
          <a:prstGeom prst="rect">
            <a:avLst/>
          </a:prstGeom>
          <a:effectLst>
            <a:outerShdw blurRad="50800" dist="50800" dir="5400000" algn="ctr" rotWithShape="0">
              <a:schemeClr val="bg1">
                <a:lumMod val="85000"/>
              </a:schemeClr>
            </a:outerShdw>
            <a:softEdge rad="25400"/>
          </a:effectLst>
        </p:spPr>
      </p:pic>
      <p:sp>
        <p:nvSpPr>
          <p:cNvPr id="41" name="object 26">
            <a:extLst>
              <a:ext uri="{FF2B5EF4-FFF2-40B4-BE49-F238E27FC236}">
                <a16:creationId xmlns:a16="http://schemas.microsoft.com/office/drawing/2014/main" id="{D13731EE-52D3-4A63-BB6D-961F6EE8714D}"/>
              </a:ext>
            </a:extLst>
          </p:cNvPr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4800" b="1" spc="-2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4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9307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2713110" y="3132708"/>
            <a:ext cx="4965322" cy="5910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3600" b="1" dirty="0" err="1">
                <a:solidFill>
                  <a:srgbClr val="002060"/>
                </a:solidFill>
                <a:latin typeface="Calibri"/>
                <a:cs typeface="Calibri"/>
              </a:rPr>
              <a:t>Condiciona</a:t>
            </a:r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l compuesta</a:t>
            </a:r>
            <a:endParaRPr sz="36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4800" b="1" spc="-2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4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 txBox="1"/>
          <p:nvPr/>
        </p:nvSpPr>
        <p:spPr>
          <a:xfrm>
            <a:off x="755576" y="1124744"/>
            <a:ext cx="7632848" cy="245814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>
              <a:lnSpc>
                <a:spcPct val="150000"/>
              </a:lnSpc>
              <a:spcAft>
                <a:spcPts val="600"/>
              </a:spcAft>
            </a:pP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Otra versión del condicional if incluye una alternativa de ejecución si la 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condición</a:t>
            </a:r>
            <a:r>
              <a:rPr lang="es-MX" sz="2000" dirty="0">
                <a:solidFill>
                  <a:srgbClr val="C5DAEB"/>
                </a:solidFill>
                <a:cs typeface="Calibri"/>
              </a:rPr>
              <a:t> 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no se cumple. En la que además de especificar el bloque de código que se desea ejecutar cuando la solución de la 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condición</a:t>
            </a:r>
            <a:r>
              <a:rPr lang="es-MX" sz="2000" dirty="0">
                <a:solidFill>
                  <a:srgbClr val="C5DAEB"/>
                </a:solidFill>
                <a:cs typeface="Calibri"/>
              </a:rPr>
              <a:t> 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(Expresión Lógica) es 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verdadera (True)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, se especifica también un bloque de código a ejecutar cuando la solución es 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falsa (False)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92456" y="5726429"/>
            <a:ext cx="102870" cy="203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1200" spc="-10" dirty="0">
                <a:solidFill>
                  <a:srgbClr val="18BAD4"/>
                </a:solidFill>
                <a:latin typeface="Calibri"/>
                <a:cs typeface="Calibri"/>
              </a:rPr>
              <a:t>9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7" name="object 14">
            <a:extLst>
              <a:ext uri="{FF2B5EF4-FFF2-40B4-BE49-F238E27FC236}">
                <a16:creationId xmlns:a16="http://schemas.microsoft.com/office/drawing/2014/main" id="{3377A7EF-D2C8-413B-A257-11F71BB5E82C}"/>
              </a:ext>
            </a:extLst>
          </p:cNvPr>
          <p:cNvSpPr txBox="1"/>
          <p:nvPr/>
        </p:nvSpPr>
        <p:spPr>
          <a:xfrm>
            <a:off x="1666869" y="260648"/>
            <a:ext cx="5857459" cy="72008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4400" b="1" spc="-25" dirty="0" err="1">
                <a:solidFill>
                  <a:srgbClr val="002060"/>
                </a:solidFill>
                <a:latin typeface="Calibri"/>
                <a:cs typeface="Calibri"/>
              </a:rPr>
              <a:t>C</a:t>
            </a:r>
            <a:r>
              <a:rPr sz="4400" b="1" spc="-20" dirty="0" err="1">
                <a:solidFill>
                  <a:srgbClr val="002060"/>
                </a:solidFill>
                <a:latin typeface="Calibri"/>
                <a:cs typeface="Calibri"/>
              </a:rPr>
              <a:t>ondicional</a:t>
            </a:r>
            <a:r>
              <a:rPr sz="4400" b="1" spc="-1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lang="es-MX" sz="4400" b="1" spc="-10" dirty="0">
                <a:solidFill>
                  <a:srgbClr val="002060"/>
                </a:solidFill>
                <a:latin typeface="Calibri"/>
                <a:cs typeface="Calibri"/>
              </a:rPr>
              <a:t>if compuesta</a:t>
            </a:r>
            <a:endParaRPr sz="44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0B8511DF-6B6D-48DB-8EB7-966781881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3582885"/>
            <a:ext cx="5895975" cy="245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54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 txBox="1"/>
          <p:nvPr/>
        </p:nvSpPr>
        <p:spPr>
          <a:xfrm>
            <a:off x="1139092" y="1412776"/>
            <a:ext cx="7167697" cy="102283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>
              <a:lnSpc>
                <a:spcPts val="3500"/>
              </a:lnSpc>
            </a:pP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La estructura de la condicional compuesta en Python tiene la siguiente forma:</a:t>
            </a:r>
          </a:p>
        </p:txBody>
      </p:sp>
      <p:sp>
        <p:nvSpPr>
          <p:cNvPr id="27" name="object 14">
            <a:extLst>
              <a:ext uri="{FF2B5EF4-FFF2-40B4-BE49-F238E27FC236}">
                <a16:creationId xmlns:a16="http://schemas.microsoft.com/office/drawing/2014/main" id="{3377A7EF-D2C8-413B-A257-11F71BB5E82C}"/>
              </a:ext>
            </a:extLst>
          </p:cNvPr>
          <p:cNvSpPr txBox="1"/>
          <p:nvPr/>
        </p:nvSpPr>
        <p:spPr>
          <a:xfrm>
            <a:off x="1691681" y="367482"/>
            <a:ext cx="5976663" cy="6350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sz="4400" b="1" spc="-25" dirty="0" err="1">
                <a:solidFill>
                  <a:srgbClr val="002060"/>
                </a:solidFill>
                <a:latin typeface="Calibri"/>
                <a:cs typeface="Calibri"/>
              </a:rPr>
              <a:t>C</a:t>
            </a:r>
            <a:r>
              <a:rPr sz="4400" b="1" spc="-20" dirty="0" err="1">
                <a:solidFill>
                  <a:srgbClr val="002060"/>
                </a:solidFill>
                <a:latin typeface="Calibri"/>
                <a:cs typeface="Calibri"/>
              </a:rPr>
              <a:t>ondicional</a:t>
            </a:r>
            <a:r>
              <a:rPr sz="4400" b="1" spc="-1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lang="es-MX" sz="4400" b="1" spc="-10" dirty="0">
                <a:solidFill>
                  <a:srgbClr val="002060"/>
                </a:solidFill>
                <a:latin typeface="Calibri"/>
                <a:cs typeface="Calibri"/>
              </a:rPr>
              <a:t>if compuesta</a:t>
            </a:r>
            <a:endParaRPr sz="44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19" name="Google Shape;65;p9">
            <a:extLst>
              <a:ext uri="{FF2B5EF4-FFF2-40B4-BE49-F238E27FC236}">
                <a16:creationId xmlns:a16="http://schemas.microsoft.com/office/drawing/2014/main" id="{DD55D289-0BCE-4A13-8697-AACC8060C7AC}"/>
              </a:ext>
            </a:extLst>
          </p:cNvPr>
          <p:cNvSpPr txBox="1"/>
          <p:nvPr/>
        </p:nvSpPr>
        <p:spPr>
          <a:xfrm>
            <a:off x="1139092" y="2634872"/>
            <a:ext cx="3108187" cy="281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590">
              <a:lnSpc>
                <a:spcPts val="5000"/>
              </a:lnSpc>
            </a:pPr>
            <a:r>
              <a:rPr lang="en-US" sz="3200" b="1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lang="en-US" sz="3200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condición:</a:t>
            </a:r>
            <a:endParaRPr sz="32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745490">
              <a:lnSpc>
                <a:spcPts val="5000"/>
              </a:lnSpc>
            </a:pP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código 1</a:t>
            </a:r>
          </a:p>
          <a:p>
            <a:pPr marL="21590">
              <a:lnSpc>
                <a:spcPts val="5000"/>
              </a:lnSpc>
            </a:pPr>
            <a:r>
              <a:rPr lang="en-US" sz="3200" b="1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else:</a:t>
            </a:r>
            <a:endParaRPr lang="en-US" sz="3200" b="1" dirty="0">
              <a:solidFill>
                <a:srgbClr val="00B050"/>
              </a:solidFill>
            </a:endParaRPr>
          </a:p>
          <a:p>
            <a:pPr marL="745490">
              <a:lnSpc>
                <a:spcPts val="5000"/>
              </a:lnSpc>
            </a:pPr>
            <a:r>
              <a:rPr lang="en-US" sz="2800" b="1" dirty="0" err="1">
                <a:solidFill>
                  <a:schemeClr val="accent5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código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endParaRPr lang="en-US" sz="3600" b="1" dirty="0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1DD4DD73-824F-4D79-8002-0251F9532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279" y="3068960"/>
            <a:ext cx="4358082" cy="18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326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1835696" y="476672"/>
            <a:ext cx="5941071" cy="6350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sz="4400" b="1" spc="-25" dirty="0" err="1">
                <a:solidFill>
                  <a:srgbClr val="002060"/>
                </a:solidFill>
                <a:latin typeface="Calibri"/>
                <a:cs typeface="Calibri"/>
              </a:rPr>
              <a:t>C</a:t>
            </a:r>
            <a:r>
              <a:rPr sz="4400" b="1" spc="-20" dirty="0" err="1">
                <a:solidFill>
                  <a:srgbClr val="002060"/>
                </a:solidFill>
                <a:latin typeface="Calibri"/>
                <a:cs typeface="Calibri"/>
              </a:rPr>
              <a:t>ondicional</a:t>
            </a:r>
            <a:r>
              <a:rPr sz="4400" b="1" spc="-1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lang="es-MX" sz="4400" b="1" spc="-10" dirty="0">
                <a:solidFill>
                  <a:srgbClr val="002060"/>
                </a:solidFill>
                <a:latin typeface="Calibri"/>
                <a:cs typeface="Calibri"/>
              </a:rPr>
              <a:t>if compuesta</a:t>
            </a:r>
            <a:endParaRPr sz="44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06267" y="1656956"/>
            <a:ext cx="7130654" cy="52652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2094230">
              <a:spcAft>
                <a:spcPts val="1200"/>
              </a:spcAft>
            </a:pPr>
            <a:r>
              <a:rPr sz="2400" dirty="0" err="1">
                <a:solidFill>
                  <a:schemeClr val="tx1">
                    <a:lumMod val="85000"/>
                    <a:lumOff val="15000"/>
                  </a:schemeClr>
                </a:solidFill>
                <a:cs typeface="Calibri"/>
              </a:rPr>
              <a:t>Ejemplo</a:t>
            </a:r>
            <a:r>
              <a:rPr sz="2400" dirty="0">
                <a:solidFill>
                  <a:schemeClr val="tx1">
                    <a:lumMod val="85000"/>
                    <a:lumOff val="15000"/>
                  </a:schemeClr>
                </a:solidFill>
                <a:cs typeface="Calibri"/>
              </a:rPr>
              <a:t> de </a:t>
            </a:r>
            <a:r>
              <a:rPr lang="es-MX" sz="2400" dirty="0">
                <a:solidFill>
                  <a:schemeClr val="tx1">
                    <a:lumMod val="85000"/>
                    <a:lumOff val="15000"/>
                  </a:schemeClr>
                </a:solidFill>
                <a:cs typeface="Calibri"/>
              </a:rPr>
              <a:t>condicional compuesta:</a:t>
            </a:r>
            <a:endParaRPr sz="2400" dirty="0">
              <a:solidFill>
                <a:schemeClr val="tx1">
                  <a:lumMod val="85000"/>
                  <a:lumOff val="15000"/>
                </a:schemeClr>
              </a:solidFill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11840" y="2564904"/>
            <a:ext cx="7048592" cy="300441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50000"/>
              </a:lnSpc>
            </a:pPr>
            <a:r>
              <a:rPr lang="es-MX" sz="3200" b="1" dirty="0">
                <a:solidFill>
                  <a:schemeClr val="accent6">
                    <a:lumMod val="75000"/>
                  </a:schemeClr>
                </a:solidFill>
                <a:cs typeface="Arial"/>
              </a:rPr>
              <a:t>if x % 2 == 0:</a:t>
            </a:r>
          </a:p>
          <a:p>
            <a:pPr marL="12700">
              <a:lnSpc>
                <a:spcPct val="150000"/>
              </a:lnSpc>
            </a:pPr>
            <a:r>
              <a:rPr lang="es-MX" sz="3200" b="1" dirty="0">
                <a:solidFill>
                  <a:srgbClr val="002060"/>
                </a:solidFill>
                <a:cs typeface="Arial"/>
              </a:rPr>
              <a:t>	print ("x es un número par")</a:t>
            </a:r>
          </a:p>
          <a:p>
            <a:pPr marL="12700">
              <a:lnSpc>
                <a:spcPct val="150000"/>
              </a:lnSpc>
            </a:pPr>
            <a:r>
              <a:rPr lang="es-MX" sz="3200" b="1" dirty="0">
                <a:solidFill>
                  <a:schemeClr val="accent6">
                    <a:lumMod val="75000"/>
                  </a:schemeClr>
                </a:solidFill>
                <a:cs typeface="Arial"/>
              </a:rPr>
              <a:t>else:</a:t>
            </a:r>
          </a:p>
          <a:p>
            <a:pPr marL="12700">
              <a:lnSpc>
                <a:spcPct val="150000"/>
              </a:lnSpc>
            </a:pPr>
            <a:r>
              <a:rPr lang="es-MX" sz="3200" b="1" dirty="0">
                <a:solidFill>
                  <a:srgbClr val="002060"/>
                </a:solidFill>
                <a:cs typeface="Arial"/>
              </a:rPr>
              <a:t>	print ("x es un número impar")</a:t>
            </a:r>
          </a:p>
        </p:txBody>
      </p:sp>
      <p:sp>
        <p:nvSpPr>
          <p:cNvPr id="20" name="object 20"/>
          <p:cNvSpPr/>
          <p:nvPr/>
        </p:nvSpPr>
        <p:spPr>
          <a:xfrm>
            <a:off x="3757347" y="2949895"/>
            <a:ext cx="683387" cy="171151"/>
          </a:xfrm>
          <a:custGeom>
            <a:avLst/>
            <a:gdLst/>
            <a:ahLst/>
            <a:cxnLst/>
            <a:rect l="l" t="t" r="r" b="b"/>
            <a:pathLst>
              <a:path w="683387" h="171151">
                <a:moveTo>
                  <a:pt x="608291" y="85892"/>
                </a:moveTo>
                <a:lnTo>
                  <a:pt x="515050" y="142554"/>
                </a:lnTo>
                <a:lnTo>
                  <a:pt x="513262" y="153234"/>
                </a:lnTo>
                <a:lnTo>
                  <a:pt x="518458" y="166299"/>
                </a:lnTo>
                <a:lnTo>
                  <a:pt x="529180" y="171151"/>
                </a:lnTo>
                <a:lnTo>
                  <a:pt x="540893" y="168740"/>
                </a:lnTo>
                <a:lnTo>
                  <a:pt x="650754" y="104605"/>
                </a:lnTo>
                <a:lnTo>
                  <a:pt x="645668" y="104605"/>
                </a:lnTo>
                <a:lnTo>
                  <a:pt x="645668" y="102065"/>
                </a:lnTo>
                <a:lnTo>
                  <a:pt x="636016" y="102065"/>
                </a:lnTo>
                <a:lnTo>
                  <a:pt x="608291" y="85892"/>
                </a:lnTo>
                <a:close/>
              </a:path>
              <a:path w="683387" h="171151">
                <a:moveTo>
                  <a:pt x="575056" y="66505"/>
                </a:moveTo>
                <a:lnTo>
                  <a:pt x="0" y="66505"/>
                </a:lnTo>
                <a:lnTo>
                  <a:pt x="0" y="104605"/>
                </a:lnTo>
                <a:lnTo>
                  <a:pt x="577499" y="104605"/>
                </a:lnTo>
                <a:lnTo>
                  <a:pt x="608291" y="85892"/>
                </a:lnTo>
                <a:lnTo>
                  <a:pt x="575056" y="66505"/>
                </a:lnTo>
                <a:close/>
              </a:path>
              <a:path w="683387" h="171151">
                <a:moveTo>
                  <a:pt x="650754" y="66505"/>
                </a:moveTo>
                <a:lnTo>
                  <a:pt x="645668" y="66505"/>
                </a:lnTo>
                <a:lnTo>
                  <a:pt x="645668" y="104605"/>
                </a:lnTo>
                <a:lnTo>
                  <a:pt x="650754" y="104605"/>
                </a:lnTo>
                <a:lnTo>
                  <a:pt x="683387" y="85555"/>
                </a:lnTo>
                <a:lnTo>
                  <a:pt x="650754" y="66505"/>
                </a:lnTo>
                <a:close/>
              </a:path>
              <a:path w="683387" h="171151">
                <a:moveTo>
                  <a:pt x="636016" y="69045"/>
                </a:moveTo>
                <a:lnTo>
                  <a:pt x="608291" y="85892"/>
                </a:lnTo>
                <a:lnTo>
                  <a:pt x="636016" y="102065"/>
                </a:lnTo>
                <a:lnTo>
                  <a:pt x="636016" y="69045"/>
                </a:lnTo>
                <a:close/>
              </a:path>
              <a:path w="683387" h="171151">
                <a:moveTo>
                  <a:pt x="645668" y="69045"/>
                </a:moveTo>
                <a:lnTo>
                  <a:pt x="636016" y="69045"/>
                </a:lnTo>
                <a:lnTo>
                  <a:pt x="636016" y="102065"/>
                </a:lnTo>
                <a:lnTo>
                  <a:pt x="645668" y="102065"/>
                </a:lnTo>
                <a:lnTo>
                  <a:pt x="645668" y="69045"/>
                </a:lnTo>
                <a:close/>
              </a:path>
              <a:path w="683387" h="171151">
                <a:moveTo>
                  <a:pt x="532253" y="0"/>
                </a:moveTo>
                <a:lnTo>
                  <a:pt x="521814" y="3565"/>
                </a:lnTo>
                <a:lnTo>
                  <a:pt x="512687" y="14753"/>
                </a:lnTo>
                <a:lnTo>
                  <a:pt x="513777" y="26420"/>
                </a:lnTo>
                <a:lnTo>
                  <a:pt x="521716" y="35390"/>
                </a:lnTo>
                <a:lnTo>
                  <a:pt x="608291" y="85892"/>
                </a:lnTo>
                <a:lnTo>
                  <a:pt x="636016" y="69045"/>
                </a:lnTo>
                <a:lnTo>
                  <a:pt x="645668" y="69045"/>
                </a:lnTo>
                <a:lnTo>
                  <a:pt x="645668" y="66505"/>
                </a:lnTo>
                <a:lnTo>
                  <a:pt x="650754" y="66505"/>
                </a:lnTo>
                <a:lnTo>
                  <a:pt x="540893" y="2370"/>
                </a:lnTo>
                <a:lnTo>
                  <a:pt x="532253" y="0"/>
                </a:lnTo>
                <a:close/>
              </a:path>
            </a:pathLst>
          </a:custGeom>
          <a:solidFill>
            <a:srgbClr val="357DB8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22"/>
          <p:cNvSpPr txBox="1"/>
          <p:nvPr/>
        </p:nvSpPr>
        <p:spPr>
          <a:xfrm>
            <a:off x="4572000" y="2833014"/>
            <a:ext cx="3983896" cy="4760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2200" b="1" dirty="0">
                <a:solidFill>
                  <a:srgbClr val="00B0F0"/>
                </a:solidFill>
                <a:cs typeface="Arial"/>
              </a:rPr>
              <a:t>Exp</a:t>
            </a:r>
            <a:r>
              <a:rPr sz="2200" b="1" spc="5" dirty="0">
                <a:solidFill>
                  <a:srgbClr val="00B0F0"/>
                </a:solidFill>
                <a:cs typeface="Arial"/>
              </a:rPr>
              <a:t>r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es</a:t>
            </a:r>
            <a:r>
              <a:rPr sz="2200" b="1" spc="5" dirty="0">
                <a:solidFill>
                  <a:srgbClr val="00B0F0"/>
                </a:solidFill>
                <a:cs typeface="Arial"/>
              </a:rPr>
              <a:t>i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ón</a:t>
            </a:r>
            <a:r>
              <a:rPr sz="2200" b="1" spc="-40" dirty="0">
                <a:solidFill>
                  <a:srgbClr val="00B0F0"/>
                </a:solidFill>
                <a:cs typeface="Arial"/>
              </a:rPr>
              <a:t> 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b</a:t>
            </a:r>
            <a:r>
              <a:rPr sz="2200" b="1" spc="-10" dirty="0">
                <a:solidFill>
                  <a:srgbClr val="00B0F0"/>
                </a:solidFill>
                <a:cs typeface="Arial"/>
              </a:rPr>
              <a:t>o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oleana:</a:t>
            </a:r>
            <a:r>
              <a:rPr sz="2200" b="1" spc="-45" dirty="0">
                <a:solidFill>
                  <a:srgbClr val="00B0F0"/>
                </a:solidFill>
                <a:cs typeface="Arial"/>
              </a:rPr>
              <a:t> 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co</a:t>
            </a:r>
            <a:r>
              <a:rPr sz="2200" b="1" spc="-10" dirty="0">
                <a:solidFill>
                  <a:srgbClr val="00B0F0"/>
                </a:solidFill>
                <a:cs typeface="Arial"/>
              </a:rPr>
              <a:t>n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dic</a:t>
            </a:r>
            <a:r>
              <a:rPr sz="2200" b="1" spc="5" dirty="0">
                <a:solidFill>
                  <a:srgbClr val="00B0F0"/>
                </a:solidFill>
                <a:cs typeface="Arial"/>
              </a:rPr>
              <a:t>i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ón</a:t>
            </a:r>
            <a:endParaRPr sz="2200" dirty="0">
              <a:solidFill>
                <a:srgbClr val="00B0F0"/>
              </a:solidFill>
              <a:cs typeface="Arial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4A3C5C5-9FFF-4D79-8026-6E2C5B40B53D}"/>
              </a:ext>
            </a:extLst>
          </p:cNvPr>
          <p:cNvSpPr/>
          <p:nvPr/>
        </p:nvSpPr>
        <p:spPr>
          <a:xfrm>
            <a:off x="1295867" y="2500349"/>
            <a:ext cx="7048592" cy="308889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39173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2677610" y="1124744"/>
            <a:ext cx="3649700" cy="584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Actividad grupal</a:t>
            </a:r>
            <a:endParaRPr sz="36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699796" y="2571359"/>
            <a:ext cx="5758405" cy="251891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 algn="just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s-MX" sz="20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Despliega un mensaje donde diga si un alumno aprobó o reprobó un curso. </a:t>
            </a:r>
          </a:p>
          <a:p>
            <a:pPr marL="355600" indent="-342900" algn="just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s-MX" sz="20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El usuario introduce las calificaciones de sus dos parciales. Las calificaciones van en el rango de 0 a 100. </a:t>
            </a:r>
          </a:p>
          <a:p>
            <a:pPr marL="355600" indent="-342900" algn="just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s-MX" sz="20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La calificación final mínima aprobatoria es 70 y es el resultado del promedio de los dos parciales. 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26" name="object 25">
            <a:extLst>
              <a:ext uri="{FF2B5EF4-FFF2-40B4-BE49-F238E27FC236}">
                <a16:creationId xmlns:a16="http://schemas.microsoft.com/office/drawing/2014/main" id="{0663B11B-215D-46AB-A19C-E39A65374766}"/>
              </a:ext>
            </a:extLst>
          </p:cNvPr>
          <p:cNvSpPr txBox="1"/>
          <p:nvPr/>
        </p:nvSpPr>
        <p:spPr>
          <a:xfrm>
            <a:off x="2670858" y="2013127"/>
            <a:ext cx="6108601" cy="50286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spcAft>
                <a:spcPts val="600"/>
              </a:spcAft>
            </a:pPr>
            <a:r>
              <a:rPr lang="es-MX" sz="20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Definir el algoritmo</a:t>
            </a:r>
            <a:r>
              <a:rPr lang="es-MX" sz="2000" b="1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lang="es-MX" sz="20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y el programa en </a:t>
            </a:r>
            <a:r>
              <a:rPr lang="es-MX" sz="2000" b="1" spc="-2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Python</a:t>
            </a:r>
            <a:r>
              <a:rPr lang="es-MX" sz="20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: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28" name="object 26">
            <a:extLst>
              <a:ext uri="{FF2B5EF4-FFF2-40B4-BE49-F238E27FC236}">
                <a16:creationId xmlns:a16="http://schemas.microsoft.com/office/drawing/2014/main" id="{2A77E13A-98FD-4F73-9CAC-B813657E1B4A}"/>
              </a:ext>
            </a:extLst>
          </p:cNvPr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800" b="1" spc="-2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4800" dirty="0">
              <a:latin typeface="Calibri"/>
              <a:cs typeface="Calibri"/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107B306D-BE4C-4135-91C0-7EC25E1CC2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2280" y="5463771"/>
            <a:ext cx="1835102" cy="11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474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2843808" y="1491749"/>
            <a:ext cx="3649700" cy="584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Algoritmo</a:t>
            </a:r>
            <a:endParaRPr sz="28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30" name="object 3">
            <a:extLst>
              <a:ext uri="{FF2B5EF4-FFF2-40B4-BE49-F238E27FC236}">
                <a16:creationId xmlns:a16="http://schemas.microsoft.com/office/drawing/2014/main" id="{7FE3A13B-DBB4-449A-B454-81AAB09D6EA8}"/>
              </a:ext>
            </a:extLst>
          </p:cNvPr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1" name="object 26">
            <a:extLst>
              <a:ext uri="{FF2B5EF4-FFF2-40B4-BE49-F238E27FC236}">
                <a16:creationId xmlns:a16="http://schemas.microsoft.com/office/drawing/2014/main" id="{D7317DB9-0440-474B-A9B5-A5549D54AC4D}"/>
              </a:ext>
            </a:extLst>
          </p:cNvPr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800" b="1" spc="-2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4800" dirty="0">
              <a:latin typeface="Calibri"/>
              <a:cs typeface="Calibri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3173249-7DF8-43BA-AE83-E97EF105511C}"/>
              </a:ext>
            </a:extLst>
          </p:cNvPr>
          <p:cNvSpPr txBox="1"/>
          <p:nvPr/>
        </p:nvSpPr>
        <p:spPr>
          <a:xfrm>
            <a:off x="2736389" y="2340102"/>
            <a:ext cx="4972686" cy="267765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s-MX" sz="2400" dirty="0"/>
              <a:t>Pedir el parcial 1 (p1)</a:t>
            </a:r>
          </a:p>
          <a:p>
            <a:pPr marL="342900" indent="-342900">
              <a:buAutoNum type="arabicPeriod"/>
            </a:pPr>
            <a:r>
              <a:rPr lang="es-MX" sz="2400" dirty="0"/>
              <a:t>Pedir el parcial 2 (p2)</a:t>
            </a:r>
          </a:p>
          <a:p>
            <a:pPr marL="342900" indent="-342900">
              <a:buAutoNum type="arabicPeriod"/>
            </a:pPr>
            <a:r>
              <a:rPr lang="es-MX" sz="2400" dirty="0"/>
              <a:t>promedio = (p1+p2)/2</a:t>
            </a:r>
          </a:p>
          <a:p>
            <a:pPr marL="342900" indent="-342900">
              <a:buAutoNum type="arabicPeriod"/>
            </a:pPr>
            <a:r>
              <a:rPr lang="es-MX" sz="2400" dirty="0"/>
              <a:t>Si (promedio &gt;= 70)</a:t>
            </a:r>
          </a:p>
          <a:p>
            <a:r>
              <a:rPr lang="es-MX" sz="2400" dirty="0"/>
              <a:t>    	Escribir(“Aprobado”)</a:t>
            </a:r>
          </a:p>
          <a:p>
            <a:r>
              <a:rPr lang="es-MX" sz="2400" dirty="0"/>
              <a:t>    SiNo</a:t>
            </a:r>
          </a:p>
          <a:p>
            <a:r>
              <a:rPr lang="es-MX" sz="2400" dirty="0"/>
              <a:t>    	Escribir(“Reprobado”)</a:t>
            </a:r>
          </a:p>
        </p:txBody>
      </p:sp>
    </p:spTree>
    <p:extLst>
      <p:ext uri="{BB962C8B-B14F-4D97-AF65-F5344CB8AC3E}">
        <p14:creationId xmlns:p14="http://schemas.microsoft.com/office/powerpoint/2010/main" val="2100447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D35E8957-E4C9-4A65-B3C9-52D2EE4A4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834" y="2316428"/>
            <a:ext cx="6152006" cy="2607473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2763846" y="1531374"/>
            <a:ext cx="4592560" cy="584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Programa en Python</a:t>
            </a:r>
            <a:endParaRPr sz="28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30" name="object 3">
            <a:extLst>
              <a:ext uri="{FF2B5EF4-FFF2-40B4-BE49-F238E27FC236}">
                <a16:creationId xmlns:a16="http://schemas.microsoft.com/office/drawing/2014/main" id="{7FE3A13B-DBB4-449A-B454-81AAB09D6EA8}"/>
              </a:ext>
            </a:extLst>
          </p:cNvPr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1" name="object 26">
            <a:extLst>
              <a:ext uri="{FF2B5EF4-FFF2-40B4-BE49-F238E27FC236}">
                <a16:creationId xmlns:a16="http://schemas.microsoft.com/office/drawing/2014/main" id="{D7317DB9-0440-474B-A9B5-A5549D54AC4D}"/>
              </a:ext>
            </a:extLst>
          </p:cNvPr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800" b="1" spc="-2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4800" dirty="0">
              <a:latin typeface="Calibri"/>
              <a:cs typeface="Calibri"/>
            </a:endParaRP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4E5724D4-90AE-4787-A1E3-FF116C9F13E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9644" y="4322826"/>
            <a:ext cx="855044" cy="855044"/>
          </a:xfrm>
          <a:prstGeom prst="rect">
            <a:avLst/>
          </a:prstGeom>
          <a:effectLst>
            <a:outerShdw blurRad="50800" dist="50800" dir="5400000" algn="ctr" rotWithShape="0">
              <a:schemeClr val="bg1">
                <a:lumMod val="85000"/>
              </a:schemeClr>
            </a:outerShdw>
            <a:softEdge rad="25400"/>
          </a:effectLst>
        </p:spPr>
      </p:pic>
    </p:spTree>
    <p:extLst>
      <p:ext uri="{BB962C8B-B14F-4D97-AF65-F5344CB8AC3E}">
        <p14:creationId xmlns:p14="http://schemas.microsoft.com/office/powerpoint/2010/main" val="3475704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2747770" y="3122676"/>
            <a:ext cx="4457574" cy="5715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3600" b="1" dirty="0" err="1">
                <a:solidFill>
                  <a:srgbClr val="002060"/>
                </a:solidFill>
                <a:latin typeface="Calibri"/>
                <a:cs typeface="Calibri"/>
              </a:rPr>
              <a:t>Condicional</a:t>
            </a:r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 anidada</a:t>
            </a:r>
            <a:endParaRPr sz="36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800" b="1" spc="-25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4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6812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 txBox="1"/>
          <p:nvPr/>
        </p:nvSpPr>
        <p:spPr>
          <a:xfrm>
            <a:off x="647564" y="1388579"/>
            <a:ext cx="7848872" cy="202047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>
              <a:lnSpc>
                <a:spcPct val="150000"/>
              </a:lnSpc>
              <a:spcAft>
                <a:spcPts val="600"/>
              </a:spcAft>
            </a:pP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Anidamiento: 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Es la acción de que una estructura de decisión forme parte del código controlado de otra estructura.</a:t>
            </a:r>
          </a:p>
          <a:p>
            <a:pPr marL="12700" marR="127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Puede ser que dentro de una estructura condicional exista otra y dentro de ésta otra más, etc. No hay límites en el anidamiento.</a:t>
            </a:r>
          </a:p>
        </p:txBody>
      </p:sp>
      <p:sp>
        <p:nvSpPr>
          <p:cNvPr id="27" name="object 14">
            <a:extLst>
              <a:ext uri="{FF2B5EF4-FFF2-40B4-BE49-F238E27FC236}">
                <a16:creationId xmlns:a16="http://schemas.microsoft.com/office/drawing/2014/main" id="{3377A7EF-D2C8-413B-A257-11F71BB5E82C}"/>
              </a:ext>
            </a:extLst>
          </p:cNvPr>
          <p:cNvSpPr txBox="1"/>
          <p:nvPr/>
        </p:nvSpPr>
        <p:spPr>
          <a:xfrm>
            <a:off x="1691680" y="331715"/>
            <a:ext cx="5782619" cy="6350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sz="4400" b="1" spc="-25" dirty="0" err="1">
                <a:solidFill>
                  <a:srgbClr val="002060"/>
                </a:solidFill>
                <a:latin typeface="Calibri"/>
                <a:cs typeface="Calibri"/>
              </a:rPr>
              <a:t>C</a:t>
            </a:r>
            <a:r>
              <a:rPr sz="4400" b="1" spc="-20" dirty="0" err="1">
                <a:solidFill>
                  <a:srgbClr val="002060"/>
                </a:solidFill>
                <a:latin typeface="Calibri"/>
                <a:cs typeface="Calibri"/>
              </a:rPr>
              <a:t>ondicional</a:t>
            </a:r>
            <a:r>
              <a:rPr sz="4400" b="1" spc="-1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lang="es-MX" sz="4400" b="1" spc="-10" dirty="0">
                <a:solidFill>
                  <a:srgbClr val="002060"/>
                </a:solidFill>
                <a:latin typeface="Calibri"/>
                <a:cs typeface="Calibri"/>
              </a:rPr>
              <a:t>if anidada</a:t>
            </a:r>
            <a:endParaRPr sz="44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5A4BA28A-85E1-4ACA-BB6B-2AFDB2B20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497" y="3645024"/>
            <a:ext cx="6603863" cy="2665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4315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 txBox="1"/>
          <p:nvPr/>
        </p:nvSpPr>
        <p:spPr>
          <a:xfrm>
            <a:off x="971600" y="1322989"/>
            <a:ext cx="6846555" cy="59435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>
              <a:lnSpc>
                <a:spcPct val="150000"/>
              </a:lnSpc>
              <a:spcAft>
                <a:spcPts val="600"/>
              </a:spcAft>
            </a:pP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La estructura de una condicional anidada en Python puede tener la siguiente forma:</a:t>
            </a:r>
          </a:p>
        </p:txBody>
      </p:sp>
      <p:sp>
        <p:nvSpPr>
          <p:cNvPr id="27" name="object 14">
            <a:extLst>
              <a:ext uri="{FF2B5EF4-FFF2-40B4-BE49-F238E27FC236}">
                <a16:creationId xmlns:a16="http://schemas.microsoft.com/office/drawing/2014/main" id="{3377A7EF-D2C8-413B-A257-11F71BB5E82C}"/>
              </a:ext>
            </a:extLst>
          </p:cNvPr>
          <p:cNvSpPr txBox="1"/>
          <p:nvPr/>
        </p:nvSpPr>
        <p:spPr>
          <a:xfrm>
            <a:off x="1475656" y="332656"/>
            <a:ext cx="6070655" cy="6350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sz="4400" b="1" spc="-25" dirty="0" err="1">
                <a:solidFill>
                  <a:srgbClr val="002060"/>
                </a:solidFill>
                <a:latin typeface="Calibri"/>
                <a:cs typeface="Calibri"/>
              </a:rPr>
              <a:t>C</a:t>
            </a:r>
            <a:r>
              <a:rPr sz="4400" b="1" spc="-20" dirty="0" err="1">
                <a:solidFill>
                  <a:srgbClr val="002060"/>
                </a:solidFill>
                <a:latin typeface="Calibri"/>
                <a:cs typeface="Calibri"/>
              </a:rPr>
              <a:t>ondicional</a:t>
            </a:r>
            <a:r>
              <a:rPr sz="4400" b="1" spc="-1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lang="es-MX" sz="4400" b="1" spc="-10" dirty="0">
                <a:solidFill>
                  <a:srgbClr val="002060"/>
                </a:solidFill>
                <a:latin typeface="Calibri"/>
                <a:cs typeface="Calibri"/>
              </a:rPr>
              <a:t>if anidada</a:t>
            </a:r>
            <a:endParaRPr sz="44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19" name="Google Shape;65;p9">
            <a:extLst>
              <a:ext uri="{FF2B5EF4-FFF2-40B4-BE49-F238E27FC236}">
                <a16:creationId xmlns:a16="http://schemas.microsoft.com/office/drawing/2014/main" id="{DD55D289-0BCE-4A13-8697-AACC8060C7AC}"/>
              </a:ext>
            </a:extLst>
          </p:cNvPr>
          <p:cNvSpPr txBox="1"/>
          <p:nvPr/>
        </p:nvSpPr>
        <p:spPr>
          <a:xfrm>
            <a:off x="971600" y="2852937"/>
            <a:ext cx="2674864" cy="288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590">
              <a:lnSpc>
                <a:spcPts val="3500"/>
              </a:lnSpc>
            </a:pPr>
            <a:r>
              <a:rPr lang="en-US" sz="2400" b="1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lang="en-US" sz="2400" dirty="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condición 1:</a:t>
            </a:r>
            <a:endParaRPr sz="2400" b="1" dirty="0">
              <a:solidFill>
                <a:srgbClr val="002060"/>
              </a:solidFill>
            </a:endParaRPr>
          </a:p>
          <a:p>
            <a:pPr marL="745490">
              <a:lnSpc>
                <a:spcPts val="3500"/>
              </a:lnSpc>
            </a:pPr>
            <a:r>
              <a:rPr lang="en-US" sz="2400" b="1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código 1</a:t>
            </a:r>
          </a:p>
          <a:p>
            <a:pPr marL="21590">
              <a:lnSpc>
                <a:spcPts val="3500"/>
              </a:lnSpc>
            </a:pPr>
            <a:r>
              <a:rPr lang="en-US" sz="2400" b="1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elif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condición 2:</a:t>
            </a:r>
            <a:endParaRPr lang="en-US" sz="2400" b="1" dirty="0">
              <a:solidFill>
                <a:srgbClr val="002060"/>
              </a:solidFill>
            </a:endParaRPr>
          </a:p>
          <a:p>
            <a:pPr marL="745490">
              <a:lnSpc>
                <a:spcPts val="3500"/>
              </a:lnSpc>
            </a:pPr>
            <a:r>
              <a:rPr lang="en-US" sz="2400" b="1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código 2 </a:t>
            </a:r>
          </a:p>
          <a:p>
            <a:pPr marL="21590">
              <a:lnSpc>
                <a:spcPts val="3500"/>
              </a:lnSpc>
            </a:pPr>
            <a:r>
              <a:rPr lang="en-US" sz="2400" b="1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else:</a:t>
            </a:r>
            <a:endParaRPr lang="en-US" sz="2400" b="1" dirty="0">
              <a:solidFill>
                <a:srgbClr val="002060"/>
              </a:solidFill>
            </a:endParaRPr>
          </a:p>
          <a:p>
            <a:pPr marL="745490">
              <a:lnSpc>
                <a:spcPts val="3500"/>
              </a:lnSpc>
            </a:pPr>
            <a:r>
              <a:rPr lang="en-US" sz="2400" b="1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código 3 </a:t>
            </a:r>
            <a:endParaRPr lang="en-US" sz="2400" b="1" dirty="0">
              <a:solidFill>
                <a:srgbClr val="002060"/>
              </a:solidFill>
            </a:endParaRPr>
          </a:p>
          <a:p>
            <a:pPr marL="745490">
              <a:lnSpc>
                <a:spcPct val="150000"/>
              </a:lnSpc>
            </a:pPr>
            <a:r>
              <a:rPr lang="en-US" sz="2400" b="1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2400" b="1" dirty="0">
              <a:solidFill>
                <a:srgbClr val="002060"/>
              </a:solidFill>
            </a:endParaRPr>
          </a:p>
          <a:p>
            <a:pPr marL="745490"/>
            <a:endParaRPr lang="en-US" sz="2400" dirty="0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047CEBC3-07FD-4932-936F-C637B38C6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181" y="3068960"/>
            <a:ext cx="5532291" cy="223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8075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2677610" y="1854817"/>
            <a:ext cx="3649700" cy="584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Actividad grupal</a:t>
            </a:r>
            <a:endParaRPr sz="3600" b="1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699796" y="3505818"/>
            <a:ext cx="4691605" cy="114731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 algn="just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s-MX" sz="20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Despliega un mensaje que diga si un número dado por el usuario es positivo, negativo o cero.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26" name="object 25">
            <a:extLst>
              <a:ext uri="{FF2B5EF4-FFF2-40B4-BE49-F238E27FC236}">
                <a16:creationId xmlns:a16="http://schemas.microsoft.com/office/drawing/2014/main" id="{0663B11B-215D-46AB-A19C-E39A65374766}"/>
              </a:ext>
            </a:extLst>
          </p:cNvPr>
          <p:cNvSpPr txBox="1"/>
          <p:nvPr/>
        </p:nvSpPr>
        <p:spPr>
          <a:xfrm>
            <a:off x="2670858" y="2947586"/>
            <a:ext cx="5197427" cy="50286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spcAft>
                <a:spcPts val="600"/>
              </a:spcAft>
            </a:pPr>
            <a:r>
              <a:rPr lang="es-MX" sz="20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Definir el algoritmo</a:t>
            </a:r>
            <a:r>
              <a:rPr lang="es-MX" sz="2000" b="1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lang="es-MX" sz="20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y el programa en </a:t>
            </a:r>
            <a:r>
              <a:rPr lang="es-MX" sz="2000" b="1" spc="-2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Python</a:t>
            </a:r>
            <a:r>
              <a:rPr lang="es-MX" sz="20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: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28" name="object 26">
            <a:extLst>
              <a:ext uri="{FF2B5EF4-FFF2-40B4-BE49-F238E27FC236}">
                <a16:creationId xmlns:a16="http://schemas.microsoft.com/office/drawing/2014/main" id="{2A77E13A-98FD-4F73-9CAC-B813657E1B4A}"/>
              </a:ext>
            </a:extLst>
          </p:cNvPr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800" b="1" spc="-25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4800" dirty="0">
              <a:latin typeface="Calibri"/>
              <a:cs typeface="Calibri"/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107B306D-BE4C-4135-91C0-7EC25E1CC2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0152" y="4450007"/>
            <a:ext cx="2592288" cy="161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788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2843808" y="1452294"/>
            <a:ext cx="3649700" cy="584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Algoritmo</a:t>
            </a:r>
            <a:endParaRPr sz="2800" b="1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30" name="object 3">
            <a:extLst>
              <a:ext uri="{FF2B5EF4-FFF2-40B4-BE49-F238E27FC236}">
                <a16:creationId xmlns:a16="http://schemas.microsoft.com/office/drawing/2014/main" id="{7FE3A13B-DBB4-449A-B454-81AAB09D6EA8}"/>
              </a:ext>
            </a:extLst>
          </p:cNvPr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1" name="object 26">
            <a:extLst>
              <a:ext uri="{FF2B5EF4-FFF2-40B4-BE49-F238E27FC236}">
                <a16:creationId xmlns:a16="http://schemas.microsoft.com/office/drawing/2014/main" id="{D7317DB9-0440-474B-A9B5-A5549D54AC4D}"/>
              </a:ext>
            </a:extLst>
          </p:cNvPr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800" b="1" spc="-25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4800" dirty="0">
              <a:latin typeface="Calibri"/>
              <a:cs typeface="Calibri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3173249-7DF8-43BA-AE83-E97EF105511C}"/>
              </a:ext>
            </a:extLst>
          </p:cNvPr>
          <p:cNvSpPr txBox="1"/>
          <p:nvPr/>
        </p:nvSpPr>
        <p:spPr>
          <a:xfrm>
            <a:off x="2736389" y="2340102"/>
            <a:ext cx="5986988" cy="30469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s-MX" sz="2400" dirty="0"/>
              <a:t>Pedir un número (x)</a:t>
            </a:r>
          </a:p>
          <a:p>
            <a:pPr marL="342900" indent="-342900">
              <a:buAutoNum type="arabicPeriod"/>
            </a:pPr>
            <a:r>
              <a:rPr lang="es-MX" sz="2400" dirty="0"/>
              <a:t>Si x &gt; 0</a:t>
            </a:r>
          </a:p>
          <a:p>
            <a:r>
              <a:rPr lang="es-MX" sz="2400" dirty="0"/>
              <a:t>    	Escribir(“x es un número positivo”)</a:t>
            </a:r>
          </a:p>
          <a:p>
            <a:r>
              <a:rPr lang="es-MX" sz="2400" dirty="0"/>
              <a:t>    SiNo</a:t>
            </a:r>
          </a:p>
          <a:p>
            <a:r>
              <a:rPr lang="es-MX" sz="2400" dirty="0"/>
              <a:t>        Si x &lt; 0</a:t>
            </a:r>
          </a:p>
          <a:p>
            <a:r>
              <a:rPr lang="es-MX" sz="2400" dirty="0"/>
              <a:t>             Escribir(“x es un número negativo”)</a:t>
            </a:r>
          </a:p>
          <a:p>
            <a:r>
              <a:rPr lang="es-MX" sz="2400" dirty="0"/>
              <a:t>        SiNo</a:t>
            </a:r>
          </a:p>
          <a:p>
            <a:r>
              <a:rPr lang="es-MX" sz="2400" dirty="0"/>
              <a:t>    	Escribir(“x es cero”)</a:t>
            </a:r>
          </a:p>
        </p:txBody>
      </p:sp>
    </p:spTree>
    <p:extLst>
      <p:ext uri="{BB962C8B-B14F-4D97-AF65-F5344CB8AC3E}">
        <p14:creationId xmlns:p14="http://schemas.microsoft.com/office/powerpoint/2010/main" val="34628199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7" name="object 49">
            <a:extLst>
              <a:ext uri="{FF2B5EF4-FFF2-40B4-BE49-F238E27FC236}">
                <a16:creationId xmlns:a16="http://schemas.microsoft.com/office/drawing/2014/main" id="{1DA0AFE1-4300-4AAB-BE71-0CE3275A38E6}"/>
              </a:ext>
            </a:extLst>
          </p:cNvPr>
          <p:cNvSpPr txBox="1"/>
          <p:nvPr/>
        </p:nvSpPr>
        <p:spPr>
          <a:xfrm>
            <a:off x="1899443" y="2289810"/>
            <a:ext cx="6137275" cy="341176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50000"/>
              </a:lnSpc>
            </a:pP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if</a:t>
            </a:r>
            <a:r>
              <a:rPr sz="2400" b="1" spc="-10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x &gt;</a:t>
            </a:r>
            <a:r>
              <a:rPr sz="2400" b="1" spc="5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0:</a:t>
            </a:r>
            <a:endParaRPr sz="2400" dirty="0">
              <a:solidFill>
                <a:schemeClr val="accent6">
                  <a:lumMod val="75000"/>
                </a:schemeClr>
              </a:solidFill>
              <a:latin typeface="Arial"/>
              <a:cs typeface="Arial"/>
            </a:endParaRPr>
          </a:p>
          <a:p>
            <a:pPr marL="12700" marR="95885" indent="914400">
              <a:lnSpc>
                <a:spcPct val="150000"/>
              </a:lnSpc>
              <a:tabLst>
                <a:tab pos="622300" algn="l"/>
              </a:tabLst>
            </a:pP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print</a:t>
            </a:r>
            <a:r>
              <a:rPr sz="2400" b="1" spc="-15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400" b="1" spc="5" dirty="0">
                <a:solidFill>
                  <a:srgbClr val="002060"/>
                </a:solidFill>
                <a:latin typeface="Arial"/>
                <a:cs typeface="Arial"/>
              </a:rPr>
              <a:t>(</a:t>
            </a:r>
            <a:r>
              <a:rPr lang="es-MX" sz="2400" b="1" spc="5" dirty="0">
                <a:solidFill>
                  <a:srgbClr val="002060"/>
                </a:solidFill>
                <a:latin typeface="Arial"/>
                <a:cs typeface="Arial"/>
              </a:rPr>
              <a:t>"x</a:t>
            </a:r>
            <a:r>
              <a:rPr sz="2400" b="1" spc="-1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002060"/>
                </a:solidFill>
                <a:latin typeface="Arial"/>
                <a:cs typeface="Arial"/>
              </a:rPr>
              <a:t>e</a:t>
            </a: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s </a:t>
            </a:r>
            <a:r>
              <a:rPr sz="2400" b="1" spc="-5" dirty="0">
                <a:solidFill>
                  <a:srgbClr val="002060"/>
                </a:solidFill>
                <a:latin typeface="Arial"/>
                <a:cs typeface="Arial"/>
              </a:rPr>
              <a:t>u</a:t>
            </a: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n</a:t>
            </a:r>
            <a:r>
              <a:rPr sz="2400" b="1" spc="-1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002060"/>
                </a:solidFill>
                <a:latin typeface="Arial"/>
                <a:cs typeface="Arial"/>
              </a:rPr>
              <a:t>número</a:t>
            </a:r>
            <a:r>
              <a:rPr sz="2400" b="1" spc="-5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002060"/>
                </a:solidFill>
                <a:latin typeface="Arial"/>
                <a:cs typeface="Arial"/>
              </a:rPr>
              <a:t>positiv</a:t>
            </a:r>
            <a:r>
              <a:rPr sz="2400" b="1" spc="-5" dirty="0" err="1">
                <a:solidFill>
                  <a:srgbClr val="002060"/>
                </a:solidFill>
                <a:latin typeface="Arial"/>
                <a:cs typeface="Arial"/>
              </a:rPr>
              <a:t>o</a:t>
            </a:r>
            <a:r>
              <a:rPr lang="es-MX" sz="2400" b="1" dirty="0">
                <a:solidFill>
                  <a:srgbClr val="002060"/>
                </a:solidFill>
                <a:latin typeface="Arial"/>
                <a:cs typeface="Arial"/>
              </a:rPr>
              <a:t>"</a:t>
            </a: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)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elif	x&lt;0:</a:t>
            </a:r>
            <a:endParaRPr sz="2400" dirty="0">
              <a:solidFill>
                <a:schemeClr val="accent6">
                  <a:lumMod val="75000"/>
                </a:schemeClr>
              </a:solidFill>
              <a:latin typeface="Arial"/>
              <a:cs typeface="Arial"/>
            </a:endParaRPr>
          </a:p>
          <a:p>
            <a:pPr marL="927100">
              <a:lnSpc>
                <a:spcPct val="150000"/>
              </a:lnSpc>
            </a:pP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print</a:t>
            </a:r>
            <a:r>
              <a:rPr sz="2400" b="1" spc="-2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(</a:t>
            </a:r>
            <a:r>
              <a:rPr lang="es-MX" sz="2400" b="1" dirty="0">
                <a:solidFill>
                  <a:srgbClr val="002060"/>
                </a:solidFill>
                <a:latin typeface="Arial"/>
                <a:cs typeface="Arial"/>
              </a:rPr>
              <a:t>"x</a:t>
            </a:r>
            <a:r>
              <a:rPr sz="2400" b="1" spc="-1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002060"/>
                </a:solidFill>
                <a:latin typeface="Arial"/>
                <a:cs typeface="Arial"/>
              </a:rPr>
              <a:t>e</a:t>
            </a: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s </a:t>
            </a:r>
            <a:r>
              <a:rPr sz="2400" b="1" spc="-5" dirty="0">
                <a:solidFill>
                  <a:srgbClr val="002060"/>
                </a:solidFill>
                <a:latin typeface="Arial"/>
                <a:cs typeface="Arial"/>
              </a:rPr>
              <a:t>u</a:t>
            </a: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n</a:t>
            </a:r>
            <a:r>
              <a:rPr sz="2400" b="1" spc="-15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002060"/>
                </a:solidFill>
                <a:latin typeface="Arial"/>
                <a:cs typeface="Arial"/>
              </a:rPr>
              <a:t>número</a:t>
            </a:r>
            <a:r>
              <a:rPr sz="2400" b="1" spc="-1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002060"/>
                </a:solidFill>
                <a:latin typeface="Arial"/>
                <a:cs typeface="Arial"/>
              </a:rPr>
              <a:t>n</a:t>
            </a:r>
            <a:r>
              <a:rPr sz="2400" b="1" spc="-10" dirty="0" err="1">
                <a:solidFill>
                  <a:srgbClr val="002060"/>
                </a:solidFill>
                <a:latin typeface="Arial"/>
                <a:cs typeface="Arial"/>
              </a:rPr>
              <a:t>e</a:t>
            </a:r>
            <a:r>
              <a:rPr sz="2400" b="1" dirty="0" err="1">
                <a:solidFill>
                  <a:srgbClr val="002060"/>
                </a:solidFill>
                <a:latin typeface="Arial"/>
                <a:cs typeface="Arial"/>
              </a:rPr>
              <a:t>g</a:t>
            </a:r>
            <a:r>
              <a:rPr sz="2400" b="1" spc="-10" dirty="0" err="1">
                <a:solidFill>
                  <a:srgbClr val="002060"/>
                </a:solidFill>
                <a:latin typeface="Arial"/>
                <a:cs typeface="Arial"/>
              </a:rPr>
              <a:t>a</a:t>
            </a:r>
            <a:r>
              <a:rPr sz="2400" b="1" dirty="0" err="1">
                <a:solidFill>
                  <a:srgbClr val="002060"/>
                </a:solidFill>
                <a:latin typeface="Arial"/>
                <a:cs typeface="Arial"/>
              </a:rPr>
              <a:t>tiv</a:t>
            </a:r>
            <a:r>
              <a:rPr sz="2400" b="1" spc="-5" dirty="0" err="1">
                <a:solidFill>
                  <a:srgbClr val="002060"/>
                </a:solidFill>
                <a:latin typeface="Arial"/>
                <a:cs typeface="Arial"/>
              </a:rPr>
              <a:t>o</a:t>
            </a:r>
            <a:r>
              <a:rPr lang="es-MX" sz="2400" b="1" spc="-5" dirty="0">
                <a:solidFill>
                  <a:srgbClr val="002060"/>
                </a:solidFill>
                <a:latin typeface="Arial"/>
                <a:cs typeface="Arial"/>
              </a:rPr>
              <a:t>"</a:t>
            </a:r>
            <a:r>
              <a:rPr sz="2400" b="1" spc="-5" dirty="0">
                <a:solidFill>
                  <a:srgbClr val="002060"/>
                </a:solidFill>
                <a:latin typeface="Arial"/>
                <a:cs typeface="Arial"/>
              </a:rPr>
              <a:t>)</a:t>
            </a:r>
            <a:endParaRPr sz="2400" dirty="0">
              <a:solidFill>
                <a:srgbClr val="002060"/>
              </a:solidFill>
              <a:latin typeface="Arial"/>
              <a:cs typeface="Arial"/>
            </a:endParaRPr>
          </a:p>
          <a:p>
            <a:pPr marL="12700">
              <a:lnSpc>
                <a:spcPct val="150000"/>
              </a:lnSpc>
            </a:pP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else:</a:t>
            </a:r>
            <a:endParaRPr sz="2400" dirty="0">
              <a:solidFill>
                <a:schemeClr val="accent6">
                  <a:lumMod val="75000"/>
                </a:schemeClr>
              </a:solidFill>
              <a:latin typeface="Arial"/>
              <a:cs typeface="Arial"/>
            </a:endParaRPr>
          </a:p>
          <a:p>
            <a:pPr marL="927100">
              <a:lnSpc>
                <a:spcPct val="150000"/>
              </a:lnSpc>
              <a:tabLst>
                <a:tab pos="3044190" algn="l"/>
              </a:tabLst>
            </a:pP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print</a:t>
            </a:r>
            <a:r>
              <a:rPr sz="2400" b="1" spc="-15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400" b="1" spc="5" dirty="0">
                <a:solidFill>
                  <a:srgbClr val="002060"/>
                </a:solidFill>
                <a:latin typeface="Arial"/>
                <a:cs typeface="Arial"/>
              </a:rPr>
              <a:t>(</a:t>
            </a:r>
            <a:r>
              <a:rPr lang="es-MX" sz="2400" b="1" spc="5" dirty="0">
                <a:solidFill>
                  <a:srgbClr val="002060"/>
                </a:solidFill>
                <a:latin typeface="Arial"/>
                <a:cs typeface="Arial"/>
              </a:rPr>
              <a:t>"x</a:t>
            </a:r>
            <a:r>
              <a:rPr sz="2400" b="1" spc="-1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002060"/>
                </a:solidFill>
                <a:latin typeface="Arial"/>
                <a:cs typeface="Arial"/>
              </a:rPr>
              <a:t>e</a:t>
            </a: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s</a:t>
            </a:r>
            <a:r>
              <a:rPr lang="es-MX" sz="2400" b="1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cero</a:t>
            </a:r>
            <a:r>
              <a:rPr lang="es-MX" sz="2400" b="1" dirty="0">
                <a:solidFill>
                  <a:srgbClr val="002060"/>
                </a:solidFill>
                <a:latin typeface="Arial"/>
                <a:cs typeface="Arial"/>
              </a:rPr>
              <a:t>"</a:t>
            </a: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)</a:t>
            </a:r>
            <a:endParaRPr sz="2400" dirty="0">
              <a:solidFill>
                <a:srgbClr val="002060"/>
              </a:solidFill>
              <a:latin typeface="Arial"/>
              <a:cs typeface="Arial"/>
            </a:endParaRPr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34630863-6A00-4F5A-ACE3-0B4AC532ED72}"/>
              </a:ext>
            </a:extLst>
          </p:cNvPr>
          <p:cNvSpPr/>
          <p:nvPr/>
        </p:nvSpPr>
        <p:spPr>
          <a:xfrm>
            <a:off x="3073015" y="2560598"/>
            <a:ext cx="683387" cy="171151"/>
          </a:xfrm>
          <a:custGeom>
            <a:avLst/>
            <a:gdLst/>
            <a:ahLst/>
            <a:cxnLst/>
            <a:rect l="l" t="t" r="r" b="b"/>
            <a:pathLst>
              <a:path w="683387" h="171151">
                <a:moveTo>
                  <a:pt x="608291" y="85892"/>
                </a:moveTo>
                <a:lnTo>
                  <a:pt x="515050" y="142554"/>
                </a:lnTo>
                <a:lnTo>
                  <a:pt x="513262" y="153234"/>
                </a:lnTo>
                <a:lnTo>
                  <a:pt x="518458" y="166299"/>
                </a:lnTo>
                <a:lnTo>
                  <a:pt x="529180" y="171151"/>
                </a:lnTo>
                <a:lnTo>
                  <a:pt x="540893" y="168740"/>
                </a:lnTo>
                <a:lnTo>
                  <a:pt x="650754" y="104605"/>
                </a:lnTo>
                <a:lnTo>
                  <a:pt x="645668" y="104605"/>
                </a:lnTo>
                <a:lnTo>
                  <a:pt x="645668" y="102065"/>
                </a:lnTo>
                <a:lnTo>
                  <a:pt x="636016" y="102065"/>
                </a:lnTo>
                <a:lnTo>
                  <a:pt x="608291" y="85892"/>
                </a:lnTo>
                <a:close/>
              </a:path>
              <a:path w="683387" h="171151">
                <a:moveTo>
                  <a:pt x="575056" y="66505"/>
                </a:moveTo>
                <a:lnTo>
                  <a:pt x="0" y="66505"/>
                </a:lnTo>
                <a:lnTo>
                  <a:pt x="0" y="104605"/>
                </a:lnTo>
                <a:lnTo>
                  <a:pt x="577499" y="104605"/>
                </a:lnTo>
                <a:lnTo>
                  <a:pt x="608291" y="85892"/>
                </a:lnTo>
                <a:lnTo>
                  <a:pt x="575056" y="66505"/>
                </a:lnTo>
                <a:close/>
              </a:path>
              <a:path w="683387" h="171151">
                <a:moveTo>
                  <a:pt x="650754" y="66505"/>
                </a:moveTo>
                <a:lnTo>
                  <a:pt x="645668" y="66505"/>
                </a:lnTo>
                <a:lnTo>
                  <a:pt x="645668" y="104605"/>
                </a:lnTo>
                <a:lnTo>
                  <a:pt x="650754" y="104605"/>
                </a:lnTo>
                <a:lnTo>
                  <a:pt x="683387" y="85555"/>
                </a:lnTo>
                <a:lnTo>
                  <a:pt x="650754" y="66505"/>
                </a:lnTo>
                <a:close/>
              </a:path>
              <a:path w="683387" h="171151">
                <a:moveTo>
                  <a:pt x="636016" y="69045"/>
                </a:moveTo>
                <a:lnTo>
                  <a:pt x="608291" y="85892"/>
                </a:lnTo>
                <a:lnTo>
                  <a:pt x="636016" y="102065"/>
                </a:lnTo>
                <a:lnTo>
                  <a:pt x="636016" y="69045"/>
                </a:lnTo>
                <a:close/>
              </a:path>
              <a:path w="683387" h="171151">
                <a:moveTo>
                  <a:pt x="645668" y="69045"/>
                </a:moveTo>
                <a:lnTo>
                  <a:pt x="636016" y="69045"/>
                </a:lnTo>
                <a:lnTo>
                  <a:pt x="636016" y="102065"/>
                </a:lnTo>
                <a:lnTo>
                  <a:pt x="645668" y="102065"/>
                </a:lnTo>
                <a:lnTo>
                  <a:pt x="645668" y="69045"/>
                </a:lnTo>
                <a:close/>
              </a:path>
              <a:path w="683387" h="171151">
                <a:moveTo>
                  <a:pt x="532253" y="0"/>
                </a:moveTo>
                <a:lnTo>
                  <a:pt x="521814" y="3565"/>
                </a:lnTo>
                <a:lnTo>
                  <a:pt x="512687" y="14753"/>
                </a:lnTo>
                <a:lnTo>
                  <a:pt x="513777" y="26420"/>
                </a:lnTo>
                <a:lnTo>
                  <a:pt x="521716" y="35390"/>
                </a:lnTo>
                <a:lnTo>
                  <a:pt x="608291" y="85892"/>
                </a:lnTo>
                <a:lnTo>
                  <a:pt x="636016" y="69045"/>
                </a:lnTo>
                <a:lnTo>
                  <a:pt x="645668" y="69045"/>
                </a:lnTo>
                <a:lnTo>
                  <a:pt x="645668" y="66505"/>
                </a:lnTo>
                <a:lnTo>
                  <a:pt x="650754" y="66505"/>
                </a:lnTo>
                <a:lnTo>
                  <a:pt x="540893" y="2370"/>
                </a:lnTo>
                <a:lnTo>
                  <a:pt x="532253" y="0"/>
                </a:lnTo>
                <a:close/>
              </a:path>
            </a:pathLst>
          </a:custGeom>
          <a:solidFill>
            <a:srgbClr val="357DB8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1" name="object 22">
            <a:extLst>
              <a:ext uri="{FF2B5EF4-FFF2-40B4-BE49-F238E27FC236}">
                <a16:creationId xmlns:a16="http://schemas.microsoft.com/office/drawing/2014/main" id="{BDEFE7D2-5487-4381-9B5B-707F174CACB1}"/>
              </a:ext>
            </a:extLst>
          </p:cNvPr>
          <p:cNvSpPr txBox="1"/>
          <p:nvPr/>
        </p:nvSpPr>
        <p:spPr>
          <a:xfrm>
            <a:off x="4154308" y="2492896"/>
            <a:ext cx="3836210" cy="31199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b="1" dirty="0">
                <a:solidFill>
                  <a:srgbClr val="00B0F0"/>
                </a:solidFill>
                <a:latin typeface="Arial"/>
                <a:cs typeface="Arial"/>
              </a:rPr>
              <a:t>Exp</a:t>
            </a:r>
            <a:r>
              <a:rPr b="1" spc="5" dirty="0">
                <a:solidFill>
                  <a:srgbClr val="00B0F0"/>
                </a:solidFill>
                <a:latin typeface="Arial"/>
                <a:cs typeface="Arial"/>
              </a:rPr>
              <a:t>r</a:t>
            </a:r>
            <a:r>
              <a:rPr b="1" dirty="0">
                <a:solidFill>
                  <a:srgbClr val="00B0F0"/>
                </a:solidFill>
                <a:latin typeface="Arial"/>
                <a:cs typeface="Arial"/>
              </a:rPr>
              <a:t>es</a:t>
            </a:r>
            <a:r>
              <a:rPr b="1" spc="5" dirty="0">
                <a:solidFill>
                  <a:srgbClr val="00B0F0"/>
                </a:solidFill>
                <a:latin typeface="Arial"/>
                <a:cs typeface="Arial"/>
              </a:rPr>
              <a:t>i</a:t>
            </a:r>
            <a:r>
              <a:rPr b="1" dirty="0">
                <a:solidFill>
                  <a:srgbClr val="00B0F0"/>
                </a:solidFill>
                <a:latin typeface="Arial"/>
                <a:cs typeface="Arial"/>
              </a:rPr>
              <a:t>ón</a:t>
            </a:r>
            <a:r>
              <a:rPr b="1" spc="-40" dirty="0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B0F0"/>
                </a:solidFill>
                <a:latin typeface="Arial"/>
                <a:cs typeface="Arial"/>
              </a:rPr>
              <a:t>b</a:t>
            </a:r>
            <a:r>
              <a:rPr b="1" spc="-10" dirty="0">
                <a:solidFill>
                  <a:srgbClr val="00B0F0"/>
                </a:solidFill>
                <a:latin typeface="Arial"/>
                <a:cs typeface="Arial"/>
              </a:rPr>
              <a:t>o</a:t>
            </a:r>
            <a:r>
              <a:rPr b="1" dirty="0">
                <a:solidFill>
                  <a:srgbClr val="00B0F0"/>
                </a:solidFill>
                <a:latin typeface="Arial"/>
                <a:cs typeface="Arial"/>
              </a:rPr>
              <a:t>oleana:</a:t>
            </a:r>
            <a:r>
              <a:rPr b="1" spc="-45" dirty="0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B0F0"/>
                </a:solidFill>
                <a:latin typeface="Arial"/>
                <a:cs typeface="Arial"/>
              </a:rPr>
              <a:t>co</a:t>
            </a:r>
            <a:r>
              <a:rPr b="1" spc="-10" dirty="0">
                <a:solidFill>
                  <a:srgbClr val="00B0F0"/>
                </a:solidFill>
                <a:latin typeface="Arial"/>
                <a:cs typeface="Arial"/>
              </a:rPr>
              <a:t>n</a:t>
            </a:r>
            <a:r>
              <a:rPr b="1" dirty="0">
                <a:solidFill>
                  <a:srgbClr val="00B0F0"/>
                </a:solidFill>
                <a:latin typeface="Arial"/>
                <a:cs typeface="Arial"/>
              </a:rPr>
              <a:t>dic</a:t>
            </a:r>
            <a:r>
              <a:rPr b="1" spc="5" dirty="0">
                <a:solidFill>
                  <a:srgbClr val="00B0F0"/>
                </a:solidFill>
                <a:latin typeface="Arial"/>
                <a:cs typeface="Arial"/>
              </a:rPr>
              <a:t>i</a:t>
            </a:r>
            <a:r>
              <a:rPr b="1" dirty="0">
                <a:solidFill>
                  <a:srgbClr val="00B0F0"/>
                </a:solidFill>
                <a:latin typeface="Arial"/>
                <a:cs typeface="Arial"/>
              </a:rPr>
              <a:t>ón</a:t>
            </a:r>
            <a:r>
              <a:rPr lang="es-MX" b="1" dirty="0">
                <a:solidFill>
                  <a:srgbClr val="00B0F0"/>
                </a:solidFill>
                <a:latin typeface="Arial"/>
                <a:cs typeface="Arial"/>
              </a:rPr>
              <a:t> 1</a:t>
            </a:r>
            <a:endParaRPr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32" name="object 20">
            <a:extLst>
              <a:ext uri="{FF2B5EF4-FFF2-40B4-BE49-F238E27FC236}">
                <a16:creationId xmlns:a16="http://schemas.microsoft.com/office/drawing/2014/main" id="{1C4F8A90-8501-402A-80D7-289BAAC073D8}"/>
              </a:ext>
            </a:extLst>
          </p:cNvPr>
          <p:cNvSpPr/>
          <p:nvPr/>
        </p:nvSpPr>
        <p:spPr>
          <a:xfrm>
            <a:off x="3211494" y="3677561"/>
            <a:ext cx="683387" cy="171151"/>
          </a:xfrm>
          <a:custGeom>
            <a:avLst/>
            <a:gdLst/>
            <a:ahLst/>
            <a:cxnLst/>
            <a:rect l="l" t="t" r="r" b="b"/>
            <a:pathLst>
              <a:path w="683387" h="171151">
                <a:moveTo>
                  <a:pt x="608291" y="85892"/>
                </a:moveTo>
                <a:lnTo>
                  <a:pt x="515050" y="142554"/>
                </a:lnTo>
                <a:lnTo>
                  <a:pt x="513262" y="153234"/>
                </a:lnTo>
                <a:lnTo>
                  <a:pt x="518458" y="166299"/>
                </a:lnTo>
                <a:lnTo>
                  <a:pt x="529180" y="171151"/>
                </a:lnTo>
                <a:lnTo>
                  <a:pt x="540893" y="168740"/>
                </a:lnTo>
                <a:lnTo>
                  <a:pt x="650754" y="104605"/>
                </a:lnTo>
                <a:lnTo>
                  <a:pt x="645668" y="104605"/>
                </a:lnTo>
                <a:lnTo>
                  <a:pt x="645668" y="102065"/>
                </a:lnTo>
                <a:lnTo>
                  <a:pt x="636016" y="102065"/>
                </a:lnTo>
                <a:lnTo>
                  <a:pt x="608291" y="85892"/>
                </a:lnTo>
                <a:close/>
              </a:path>
              <a:path w="683387" h="171151">
                <a:moveTo>
                  <a:pt x="575056" y="66505"/>
                </a:moveTo>
                <a:lnTo>
                  <a:pt x="0" y="66505"/>
                </a:lnTo>
                <a:lnTo>
                  <a:pt x="0" y="104605"/>
                </a:lnTo>
                <a:lnTo>
                  <a:pt x="577499" y="104605"/>
                </a:lnTo>
                <a:lnTo>
                  <a:pt x="608291" y="85892"/>
                </a:lnTo>
                <a:lnTo>
                  <a:pt x="575056" y="66505"/>
                </a:lnTo>
                <a:close/>
              </a:path>
              <a:path w="683387" h="171151">
                <a:moveTo>
                  <a:pt x="650754" y="66505"/>
                </a:moveTo>
                <a:lnTo>
                  <a:pt x="645668" y="66505"/>
                </a:lnTo>
                <a:lnTo>
                  <a:pt x="645668" y="104605"/>
                </a:lnTo>
                <a:lnTo>
                  <a:pt x="650754" y="104605"/>
                </a:lnTo>
                <a:lnTo>
                  <a:pt x="683387" y="85555"/>
                </a:lnTo>
                <a:lnTo>
                  <a:pt x="650754" y="66505"/>
                </a:lnTo>
                <a:close/>
              </a:path>
              <a:path w="683387" h="171151">
                <a:moveTo>
                  <a:pt x="636016" y="69045"/>
                </a:moveTo>
                <a:lnTo>
                  <a:pt x="608291" y="85892"/>
                </a:lnTo>
                <a:lnTo>
                  <a:pt x="636016" y="102065"/>
                </a:lnTo>
                <a:lnTo>
                  <a:pt x="636016" y="69045"/>
                </a:lnTo>
                <a:close/>
              </a:path>
              <a:path w="683387" h="171151">
                <a:moveTo>
                  <a:pt x="645668" y="69045"/>
                </a:moveTo>
                <a:lnTo>
                  <a:pt x="636016" y="69045"/>
                </a:lnTo>
                <a:lnTo>
                  <a:pt x="636016" y="102065"/>
                </a:lnTo>
                <a:lnTo>
                  <a:pt x="645668" y="102065"/>
                </a:lnTo>
                <a:lnTo>
                  <a:pt x="645668" y="69045"/>
                </a:lnTo>
                <a:close/>
              </a:path>
              <a:path w="683387" h="171151">
                <a:moveTo>
                  <a:pt x="532253" y="0"/>
                </a:moveTo>
                <a:lnTo>
                  <a:pt x="521814" y="3565"/>
                </a:lnTo>
                <a:lnTo>
                  <a:pt x="512687" y="14753"/>
                </a:lnTo>
                <a:lnTo>
                  <a:pt x="513777" y="26420"/>
                </a:lnTo>
                <a:lnTo>
                  <a:pt x="521716" y="35390"/>
                </a:lnTo>
                <a:lnTo>
                  <a:pt x="608291" y="85892"/>
                </a:lnTo>
                <a:lnTo>
                  <a:pt x="636016" y="69045"/>
                </a:lnTo>
                <a:lnTo>
                  <a:pt x="645668" y="69045"/>
                </a:lnTo>
                <a:lnTo>
                  <a:pt x="645668" y="66505"/>
                </a:lnTo>
                <a:lnTo>
                  <a:pt x="650754" y="66505"/>
                </a:lnTo>
                <a:lnTo>
                  <a:pt x="540893" y="2370"/>
                </a:lnTo>
                <a:lnTo>
                  <a:pt x="532253" y="0"/>
                </a:lnTo>
                <a:close/>
              </a:path>
            </a:pathLst>
          </a:custGeom>
          <a:solidFill>
            <a:srgbClr val="357DB8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DF7EFDFB-916F-4B20-B558-AEFA0ABE787C}"/>
              </a:ext>
            </a:extLst>
          </p:cNvPr>
          <p:cNvSpPr txBox="1"/>
          <p:nvPr/>
        </p:nvSpPr>
        <p:spPr>
          <a:xfrm>
            <a:off x="2661976" y="1119593"/>
            <a:ext cx="5026951" cy="72138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Programa en Python</a:t>
            </a:r>
            <a:endParaRPr sz="28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28" name="object 26">
            <a:extLst>
              <a:ext uri="{FF2B5EF4-FFF2-40B4-BE49-F238E27FC236}">
                <a16:creationId xmlns:a16="http://schemas.microsoft.com/office/drawing/2014/main" id="{EA8F986F-5BA0-4441-9CCA-5688A99A74E9}"/>
              </a:ext>
            </a:extLst>
          </p:cNvPr>
          <p:cNvSpPr txBox="1"/>
          <p:nvPr/>
        </p:nvSpPr>
        <p:spPr>
          <a:xfrm>
            <a:off x="772668" y="1295401"/>
            <a:ext cx="294132" cy="45262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2400" b="1" spc="-25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4" name="object 22">
            <a:extLst>
              <a:ext uri="{FF2B5EF4-FFF2-40B4-BE49-F238E27FC236}">
                <a16:creationId xmlns:a16="http://schemas.microsoft.com/office/drawing/2014/main" id="{2F8D1F0D-8C54-401D-BC8D-EBADA1B9A6D4}"/>
              </a:ext>
            </a:extLst>
          </p:cNvPr>
          <p:cNvSpPr txBox="1"/>
          <p:nvPr/>
        </p:nvSpPr>
        <p:spPr>
          <a:xfrm>
            <a:off x="4192174" y="3609859"/>
            <a:ext cx="3836210" cy="31199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b="1" dirty="0">
                <a:solidFill>
                  <a:srgbClr val="00B0F0"/>
                </a:solidFill>
                <a:latin typeface="Arial"/>
                <a:cs typeface="Arial"/>
              </a:rPr>
              <a:t>Exp</a:t>
            </a:r>
            <a:r>
              <a:rPr b="1" spc="5" dirty="0">
                <a:solidFill>
                  <a:srgbClr val="00B0F0"/>
                </a:solidFill>
                <a:latin typeface="Arial"/>
                <a:cs typeface="Arial"/>
              </a:rPr>
              <a:t>r</a:t>
            </a:r>
            <a:r>
              <a:rPr b="1" dirty="0">
                <a:solidFill>
                  <a:srgbClr val="00B0F0"/>
                </a:solidFill>
                <a:latin typeface="Arial"/>
                <a:cs typeface="Arial"/>
              </a:rPr>
              <a:t>es</a:t>
            </a:r>
            <a:r>
              <a:rPr b="1" spc="5" dirty="0">
                <a:solidFill>
                  <a:srgbClr val="00B0F0"/>
                </a:solidFill>
                <a:latin typeface="Arial"/>
                <a:cs typeface="Arial"/>
              </a:rPr>
              <a:t>i</a:t>
            </a:r>
            <a:r>
              <a:rPr b="1" dirty="0">
                <a:solidFill>
                  <a:srgbClr val="00B0F0"/>
                </a:solidFill>
                <a:latin typeface="Arial"/>
                <a:cs typeface="Arial"/>
              </a:rPr>
              <a:t>ón</a:t>
            </a:r>
            <a:r>
              <a:rPr b="1" spc="-40" dirty="0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B0F0"/>
                </a:solidFill>
                <a:latin typeface="Arial"/>
                <a:cs typeface="Arial"/>
              </a:rPr>
              <a:t>b</a:t>
            </a:r>
            <a:r>
              <a:rPr b="1" spc="-10" dirty="0">
                <a:solidFill>
                  <a:srgbClr val="00B0F0"/>
                </a:solidFill>
                <a:latin typeface="Arial"/>
                <a:cs typeface="Arial"/>
              </a:rPr>
              <a:t>o</a:t>
            </a:r>
            <a:r>
              <a:rPr b="1" dirty="0">
                <a:solidFill>
                  <a:srgbClr val="00B0F0"/>
                </a:solidFill>
                <a:latin typeface="Arial"/>
                <a:cs typeface="Arial"/>
              </a:rPr>
              <a:t>oleana:</a:t>
            </a:r>
            <a:r>
              <a:rPr b="1" spc="-45" dirty="0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b="1" dirty="0" err="1">
                <a:solidFill>
                  <a:srgbClr val="00B0F0"/>
                </a:solidFill>
                <a:latin typeface="Arial"/>
                <a:cs typeface="Arial"/>
              </a:rPr>
              <a:t>co</a:t>
            </a:r>
            <a:r>
              <a:rPr b="1" spc="-10" dirty="0" err="1">
                <a:solidFill>
                  <a:srgbClr val="00B0F0"/>
                </a:solidFill>
                <a:latin typeface="Arial"/>
                <a:cs typeface="Arial"/>
              </a:rPr>
              <a:t>n</a:t>
            </a:r>
            <a:r>
              <a:rPr b="1" dirty="0" err="1">
                <a:solidFill>
                  <a:srgbClr val="00B0F0"/>
                </a:solidFill>
                <a:latin typeface="Arial"/>
                <a:cs typeface="Arial"/>
              </a:rPr>
              <a:t>dic</a:t>
            </a:r>
            <a:r>
              <a:rPr b="1" spc="5" dirty="0" err="1">
                <a:solidFill>
                  <a:srgbClr val="00B0F0"/>
                </a:solidFill>
                <a:latin typeface="Arial"/>
                <a:cs typeface="Arial"/>
              </a:rPr>
              <a:t>i</a:t>
            </a:r>
            <a:r>
              <a:rPr b="1" dirty="0" err="1">
                <a:solidFill>
                  <a:srgbClr val="00B0F0"/>
                </a:solidFill>
                <a:latin typeface="Arial"/>
                <a:cs typeface="Arial"/>
              </a:rPr>
              <a:t>ón</a:t>
            </a:r>
            <a:r>
              <a:rPr lang="es-MX" b="1" dirty="0">
                <a:solidFill>
                  <a:srgbClr val="00B0F0"/>
                </a:solidFill>
                <a:latin typeface="Arial"/>
                <a:cs typeface="Arial"/>
              </a:rPr>
              <a:t> 2</a:t>
            </a:r>
            <a:endParaRPr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7394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2089648" y="361194"/>
            <a:ext cx="5200183" cy="6350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sz="4400" b="1" spc="-25" dirty="0" err="1">
                <a:solidFill>
                  <a:srgbClr val="002060"/>
                </a:solidFill>
                <a:latin typeface="Calibri"/>
                <a:cs typeface="Calibri"/>
              </a:rPr>
              <a:t>C</a:t>
            </a:r>
            <a:r>
              <a:rPr sz="4400" b="1" spc="-20" dirty="0" err="1">
                <a:solidFill>
                  <a:srgbClr val="002060"/>
                </a:solidFill>
                <a:latin typeface="Calibri"/>
                <a:cs typeface="Calibri"/>
              </a:rPr>
              <a:t>ondicional</a:t>
            </a:r>
            <a:r>
              <a:rPr sz="4400" b="1" spc="-1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lang="es-MX" sz="4400" b="1" spc="-10" dirty="0">
                <a:solidFill>
                  <a:srgbClr val="002060"/>
                </a:solidFill>
                <a:latin typeface="Calibri"/>
                <a:cs typeface="Calibri"/>
              </a:rPr>
              <a:t>if anidada</a:t>
            </a:r>
            <a:endParaRPr sz="44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34630863-6A00-4F5A-ACE3-0B4AC532ED72}"/>
              </a:ext>
            </a:extLst>
          </p:cNvPr>
          <p:cNvSpPr/>
          <p:nvPr/>
        </p:nvSpPr>
        <p:spPr>
          <a:xfrm>
            <a:off x="4278853" y="2585228"/>
            <a:ext cx="683387" cy="171151"/>
          </a:xfrm>
          <a:custGeom>
            <a:avLst/>
            <a:gdLst/>
            <a:ahLst/>
            <a:cxnLst/>
            <a:rect l="l" t="t" r="r" b="b"/>
            <a:pathLst>
              <a:path w="683387" h="171151">
                <a:moveTo>
                  <a:pt x="608291" y="85892"/>
                </a:moveTo>
                <a:lnTo>
                  <a:pt x="515050" y="142554"/>
                </a:lnTo>
                <a:lnTo>
                  <a:pt x="513262" y="153234"/>
                </a:lnTo>
                <a:lnTo>
                  <a:pt x="518458" y="166299"/>
                </a:lnTo>
                <a:lnTo>
                  <a:pt x="529180" y="171151"/>
                </a:lnTo>
                <a:lnTo>
                  <a:pt x="540893" y="168740"/>
                </a:lnTo>
                <a:lnTo>
                  <a:pt x="650754" y="104605"/>
                </a:lnTo>
                <a:lnTo>
                  <a:pt x="645668" y="104605"/>
                </a:lnTo>
                <a:lnTo>
                  <a:pt x="645668" y="102065"/>
                </a:lnTo>
                <a:lnTo>
                  <a:pt x="636016" y="102065"/>
                </a:lnTo>
                <a:lnTo>
                  <a:pt x="608291" y="85892"/>
                </a:lnTo>
                <a:close/>
              </a:path>
              <a:path w="683387" h="171151">
                <a:moveTo>
                  <a:pt x="575056" y="66505"/>
                </a:moveTo>
                <a:lnTo>
                  <a:pt x="0" y="66505"/>
                </a:lnTo>
                <a:lnTo>
                  <a:pt x="0" y="104605"/>
                </a:lnTo>
                <a:lnTo>
                  <a:pt x="577499" y="104605"/>
                </a:lnTo>
                <a:lnTo>
                  <a:pt x="608291" y="85892"/>
                </a:lnTo>
                <a:lnTo>
                  <a:pt x="575056" y="66505"/>
                </a:lnTo>
                <a:close/>
              </a:path>
              <a:path w="683387" h="171151">
                <a:moveTo>
                  <a:pt x="650754" y="66505"/>
                </a:moveTo>
                <a:lnTo>
                  <a:pt x="645668" y="66505"/>
                </a:lnTo>
                <a:lnTo>
                  <a:pt x="645668" y="104605"/>
                </a:lnTo>
                <a:lnTo>
                  <a:pt x="650754" y="104605"/>
                </a:lnTo>
                <a:lnTo>
                  <a:pt x="683387" y="85555"/>
                </a:lnTo>
                <a:lnTo>
                  <a:pt x="650754" y="66505"/>
                </a:lnTo>
                <a:close/>
              </a:path>
              <a:path w="683387" h="171151">
                <a:moveTo>
                  <a:pt x="636016" y="69045"/>
                </a:moveTo>
                <a:lnTo>
                  <a:pt x="608291" y="85892"/>
                </a:lnTo>
                <a:lnTo>
                  <a:pt x="636016" y="102065"/>
                </a:lnTo>
                <a:lnTo>
                  <a:pt x="636016" y="69045"/>
                </a:lnTo>
                <a:close/>
              </a:path>
              <a:path w="683387" h="171151">
                <a:moveTo>
                  <a:pt x="645668" y="69045"/>
                </a:moveTo>
                <a:lnTo>
                  <a:pt x="636016" y="69045"/>
                </a:lnTo>
                <a:lnTo>
                  <a:pt x="636016" y="102065"/>
                </a:lnTo>
                <a:lnTo>
                  <a:pt x="645668" y="102065"/>
                </a:lnTo>
                <a:lnTo>
                  <a:pt x="645668" y="69045"/>
                </a:lnTo>
                <a:close/>
              </a:path>
              <a:path w="683387" h="171151">
                <a:moveTo>
                  <a:pt x="532253" y="0"/>
                </a:moveTo>
                <a:lnTo>
                  <a:pt x="521814" y="3565"/>
                </a:lnTo>
                <a:lnTo>
                  <a:pt x="512687" y="14753"/>
                </a:lnTo>
                <a:lnTo>
                  <a:pt x="513777" y="26420"/>
                </a:lnTo>
                <a:lnTo>
                  <a:pt x="521716" y="35390"/>
                </a:lnTo>
                <a:lnTo>
                  <a:pt x="608291" y="85892"/>
                </a:lnTo>
                <a:lnTo>
                  <a:pt x="636016" y="69045"/>
                </a:lnTo>
                <a:lnTo>
                  <a:pt x="645668" y="69045"/>
                </a:lnTo>
                <a:lnTo>
                  <a:pt x="645668" y="66505"/>
                </a:lnTo>
                <a:lnTo>
                  <a:pt x="650754" y="66505"/>
                </a:lnTo>
                <a:lnTo>
                  <a:pt x="540893" y="2370"/>
                </a:lnTo>
                <a:lnTo>
                  <a:pt x="532253" y="0"/>
                </a:lnTo>
                <a:close/>
              </a:path>
            </a:pathLst>
          </a:custGeom>
          <a:solidFill>
            <a:srgbClr val="357DB8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1" name="object 22">
            <a:extLst>
              <a:ext uri="{FF2B5EF4-FFF2-40B4-BE49-F238E27FC236}">
                <a16:creationId xmlns:a16="http://schemas.microsoft.com/office/drawing/2014/main" id="{BDEFE7D2-5487-4381-9B5B-707F174CACB1}"/>
              </a:ext>
            </a:extLst>
          </p:cNvPr>
          <p:cNvSpPr txBox="1"/>
          <p:nvPr/>
        </p:nvSpPr>
        <p:spPr>
          <a:xfrm>
            <a:off x="5133876" y="2531693"/>
            <a:ext cx="3254548" cy="33377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1600" b="1" dirty="0">
                <a:solidFill>
                  <a:srgbClr val="00B0F0"/>
                </a:solidFill>
                <a:latin typeface="Arial"/>
                <a:cs typeface="Arial"/>
              </a:rPr>
              <a:t>Exp</a:t>
            </a:r>
            <a:r>
              <a:rPr sz="1600" b="1" spc="5" dirty="0">
                <a:solidFill>
                  <a:srgbClr val="00B0F0"/>
                </a:solidFill>
                <a:latin typeface="Arial"/>
                <a:cs typeface="Arial"/>
              </a:rPr>
              <a:t>r</a:t>
            </a:r>
            <a:r>
              <a:rPr sz="1600" b="1" dirty="0">
                <a:solidFill>
                  <a:srgbClr val="00B0F0"/>
                </a:solidFill>
                <a:latin typeface="Arial"/>
                <a:cs typeface="Arial"/>
              </a:rPr>
              <a:t>es</a:t>
            </a:r>
            <a:r>
              <a:rPr sz="1600" b="1" spc="5" dirty="0">
                <a:solidFill>
                  <a:srgbClr val="00B0F0"/>
                </a:solidFill>
                <a:latin typeface="Arial"/>
                <a:cs typeface="Arial"/>
              </a:rPr>
              <a:t>i</a:t>
            </a:r>
            <a:r>
              <a:rPr sz="1600" b="1" dirty="0">
                <a:solidFill>
                  <a:srgbClr val="00B0F0"/>
                </a:solidFill>
                <a:latin typeface="Arial"/>
                <a:cs typeface="Arial"/>
              </a:rPr>
              <a:t>ón</a:t>
            </a:r>
            <a:r>
              <a:rPr sz="1600" b="1" spc="-40" dirty="0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B0F0"/>
                </a:solidFill>
                <a:latin typeface="Arial"/>
                <a:cs typeface="Arial"/>
              </a:rPr>
              <a:t>b</a:t>
            </a:r>
            <a:r>
              <a:rPr sz="1600" b="1" spc="-10" dirty="0">
                <a:solidFill>
                  <a:srgbClr val="00B0F0"/>
                </a:solidFill>
                <a:latin typeface="Arial"/>
                <a:cs typeface="Arial"/>
              </a:rPr>
              <a:t>o</a:t>
            </a:r>
            <a:r>
              <a:rPr sz="1600" b="1" dirty="0">
                <a:solidFill>
                  <a:srgbClr val="00B0F0"/>
                </a:solidFill>
                <a:latin typeface="Arial"/>
                <a:cs typeface="Arial"/>
              </a:rPr>
              <a:t>oleana:</a:t>
            </a:r>
            <a:r>
              <a:rPr sz="1600" b="1" spc="-45" dirty="0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B0F0"/>
                </a:solidFill>
                <a:latin typeface="Arial"/>
                <a:cs typeface="Arial"/>
              </a:rPr>
              <a:t>co</a:t>
            </a:r>
            <a:r>
              <a:rPr sz="1600" b="1" spc="-10" dirty="0">
                <a:solidFill>
                  <a:srgbClr val="00B0F0"/>
                </a:solidFill>
                <a:latin typeface="Arial"/>
                <a:cs typeface="Arial"/>
              </a:rPr>
              <a:t>n</a:t>
            </a:r>
            <a:r>
              <a:rPr sz="1600" b="1" dirty="0">
                <a:solidFill>
                  <a:srgbClr val="00B0F0"/>
                </a:solidFill>
                <a:latin typeface="Arial"/>
                <a:cs typeface="Arial"/>
              </a:rPr>
              <a:t>dic</a:t>
            </a:r>
            <a:r>
              <a:rPr sz="1600" b="1" spc="5" dirty="0">
                <a:solidFill>
                  <a:srgbClr val="00B0F0"/>
                </a:solidFill>
                <a:latin typeface="Arial"/>
                <a:cs typeface="Arial"/>
              </a:rPr>
              <a:t>i</a:t>
            </a:r>
            <a:r>
              <a:rPr sz="1600" b="1" dirty="0">
                <a:solidFill>
                  <a:srgbClr val="00B0F0"/>
                </a:solidFill>
                <a:latin typeface="Arial"/>
                <a:cs typeface="Arial"/>
              </a:rPr>
              <a:t>ón</a:t>
            </a:r>
            <a:r>
              <a:rPr lang="es-MX" sz="1600" b="1" dirty="0">
                <a:solidFill>
                  <a:srgbClr val="00B0F0"/>
                </a:solidFill>
                <a:latin typeface="Arial"/>
                <a:cs typeface="Arial"/>
              </a:rPr>
              <a:t> 1</a:t>
            </a:r>
            <a:endParaRPr sz="1600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32" name="object 20">
            <a:extLst>
              <a:ext uri="{FF2B5EF4-FFF2-40B4-BE49-F238E27FC236}">
                <a16:creationId xmlns:a16="http://schemas.microsoft.com/office/drawing/2014/main" id="{1C4F8A90-8501-402A-80D7-289BAAC073D8}"/>
              </a:ext>
            </a:extLst>
          </p:cNvPr>
          <p:cNvSpPr/>
          <p:nvPr/>
        </p:nvSpPr>
        <p:spPr>
          <a:xfrm>
            <a:off x="4505463" y="3037236"/>
            <a:ext cx="683387" cy="171151"/>
          </a:xfrm>
          <a:custGeom>
            <a:avLst/>
            <a:gdLst/>
            <a:ahLst/>
            <a:cxnLst/>
            <a:rect l="l" t="t" r="r" b="b"/>
            <a:pathLst>
              <a:path w="683387" h="171151">
                <a:moveTo>
                  <a:pt x="608291" y="85892"/>
                </a:moveTo>
                <a:lnTo>
                  <a:pt x="515050" y="142554"/>
                </a:lnTo>
                <a:lnTo>
                  <a:pt x="513262" y="153234"/>
                </a:lnTo>
                <a:lnTo>
                  <a:pt x="518458" y="166299"/>
                </a:lnTo>
                <a:lnTo>
                  <a:pt x="529180" y="171151"/>
                </a:lnTo>
                <a:lnTo>
                  <a:pt x="540893" y="168740"/>
                </a:lnTo>
                <a:lnTo>
                  <a:pt x="650754" y="104605"/>
                </a:lnTo>
                <a:lnTo>
                  <a:pt x="645668" y="104605"/>
                </a:lnTo>
                <a:lnTo>
                  <a:pt x="645668" y="102065"/>
                </a:lnTo>
                <a:lnTo>
                  <a:pt x="636016" y="102065"/>
                </a:lnTo>
                <a:lnTo>
                  <a:pt x="608291" y="85892"/>
                </a:lnTo>
                <a:close/>
              </a:path>
              <a:path w="683387" h="171151">
                <a:moveTo>
                  <a:pt x="575056" y="66505"/>
                </a:moveTo>
                <a:lnTo>
                  <a:pt x="0" y="66505"/>
                </a:lnTo>
                <a:lnTo>
                  <a:pt x="0" y="104605"/>
                </a:lnTo>
                <a:lnTo>
                  <a:pt x="577499" y="104605"/>
                </a:lnTo>
                <a:lnTo>
                  <a:pt x="608291" y="85892"/>
                </a:lnTo>
                <a:lnTo>
                  <a:pt x="575056" y="66505"/>
                </a:lnTo>
                <a:close/>
              </a:path>
              <a:path w="683387" h="171151">
                <a:moveTo>
                  <a:pt x="650754" y="66505"/>
                </a:moveTo>
                <a:lnTo>
                  <a:pt x="645668" y="66505"/>
                </a:lnTo>
                <a:lnTo>
                  <a:pt x="645668" y="104605"/>
                </a:lnTo>
                <a:lnTo>
                  <a:pt x="650754" y="104605"/>
                </a:lnTo>
                <a:lnTo>
                  <a:pt x="683387" y="85555"/>
                </a:lnTo>
                <a:lnTo>
                  <a:pt x="650754" y="66505"/>
                </a:lnTo>
                <a:close/>
              </a:path>
              <a:path w="683387" h="171151">
                <a:moveTo>
                  <a:pt x="636016" y="69045"/>
                </a:moveTo>
                <a:lnTo>
                  <a:pt x="608291" y="85892"/>
                </a:lnTo>
                <a:lnTo>
                  <a:pt x="636016" y="102065"/>
                </a:lnTo>
                <a:lnTo>
                  <a:pt x="636016" y="69045"/>
                </a:lnTo>
                <a:close/>
              </a:path>
              <a:path w="683387" h="171151">
                <a:moveTo>
                  <a:pt x="645668" y="69045"/>
                </a:moveTo>
                <a:lnTo>
                  <a:pt x="636016" y="69045"/>
                </a:lnTo>
                <a:lnTo>
                  <a:pt x="636016" y="102065"/>
                </a:lnTo>
                <a:lnTo>
                  <a:pt x="645668" y="102065"/>
                </a:lnTo>
                <a:lnTo>
                  <a:pt x="645668" y="69045"/>
                </a:lnTo>
                <a:close/>
              </a:path>
              <a:path w="683387" h="171151">
                <a:moveTo>
                  <a:pt x="532253" y="0"/>
                </a:moveTo>
                <a:lnTo>
                  <a:pt x="521814" y="3565"/>
                </a:lnTo>
                <a:lnTo>
                  <a:pt x="512687" y="14753"/>
                </a:lnTo>
                <a:lnTo>
                  <a:pt x="513777" y="26420"/>
                </a:lnTo>
                <a:lnTo>
                  <a:pt x="521716" y="35390"/>
                </a:lnTo>
                <a:lnTo>
                  <a:pt x="608291" y="85892"/>
                </a:lnTo>
                <a:lnTo>
                  <a:pt x="636016" y="69045"/>
                </a:lnTo>
                <a:lnTo>
                  <a:pt x="645668" y="69045"/>
                </a:lnTo>
                <a:lnTo>
                  <a:pt x="645668" y="66505"/>
                </a:lnTo>
                <a:lnTo>
                  <a:pt x="650754" y="66505"/>
                </a:lnTo>
                <a:lnTo>
                  <a:pt x="540893" y="2370"/>
                </a:lnTo>
                <a:lnTo>
                  <a:pt x="532253" y="0"/>
                </a:lnTo>
                <a:close/>
              </a:path>
            </a:pathLst>
          </a:custGeom>
          <a:solidFill>
            <a:srgbClr val="357DB8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3" name="object 22">
            <a:extLst>
              <a:ext uri="{FF2B5EF4-FFF2-40B4-BE49-F238E27FC236}">
                <a16:creationId xmlns:a16="http://schemas.microsoft.com/office/drawing/2014/main" id="{576B8C73-FAC2-4EE2-80B5-572E9B3684B8}"/>
              </a:ext>
            </a:extLst>
          </p:cNvPr>
          <p:cNvSpPr txBox="1"/>
          <p:nvPr/>
        </p:nvSpPr>
        <p:spPr>
          <a:xfrm>
            <a:off x="5258097" y="3009268"/>
            <a:ext cx="3274343" cy="2473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1600" b="1" dirty="0">
                <a:solidFill>
                  <a:srgbClr val="00B0F0"/>
                </a:solidFill>
                <a:latin typeface="Arial"/>
                <a:cs typeface="Arial"/>
              </a:rPr>
              <a:t>Exp</a:t>
            </a:r>
            <a:r>
              <a:rPr sz="1600" b="1" spc="5" dirty="0">
                <a:solidFill>
                  <a:srgbClr val="00B0F0"/>
                </a:solidFill>
                <a:latin typeface="Arial"/>
                <a:cs typeface="Arial"/>
              </a:rPr>
              <a:t>r</a:t>
            </a:r>
            <a:r>
              <a:rPr sz="1600" b="1" dirty="0">
                <a:solidFill>
                  <a:srgbClr val="00B0F0"/>
                </a:solidFill>
                <a:latin typeface="Arial"/>
                <a:cs typeface="Arial"/>
              </a:rPr>
              <a:t>es</a:t>
            </a:r>
            <a:r>
              <a:rPr sz="1600" b="1" spc="5" dirty="0">
                <a:solidFill>
                  <a:srgbClr val="00B0F0"/>
                </a:solidFill>
                <a:latin typeface="Arial"/>
                <a:cs typeface="Arial"/>
              </a:rPr>
              <a:t>i</a:t>
            </a:r>
            <a:r>
              <a:rPr sz="1600" b="1" dirty="0">
                <a:solidFill>
                  <a:srgbClr val="00B0F0"/>
                </a:solidFill>
                <a:latin typeface="Arial"/>
                <a:cs typeface="Arial"/>
              </a:rPr>
              <a:t>ón</a:t>
            </a:r>
            <a:r>
              <a:rPr sz="1600" b="1" spc="-40" dirty="0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B0F0"/>
                </a:solidFill>
                <a:latin typeface="Arial"/>
                <a:cs typeface="Arial"/>
              </a:rPr>
              <a:t>b</a:t>
            </a:r>
            <a:r>
              <a:rPr sz="1600" b="1" spc="-10" dirty="0">
                <a:solidFill>
                  <a:srgbClr val="00B0F0"/>
                </a:solidFill>
                <a:latin typeface="Arial"/>
                <a:cs typeface="Arial"/>
              </a:rPr>
              <a:t>o</a:t>
            </a:r>
            <a:r>
              <a:rPr sz="1600" b="1" dirty="0">
                <a:solidFill>
                  <a:srgbClr val="00B0F0"/>
                </a:solidFill>
                <a:latin typeface="Arial"/>
                <a:cs typeface="Arial"/>
              </a:rPr>
              <a:t>oleana:</a:t>
            </a:r>
            <a:r>
              <a:rPr sz="1600" b="1" spc="-45" dirty="0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B0F0"/>
                </a:solidFill>
                <a:latin typeface="Arial"/>
                <a:cs typeface="Arial"/>
              </a:rPr>
              <a:t>co</a:t>
            </a:r>
            <a:r>
              <a:rPr sz="1600" b="1" spc="-10" dirty="0">
                <a:solidFill>
                  <a:srgbClr val="00B0F0"/>
                </a:solidFill>
                <a:latin typeface="Arial"/>
                <a:cs typeface="Arial"/>
              </a:rPr>
              <a:t>n</a:t>
            </a:r>
            <a:r>
              <a:rPr sz="1600" b="1" dirty="0">
                <a:solidFill>
                  <a:srgbClr val="00B0F0"/>
                </a:solidFill>
                <a:latin typeface="Arial"/>
                <a:cs typeface="Arial"/>
              </a:rPr>
              <a:t>dic</a:t>
            </a:r>
            <a:r>
              <a:rPr sz="1600" b="1" spc="5" dirty="0">
                <a:solidFill>
                  <a:srgbClr val="00B0F0"/>
                </a:solidFill>
                <a:latin typeface="Arial"/>
                <a:cs typeface="Arial"/>
              </a:rPr>
              <a:t>i</a:t>
            </a:r>
            <a:r>
              <a:rPr sz="1600" b="1" dirty="0">
                <a:solidFill>
                  <a:srgbClr val="00B0F0"/>
                </a:solidFill>
                <a:latin typeface="Arial"/>
                <a:cs typeface="Arial"/>
              </a:rPr>
              <a:t>ón</a:t>
            </a:r>
            <a:r>
              <a:rPr lang="es-MX" sz="1600" b="1" dirty="0">
                <a:solidFill>
                  <a:srgbClr val="00B0F0"/>
                </a:solidFill>
                <a:latin typeface="Arial"/>
                <a:cs typeface="Arial"/>
              </a:rPr>
              <a:t> 2</a:t>
            </a:r>
            <a:endParaRPr sz="1600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34" name="object 15">
            <a:extLst>
              <a:ext uri="{FF2B5EF4-FFF2-40B4-BE49-F238E27FC236}">
                <a16:creationId xmlns:a16="http://schemas.microsoft.com/office/drawing/2014/main" id="{B8266518-765F-4826-BF48-BD687919E094}"/>
              </a:ext>
            </a:extLst>
          </p:cNvPr>
          <p:cNvSpPr txBox="1"/>
          <p:nvPr/>
        </p:nvSpPr>
        <p:spPr>
          <a:xfrm>
            <a:off x="1006673" y="1474732"/>
            <a:ext cx="7130654" cy="33896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2094230">
              <a:spcAft>
                <a:spcPts val="1200"/>
              </a:spcAft>
            </a:pP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Otro e</a:t>
            </a:r>
            <a:r>
              <a:rPr sz="240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jemplo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de </a:t>
            </a: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condicional anidada:</a:t>
            </a:r>
            <a:endParaRPr sz="24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</p:txBody>
      </p:sp>
      <p:sp>
        <p:nvSpPr>
          <p:cNvPr id="24" name="object 27">
            <a:extLst>
              <a:ext uri="{FF2B5EF4-FFF2-40B4-BE49-F238E27FC236}">
                <a16:creationId xmlns:a16="http://schemas.microsoft.com/office/drawing/2014/main" id="{38AB52DC-E9F4-41A5-82E5-103F8EF73AFA}"/>
              </a:ext>
            </a:extLst>
          </p:cNvPr>
          <p:cNvSpPr txBox="1"/>
          <p:nvPr/>
        </p:nvSpPr>
        <p:spPr>
          <a:xfrm>
            <a:off x="2601618" y="2426047"/>
            <a:ext cx="2118995" cy="2957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2800" b="1" dirty="0">
                <a:solidFill>
                  <a:schemeClr val="accent6">
                    <a:lumMod val="75000"/>
                  </a:schemeClr>
                </a:solidFill>
                <a:latin typeface="Consolas"/>
                <a:cs typeface="Consolas"/>
              </a:rPr>
              <a:t>if x==0:</a:t>
            </a:r>
          </a:p>
          <a:p>
            <a:pPr marL="314325"/>
            <a:r>
              <a:rPr sz="2800" b="1" dirty="0">
                <a:solidFill>
                  <a:schemeClr val="accent6">
                    <a:lumMod val="75000"/>
                  </a:schemeClr>
                </a:solidFill>
                <a:latin typeface="Consolas"/>
                <a:cs typeface="Consolas"/>
              </a:rPr>
              <a:t>if y&gt;25:</a:t>
            </a:r>
          </a:p>
          <a:p>
            <a:pPr marL="817244"/>
            <a:r>
              <a:rPr sz="2800" b="1" dirty="0">
                <a:solidFill>
                  <a:srgbClr val="002060"/>
                </a:solidFill>
                <a:latin typeface="Consolas"/>
                <a:cs typeface="Consolas"/>
              </a:rPr>
              <a:t>z=10</a:t>
            </a:r>
          </a:p>
          <a:p>
            <a:pPr marL="314325"/>
            <a:r>
              <a:rPr sz="2800" b="1" dirty="0">
                <a:solidFill>
                  <a:schemeClr val="accent6">
                    <a:lumMod val="75000"/>
                  </a:schemeClr>
                </a:solidFill>
                <a:latin typeface="Consolas"/>
                <a:cs typeface="Consolas"/>
              </a:rPr>
              <a:t>else:</a:t>
            </a:r>
          </a:p>
          <a:p>
            <a:pPr marL="817244"/>
            <a:r>
              <a:rPr sz="2800" b="1" dirty="0">
                <a:solidFill>
                  <a:srgbClr val="002060"/>
                </a:solidFill>
                <a:latin typeface="Consolas"/>
                <a:cs typeface="Consolas"/>
              </a:rPr>
              <a:t>z=-10</a:t>
            </a:r>
          </a:p>
          <a:p>
            <a:pPr marL="21590"/>
            <a:r>
              <a:rPr sz="2800" b="1" dirty="0">
                <a:solidFill>
                  <a:schemeClr val="accent6">
                    <a:lumMod val="75000"/>
                  </a:schemeClr>
                </a:solidFill>
                <a:latin typeface="Consolas"/>
                <a:cs typeface="Consolas"/>
              </a:rPr>
              <a:t>else:</a:t>
            </a:r>
          </a:p>
          <a:p>
            <a:pPr marL="469900"/>
            <a:r>
              <a:rPr sz="2800" b="1" dirty="0">
                <a:solidFill>
                  <a:srgbClr val="002060"/>
                </a:solidFill>
                <a:latin typeface="Consolas"/>
                <a:cs typeface="Consolas"/>
              </a:rPr>
              <a:t>z=y</a:t>
            </a:r>
          </a:p>
        </p:txBody>
      </p:sp>
      <p:sp>
        <p:nvSpPr>
          <p:cNvPr id="28" name="object 29">
            <a:extLst>
              <a:ext uri="{FF2B5EF4-FFF2-40B4-BE49-F238E27FC236}">
                <a16:creationId xmlns:a16="http://schemas.microsoft.com/office/drawing/2014/main" id="{AFD7B74F-4E89-4303-941A-E393E40D3949}"/>
              </a:ext>
            </a:extLst>
          </p:cNvPr>
          <p:cNvSpPr/>
          <p:nvPr/>
        </p:nvSpPr>
        <p:spPr>
          <a:xfrm rot="10800000">
            <a:off x="2601618" y="2915804"/>
            <a:ext cx="142070" cy="1646379"/>
          </a:xfrm>
          <a:custGeom>
            <a:avLst/>
            <a:gdLst/>
            <a:ahLst/>
            <a:cxnLst/>
            <a:rect l="l" t="t" r="r" b="b"/>
            <a:pathLst>
              <a:path w="154594" h="2054050">
                <a:moveTo>
                  <a:pt x="0" y="0"/>
                </a:moveTo>
                <a:lnTo>
                  <a:pt x="38471" y="1519"/>
                </a:lnTo>
                <a:lnTo>
                  <a:pt x="78102" y="8326"/>
                </a:lnTo>
                <a:lnTo>
                  <a:pt x="86105" y="1012825"/>
                </a:lnTo>
                <a:lnTo>
                  <a:pt x="88466" y="1016157"/>
                </a:lnTo>
                <a:lnTo>
                  <a:pt x="135955" y="1025835"/>
                </a:lnTo>
                <a:lnTo>
                  <a:pt x="154594" y="1026872"/>
                </a:lnTo>
                <a:lnTo>
                  <a:pt x="137761" y="1027618"/>
                </a:lnTo>
                <a:lnTo>
                  <a:pt x="93864" y="1035453"/>
                </a:lnTo>
                <a:lnTo>
                  <a:pt x="86105" y="2040001"/>
                </a:lnTo>
                <a:lnTo>
                  <a:pt x="83745" y="2043349"/>
                </a:lnTo>
                <a:lnTo>
                  <a:pt x="77031" y="2046416"/>
                </a:lnTo>
                <a:lnTo>
                  <a:pt x="66512" y="2049111"/>
                </a:lnTo>
                <a:lnTo>
                  <a:pt x="52738" y="2051342"/>
                </a:lnTo>
                <a:lnTo>
                  <a:pt x="36256" y="2053019"/>
                </a:lnTo>
                <a:lnTo>
                  <a:pt x="17617" y="2054050"/>
                </a:lnTo>
              </a:path>
            </a:pathLst>
          </a:custGeom>
          <a:ln w="25400">
            <a:solidFill>
              <a:schemeClr val="tx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5" name="object 30">
            <a:extLst>
              <a:ext uri="{FF2B5EF4-FFF2-40B4-BE49-F238E27FC236}">
                <a16:creationId xmlns:a16="http://schemas.microsoft.com/office/drawing/2014/main" id="{D265C6CE-66D9-4493-AFCD-CFABD1FA028E}"/>
              </a:ext>
            </a:extLst>
          </p:cNvPr>
          <p:cNvSpPr txBox="1"/>
          <p:nvPr/>
        </p:nvSpPr>
        <p:spPr>
          <a:xfrm>
            <a:off x="839842" y="3084513"/>
            <a:ext cx="1674560" cy="147766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r">
              <a:lnSpc>
                <a:spcPts val="2500"/>
              </a:lnSpc>
            </a:pPr>
            <a:r>
              <a:rPr sz="1600" b="1" dirty="0">
                <a:solidFill>
                  <a:srgbClr val="00AFEF"/>
                </a:solidFill>
                <a:latin typeface="Arial"/>
                <a:cs typeface="Arial"/>
              </a:rPr>
              <a:t>Un if dentro de las acciones</a:t>
            </a:r>
          </a:p>
          <a:p>
            <a:pPr marL="12700" algn="r">
              <a:lnSpc>
                <a:spcPts val="2500"/>
              </a:lnSpc>
            </a:pPr>
            <a:r>
              <a:rPr sz="1600" b="1" dirty="0">
                <a:solidFill>
                  <a:srgbClr val="00AFEF"/>
                </a:solidFill>
                <a:latin typeface="Arial"/>
                <a:cs typeface="Arial"/>
              </a:rPr>
              <a:t>si la condición es verdadera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F7C7FBD-C7EA-4005-A647-DD481E7F0F74}"/>
              </a:ext>
            </a:extLst>
          </p:cNvPr>
          <p:cNvSpPr/>
          <p:nvPr/>
        </p:nvSpPr>
        <p:spPr>
          <a:xfrm>
            <a:off x="1006672" y="2204865"/>
            <a:ext cx="7525768" cy="33843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48827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3027</TotalTime>
  <Words>790</Words>
  <Application>Microsoft Office PowerPoint</Application>
  <PresentationFormat>Presentación en pantalla (4:3)</PresentationFormat>
  <Paragraphs>144</Paragraphs>
  <Slides>24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9" baseType="lpstr">
      <vt:lpstr>Arial</vt:lpstr>
      <vt:lpstr>Calibri</vt:lpstr>
      <vt:lpstr>Consolas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113</cp:revision>
  <dcterms:created xsi:type="dcterms:W3CDTF">2013-06-11T22:32:36Z</dcterms:created>
  <dcterms:modified xsi:type="dcterms:W3CDTF">2026-08-11T16:22:30Z</dcterms:modified>
</cp:coreProperties>
</file>