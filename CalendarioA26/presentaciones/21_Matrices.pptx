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9" r:id="rId3"/>
    <p:sldId id="260" r:id="rId4"/>
    <p:sldId id="261" r:id="rId5"/>
    <p:sldId id="620" r:id="rId6"/>
    <p:sldId id="736" r:id="rId7"/>
    <p:sldId id="737" r:id="rId8"/>
    <p:sldId id="738" r:id="rId9"/>
    <p:sldId id="740" r:id="rId10"/>
    <p:sldId id="622" r:id="rId11"/>
    <p:sldId id="746" r:id="rId12"/>
    <p:sldId id="262" r:id="rId13"/>
    <p:sldId id="275" r:id="rId14"/>
    <p:sldId id="276" r:id="rId15"/>
    <p:sldId id="277" r:id="rId16"/>
    <p:sldId id="278" r:id="rId17"/>
    <p:sldId id="311" r:id="rId18"/>
    <p:sldId id="312" r:id="rId19"/>
    <p:sldId id="282" r:id="rId20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AFDEE4-812C-429B-B6A0-8C6106D6F0AB}" v="1" dt="2026-08-11T16:39:49.1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>
      <p:cViewPr varScale="1">
        <p:scale>
          <a:sx n="117" d="100"/>
          <a:sy n="117" d="100"/>
        </p:scale>
        <p:origin x="144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8-11T16:39:49.165" v="0"/>
      <pc:docMkLst>
        <pc:docMk/>
      </pc:docMkLst>
      <pc:sldChg chg="modSp">
        <pc:chgData name="Lizethe Pérez Fuertes" userId="4ae9ef87-2a7d-42f8-8dfa-0a501a9e2ff4" providerId="ADAL" clId="{FDDD45CB-1330-4033-A842-3D2746AFF7C7}" dt="2026-08-11T16:39:49.165" v="0"/>
        <pc:sldMkLst>
          <pc:docMk/>
          <pc:sldMk cId="1182132109" sldId="257"/>
        </pc:sldMkLst>
        <pc:spChg chg="mod">
          <ac:chgData name="Lizethe Pérez Fuertes" userId="4ae9ef87-2a7d-42f8-8dfa-0a501a9e2ff4" providerId="ADAL" clId="{FDDD45CB-1330-4033-A842-3D2746AFF7C7}" dt="2026-08-11T16:39:49.165" v="0"/>
          <ac:spMkLst>
            <pc:docMk/>
            <pc:sldMk cId="1182132109" sldId="257"/>
            <ac:spMk id="5" creationId="{83DC0A6A-611B-4B31-9C3C-4EEBD18EF1B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7A054-6D4F-4ED4-B3E7-62AC408CF793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4A5C2F-87B0-4382-B452-9CF1E6F724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8802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4A5C2F-87B0-4382-B452-9CF1E6F7248D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225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83067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08152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33782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68640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6540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44367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77416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4A5C2F-87B0-4382-B452-9CF1E6F7248D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1124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4A5C2F-87B0-4382-B452-9CF1E6F7248D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4411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2921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1615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3892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736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5413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5668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7581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789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9599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125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1B184-8162-40A9-BCCC-182276235E4C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6146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7339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1B184-8162-40A9-BCCC-182276235E4C}" type="datetimeFigureOut">
              <a:rPr lang="es-MX" smtClean="0"/>
              <a:t>11/08/2026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33FAF-ABAD-49D1-A35B-BBEFD2E5CC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8059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7584" y="1988840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Matrices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140968"/>
            <a:ext cx="4104456" cy="303692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3DC0A6A-611B-4B31-9C3C-4EEBD18EF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669826" cy="1470025"/>
          </a:xfrm>
        </p:spPr>
        <p:txBody>
          <a:bodyPr rtlCol="0">
            <a:normAutofit fontScale="90000"/>
          </a:bodyPr>
          <a:lstStyle/>
          <a:p>
            <a:pPr algn="l">
              <a:defRPr/>
            </a:pP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TI 3008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1182132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640" y="334789"/>
            <a:ext cx="6192688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m Casual"/>
              </a:rPr>
              <a:t>Matrices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7413" y="1307976"/>
            <a:ext cx="7501011" cy="2985120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arreglo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lo definimos como </a:t>
            </a:r>
            <a:r>
              <a:rPr lang="es-ES_tradnl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la relación entre un nombre y un conjunto de localidades</a:t>
            </a:r>
            <a:r>
              <a:rPr lang="es-ES_tradnl" sz="2400" dirty="0">
                <a:latin typeface="Arial" pitchFamily="34" charset="0"/>
                <a:cs typeface="Arial" pitchFamily="34" charset="0"/>
              </a:rPr>
              <a:t>. 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Decimos que la estructura de datos que definimos en el arreglo es de una sola dimensión ya que utilizamos un solo valor para identificar a cada localidad (0,1,2,...,n-1). </a:t>
            </a:r>
          </a:p>
        </p:txBody>
      </p:sp>
      <p:grpSp>
        <p:nvGrpSpPr>
          <p:cNvPr id="217092" name="Group 4"/>
          <p:cNvGrpSpPr>
            <a:grpSpLocks/>
          </p:cNvGrpSpPr>
          <p:nvPr/>
        </p:nvGrpSpPr>
        <p:grpSpPr bwMode="auto">
          <a:xfrm>
            <a:off x="2609850" y="4653136"/>
            <a:ext cx="4267200" cy="1108075"/>
            <a:chOff x="1728" y="3120"/>
            <a:chExt cx="2688" cy="698"/>
          </a:xfrm>
        </p:grpSpPr>
        <p:grpSp>
          <p:nvGrpSpPr>
            <p:cNvPr id="4101" name="Group 5"/>
            <p:cNvGrpSpPr>
              <a:grpSpLocks/>
            </p:cNvGrpSpPr>
            <p:nvPr/>
          </p:nvGrpSpPr>
          <p:grpSpPr bwMode="auto">
            <a:xfrm>
              <a:off x="1728" y="3120"/>
              <a:ext cx="2688" cy="336"/>
              <a:chOff x="1728" y="3120"/>
              <a:chExt cx="2688" cy="336"/>
            </a:xfrm>
          </p:grpSpPr>
          <p:sp>
            <p:nvSpPr>
              <p:cNvPr id="4110" name="Rectangle 6"/>
              <p:cNvSpPr>
                <a:spLocks noChangeArrowheads="1"/>
              </p:cNvSpPr>
              <p:nvPr/>
            </p:nvSpPr>
            <p:spPr bwMode="auto">
              <a:xfrm>
                <a:off x="1728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1" name="Rectangle 7"/>
              <p:cNvSpPr>
                <a:spLocks noChangeArrowheads="1"/>
              </p:cNvSpPr>
              <p:nvPr/>
            </p:nvSpPr>
            <p:spPr bwMode="auto">
              <a:xfrm>
                <a:off x="2064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2" name="Rectangle 8"/>
              <p:cNvSpPr>
                <a:spLocks noChangeArrowheads="1"/>
              </p:cNvSpPr>
              <p:nvPr/>
            </p:nvSpPr>
            <p:spPr bwMode="auto">
              <a:xfrm>
                <a:off x="2400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3" name="Rectangle 9"/>
              <p:cNvSpPr>
                <a:spLocks noChangeArrowheads="1"/>
              </p:cNvSpPr>
              <p:nvPr/>
            </p:nvSpPr>
            <p:spPr bwMode="auto">
              <a:xfrm>
                <a:off x="2736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4" name="Rectangle 10"/>
              <p:cNvSpPr>
                <a:spLocks noChangeArrowheads="1"/>
              </p:cNvSpPr>
              <p:nvPr/>
            </p:nvSpPr>
            <p:spPr bwMode="auto">
              <a:xfrm>
                <a:off x="3072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5" name="Rectangle 11"/>
              <p:cNvSpPr>
                <a:spLocks noChangeArrowheads="1"/>
              </p:cNvSpPr>
              <p:nvPr/>
            </p:nvSpPr>
            <p:spPr bwMode="auto">
              <a:xfrm>
                <a:off x="3408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6" name="Rectangle 12"/>
              <p:cNvSpPr>
                <a:spLocks noChangeArrowheads="1"/>
              </p:cNvSpPr>
              <p:nvPr/>
            </p:nvSpPr>
            <p:spPr bwMode="auto">
              <a:xfrm>
                <a:off x="3744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4117" name="Rectangle 13"/>
              <p:cNvSpPr>
                <a:spLocks noChangeArrowheads="1"/>
              </p:cNvSpPr>
              <p:nvPr/>
            </p:nvSpPr>
            <p:spPr bwMode="auto">
              <a:xfrm>
                <a:off x="4080" y="312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</p:grpSp>
        <p:sp>
          <p:nvSpPr>
            <p:cNvPr id="4102" name="Text Box 14"/>
            <p:cNvSpPr txBox="1">
              <a:spLocks noChangeArrowheads="1"/>
            </p:cNvSpPr>
            <p:nvPr/>
          </p:nvSpPr>
          <p:spPr bwMode="auto">
            <a:xfrm>
              <a:off x="1800" y="3530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4103" name="Text Box 15"/>
            <p:cNvSpPr txBox="1">
              <a:spLocks noChangeArrowheads="1"/>
            </p:cNvSpPr>
            <p:nvPr/>
          </p:nvSpPr>
          <p:spPr bwMode="auto">
            <a:xfrm>
              <a:off x="2140" y="3528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4104" name="Text Box 16"/>
            <p:cNvSpPr txBox="1">
              <a:spLocks noChangeArrowheads="1"/>
            </p:cNvSpPr>
            <p:nvPr/>
          </p:nvSpPr>
          <p:spPr bwMode="auto">
            <a:xfrm>
              <a:off x="2448" y="3528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105" name="Text Box 17"/>
            <p:cNvSpPr txBox="1">
              <a:spLocks noChangeArrowheads="1"/>
            </p:cNvSpPr>
            <p:nvPr/>
          </p:nvSpPr>
          <p:spPr bwMode="auto">
            <a:xfrm>
              <a:off x="2824" y="3528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106" name="Text Box 18"/>
            <p:cNvSpPr txBox="1">
              <a:spLocks noChangeArrowheads="1"/>
            </p:cNvSpPr>
            <p:nvPr/>
          </p:nvSpPr>
          <p:spPr bwMode="auto">
            <a:xfrm>
              <a:off x="3164" y="3526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4107" name="Text Box 19"/>
            <p:cNvSpPr txBox="1">
              <a:spLocks noChangeArrowheads="1"/>
            </p:cNvSpPr>
            <p:nvPr/>
          </p:nvSpPr>
          <p:spPr bwMode="auto">
            <a:xfrm>
              <a:off x="3472" y="3526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4108" name="Text Box 20"/>
            <p:cNvSpPr txBox="1">
              <a:spLocks noChangeArrowheads="1"/>
            </p:cNvSpPr>
            <p:nvPr/>
          </p:nvSpPr>
          <p:spPr bwMode="auto">
            <a:xfrm>
              <a:off x="3836" y="3528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4109" name="Text Box 21"/>
            <p:cNvSpPr txBox="1">
              <a:spLocks noChangeArrowheads="1"/>
            </p:cNvSpPr>
            <p:nvPr/>
          </p:nvSpPr>
          <p:spPr bwMode="auto">
            <a:xfrm>
              <a:off x="4144" y="3528"/>
              <a:ext cx="2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5126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94904" y="1562224"/>
            <a:ext cx="7484368" cy="3024969"/>
          </a:xfrm>
        </p:spPr>
        <p:txBody>
          <a:bodyPr>
            <a:normAutofit fontScale="92500" lnSpcReduction="20000"/>
          </a:bodyPr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matriz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también es una colección de localidades asociadas a un nombre, sólo que los datos se organizan en 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dos dimensiones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 Por ello, para hacer referencia a una localidad del arreglo se necesitan de dos números:  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_tradnl" sz="9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* El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número de renglón</a:t>
            </a:r>
            <a:r>
              <a:rPr lang="es-ES_tradnl" sz="2400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* El </a:t>
            </a: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número de columna </a:t>
            </a:r>
          </a:p>
          <a:p>
            <a:pPr eaLnBrk="1" hangingPunct="1">
              <a:lnSpc>
                <a:spcPct val="90000"/>
              </a:lnSpc>
            </a:pPr>
            <a:endParaRPr lang="es-ES_tradnl" sz="2800" dirty="0"/>
          </a:p>
        </p:txBody>
      </p:sp>
      <p:grpSp>
        <p:nvGrpSpPr>
          <p:cNvPr id="218115" name="Group 3"/>
          <p:cNvGrpSpPr>
            <a:grpSpLocks/>
          </p:cNvGrpSpPr>
          <p:nvPr/>
        </p:nvGrpSpPr>
        <p:grpSpPr bwMode="auto">
          <a:xfrm>
            <a:off x="4837117" y="3573016"/>
            <a:ext cx="3556000" cy="2616200"/>
            <a:chOff x="3232" y="2384"/>
            <a:chExt cx="2240" cy="1648"/>
          </a:xfrm>
        </p:grpSpPr>
        <p:grpSp>
          <p:nvGrpSpPr>
            <p:cNvPr id="5125" name="Group 4"/>
            <p:cNvGrpSpPr>
              <a:grpSpLocks/>
            </p:cNvGrpSpPr>
            <p:nvPr/>
          </p:nvGrpSpPr>
          <p:grpSpPr bwMode="auto">
            <a:xfrm>
              <a:off x="3528" y="2384"/>
              <a:ext cx="1884" cy="292"/>
              <a:chOff x="3528" y="2384"/>
              <a:chExt cx="1884" cy="292"/>
            </a:xfrm>
          </p:grpSpPr>
          <p:sp>
            <p:nvSpPr>
              <p:cNvPr id="5155" name="Text Box 5"/>
              <p:cNvSpPr txBox="1">
                <a:spLocks noChangeArrowheads="1"/>
              </p:cNvSpPr>
              <p:nvPr/>
            </p:nvSpPr>
            <p:spPr bwMode="auto">
              <a:xfrm>
                <a:off x="3528" y="238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s-ES_tradnl" sz="2400" b="1">
                    <a:solidFill>
                      <a:srgbClr val="FF0000"/>
                    </a:solidFill>
                    <a:latin typeface="Times New Roman" pitchFamily="18" charset="0"/>
                  </a:rPr>
                  <a:t>0</a:t>
                </a:r>
              </a:p>
            </p:txBody>
          </p:sp>
          <p:sp>
            <p:nvSpPr>
              <p:cNvPr id="5156" name="Text Box 6"/>
              <p:cNvSpPr txBox="1">
                <a:spLocks noChangeArrowheads="1"/>
              </p:cNvSpPr>
              <p:nvPr/>
            </p:nvSpPr>
            <p:spPr bwMode="auto">
              <a:xfrm>
                <a:off x="3868" y="238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s-ES_tradnl" sz="2400" b="1">
                    <a:solidFill>
                      <a:srgbClr val="FF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5157" name="Text Box 7"/>
              <p:cNvSpPr txBox="1">
                <a:spLocks noChangeArrowheads="1"/>
              </p:cNvSpPr>
              <p:nvPr/>
            </p:nvSpPr>
            <p:spPr bwMode="auto">
              <a:xfrm>
                <a:off x="4176" y="238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s-ES_tradnl" sz="2400" b="1">
                    <a:solidFill>
                      <a:srgbClr val="FF0000"/>
                    </a:solidFill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5158" name="Text Box 8"/>
              <p:cNvSpPr txBox="1">
                <a:spLocks noChangeArrowheads="1"/>
              </p:cNvSpPr>
              <p:nvPr/>
            </p:nvSpPr>
            <p:spPr bwMode="auto">
              <a:xfrm>
                <a:off x="4552" y="2386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s-ES_tradnl" sz="2400" b="1">
                    <a:solidFill>
                      <a:srgbClr val="FF0000"/>
                    </a:solidFill>
                    <a:latin typeface="Times New Roman" pitchFamily="18" charset="0"/>
                  </a:rPr>
                  <a:t>3</a:t>
                </a:r>
              </a:p>
            </p:txBody>
          </p:sp>
          <p:sp>
            <p:nvSpPr>
              <p:cNvPr id="5159" name="Text Box 9"/>
              <p:cNvSpPr txBox="1">
                <a:spLocks noChangeArrowheads="1"/>
              </p:cNvSpPr>
              <p:nvPr/>
            </p:nvSpPr>
            <p:spPr bwMode="auto">
              <a:xfrm>
                <a:off x="4892" y="238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s-ES_tradnl" sz="2400" b="1">
                    <a:solidFill>
                      <a:srgbClr val="FF0000"/>
                    </a:solidFill>
                    <a:latin typeface="Times New Roman" pitchFamily="18" charset="0"/>
                  </a:rPr>
                  <a:t>4</a:t>
                </a:r>
              </a:p>
            </p:txBody>
          </p:sp>
          <p:sp>
            <p:nvSpPr>
              <p:cNvPr id="5160" name="Text Box 10"/>
              <p:cNvSpPr txBox="1">
                <a:spLocks noChangeArrowheads="1"/>
              </p:cNvSpPr>
              <p:nvPr/>
            </p:nvSpPr>
            <p:spPr bwMode="auto">
              <a:xfrm>
                <a:off x="5200" y="2384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742950" indent="-28575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1430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6002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057400" indent="-228600" defTabSz="762000" eaLnBrk="0" hangingPunct="0"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defTabSz="7620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/>
                <a:r>
                  <a:rPr lang="es-ES_tradnl" sz="2400" b="1">
                    <a:solidFill>
                      <a:srgbClr val="FF0000"/>
                    </a:solidFill>
                    <a:latin typeface="Times New Roman" pitchFamily="18" charset="0"/>
                  </a:rPr>
                  <a:t>5</a:t>
                </a:r>
              </a:p>
            </p:txBody>
          </p:sp>
        </p:grpSp>
        <p:grpSp>
          <p:nvGrpSpPr>
            <p:cNvPr id="5126" name="Group 11"/>
            <p:cNvGrpSpPr>
              <a:grpSpLocks/>
            </p:cNvGrpSpPr>
            <p:nvPr/>
          </p:nvGrpSpPr>
          <p:grpSpPr bwMode="auto">
            <a:xfrm>
              <a:off x="3456" y="2688"/>
              <a:ext cx="2016" cy="1344"/>
              <a:chOff x="2928" y="2640"/>
              <a:chExt cx="2016" cy="1344"/>
            </a:xfrm>
          </p:grpSpPr>
          <p:sp>
            <p:nvSpPr>
              <p:cNvPr id="5131" name="Rectangle 12"/>
              <p:cNvSpPr>
                <a:spLocks noChangeArrowheads="1"/>
              </p:cNvSpPr>
              <p:nvPr/>
            </p:nvSpPr>
            <p:spPr bwMode="auto">
              <a:xfrm>
                <a:off x="2928" y="264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2" name="Rectangle 13"/>
              <p:cNvSpPr>
                <a:spLocks noChangeArrowheads="1"/>
              </p:cNvSpPr>
              <p:nvPr/>
            </p:nvSpPr>
            <p:spPr bwMode="auto">
              <a:xfrm>
                <a:off x="3264" y="264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3" name="Rectangle 14"/>
              <p:cNvSpPr>
                <a:spLocks noChangeArrowheads="1"/>
              </p:cNvSpPr>
              <p:nvPr/>
            </p:nvSpPr>
            <p:spPr bwMode="auto">
              <a:xfrm>
                <a:off x="3600" y="264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4" name="Rectangle 15"/>
              <p:cNvSpPr>
                <a:spLocks noChangeArrowheads="1"/>
              </p:cNvSpPr>
              <p:nvPr/>
            </p:nvSpPr>
            <p:spPr bwMode="auto">
              <a:xfrm>
                <a:off x="3936" y="264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5" name="Rectangle 16"/>
              <p:cNvSpPr>
                <a:spLocks noChangeArrowheads="1"/>
              </p:cNvSpPr>
              <p:nvPr/>
            </p:nvSpPr>
            <p:spPr bwMode="auto">
              <a:xfrm>
                <a:off x="4272" y="264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6" name="Rectangle 17"/>
              <p:cNvSpPr>
                <a:spLocks noChangeArrowheads="1"/>
              </p:cNvSpPr>
              <p:nvPr/>
            </p:nvSpPr>
            <p:spPr bwMode="auto">
              <a:xfrm>
                <a:off x="4608" y="2640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7" name="Rectangle 18"/>
              <p:cNvSpPr>
                <a:spLocks noChangeArrowheads="1"/>
              </p:cNvSpPr>
              <p:nvPr/>
            </p:nvSpPr>
            <p:spPr bwMode="auto">
              <a:xfrm>
                <a:off x="2928" y="2976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8" name="Rectangle 19"/>
              <p:cNvSpPr>
                <a:spLocks noChangeArrowheads="1"/>
              </p:cNvSpPr>
              <p:nvPr/>
            </p:nvSpPr>
            <p:spPr bwMode="auto">
              <a:xfrm>
                <a:off x="3264" y="2976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39" name="Rectangle 20"/>
              <p:cNvSpPr>
                <a:spLocks noChangeArrowheads="1"/>
              </p:cNvSpPr>
              <p:nvPr/>
            </p:nvSpPr>
            <p:spPr bwMode="auto">
              <a:xfrm>
                <a:off x="3600" y="2976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0" name="Rectangle 21"/>
              <p:cNvSpPr>
                <a:spLocks noChangeArrowheads="1"/>
              </p:cNvSpPr>
              <p:nvPr/>
            </p:nvSpPr>
            <p:spPr bwMode="auto">
              <a:xfrm>
                <a:off x="3936" y="2976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1" name="Rectangle 22"/>
              <p:cNvSpPr>
                <a:spLocks noChangeArrowheads="1"/>
              </p:cNvSpPr>
              <p:nvPr/>
            </p:nvSpPr>
            <p:spPr bwMode="auto">
              <a:xfrm>
                <a:off x="4272" y="2976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2" name="Rectangle 23"/>
              <p:cNvSpPr>
                <a:spLocks noChangeArrowheads="1"/>
              </p:cNvSpPr>
              <p:nvPr/>
            </p:nvSpPr>
            <p:spPr bwMode="auto">
              <a:xfrm>
                <a:off x="4608" y="2976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3" name="Rectangle 24"/>
              <p:cNvSpPr>
                <a:spLocks noChangeArrowheads="1"/>
              </p:cNvSpPr>
              <p:nvPr/>
            </p:nvSpPr>
            <p:spPr bwMode="auto">
              <a:xfrm>
                <a:off x="2928" y="3312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4" name="Rectangle 25"/>
              <p:cNvSpPr>
                <a:spLocks noChangeArrowheads="1"/>
              </p:cNvSpPr>
              <p:nvPr/>
            </p:nvSpPr>
            <p:spPr bwMode="auto">
              <a:xfrm>
                <a:off x="3264" y="3312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5" name="Rectangle 26"/>
              <p:cNvSpPr>
                <a:spLocks noChangeArrowheads="1"/>
              </p:cNvSpPr>
              <p:nvPr/>
            </p:nvSpPr>
            <p:spPr bwMode="auto">
              <a:xfrm>
                <a:off x="3600" y="3312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6" name="Rectangle 27"/>
              <p:cNvSpPr>
                <a:spLocks noChangeArrowheads="1"/>
              </p:cNvSpPr>
              <p:nvPr/>
            </p:nvSpPr>
            <p:spPr bwMode="auto">
              <a:xfrm>
                <a:off x="3936" y="3312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7" name="Rectangle 28"/>
              <p:cNvSpPr>
                <a:spLocks noChangeArrowheads="1"/>
              </p:cNvSpPr>
              <p:nvPr/>
            </p:nvSpPr>
            <p:spPr bwMode="auto">
              <a:xfrm>
                <a:off x="4272" y="3312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8" name="Rectangle 29"/>
              <p:cNvSpPr>
                <a:spLocks noChangeArrowheads="1"/>
              </p:cNvSpPr>
              <p:nvPr/>
            </p:nvSpPr>
            <p:spPr bwMode="auto">
              <a:xfrm>
                <a:off x="4608" y="3312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49" name="Rectangle 30"/>
              <p:cNvSpPr>
                <a:spLocks noChangeArrowheads="1"/>
              </p:cNvSpPr>
              <p:nvPr/>
            </p:nvSpPr>
            <p:spPr bwMode="auto">
              <a:xfrm>
                <a:off x="2928" y="3648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50" name="Rectangle 31"/>
              <p:cNvSpPr>
                <a:spLocks noChangeArrowheads="1"/>
              </p:cNvSpPr>
              <p:nvPr/>
            </p:nvSpPr>
            <p:spPr bwMode="auto">
              <a:xfrm>
                <a:off x="3264" y="3648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51" name="Rectangle 32"/>
              <p:cNvSpPr>
                <a:spLocks noChangeArrowheads="1"/>
              </p:cNvSpPr>
              <p:nvPr/>
            </p:nvSpPr>
            <p:spPr bwMode="auto">
              <a:xfrm>
                <a:off x="3600" y="3648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52" name="Rectangle 33"/>
              <p:cNvSpPr>
                <a:spLocks noChangeArrowheads="1"/>
              </p:cNvSpPr>
              <p:nvPr/>
            </p:nvSpPr>
            <p:spPr bwMode="auto">
              <a:xfrm>
                <a:off x="3936" y="3648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53" name="Rectangle 34"/>
              <p:cNvSpPr>
                <a:spLocks noChangeArrowheads="1"/>
              </p:cNvSpPr>
              <p:nvPr/>
            </p:nvSpPr>
            <p:spPr bwMode="auto">
              <a:xfrm>
                <a:off x="4272" y="3648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54" name="Rectangle 35"/>
              <p:cNvSpPr>
                <a:spLocks noChangeArrowheads="1"/>
              </p:cNvSpPr>
              <p:nvPr/>
            </p:nvSpPr>
            <p:spPr bwMode="auto">
              <a:xfrm>
                <a:off x="4608" y="3648"/>
                <a:ext cx="336" cy="336"/>
              </a:xfrm>
              <a:prstGeom prst="rect">
                <a:avLst/>
              </a:prstGeom>
              <a:solidFill>
                <a:srgbClr val="00CC00"/>
              </a:solidFill>
              <a:ln w="381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</p:grpSp>
        <p:sp>
          <p:nvSpPr>
            <p:cNvPr id="5127" name="Text Box 36"/>
            <p:cNvSpPr txBox="1">
              <a:spLocks noChangeArrowheads="1"/>
            </p:cNvSpPr>
            <p:nvPr/>
          </p:nvSpPr>
          <p:spPr bwMode="auto">
            <a:xfrm>
              <a:off x="3232" y="268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5128" name="Text Box 37"/>
            <p:cNvSpPr txBox="1">
              <a:spLocks noChangeArrowheads="1"/>
            </p:cNvSpPr>
            <p:nvPr/>
          </p:nvSpPr>
          <p:spPr bwMode="auto">
            <a:xfrm>
              <a:off x="3232" y="30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129" name="Text Box 38"/>
            <p:cNvSpPr txBox="1">
              <a:spLocks noChangeArrowheads="1"/>
            </p:cNvSpPr>
            <p:nvPr/>
          </p:nvSpPr>
          <p:spPr bwMode="auto">
            <a:xfrm>
              <a:off x="3232" y="33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130" name="Text Box 39"/>
            <p:cNvSpPr txBox="1">
              <a:spLocks noChangeArrowheads="1"/>
            </p:cNvSpPr>
            <p:nvPr/>
          </p:nvSpPr>
          <p:spPr bwMode="auto">
            <a:xfrm>
              <a:off x="3232" y="369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defTabSz="762000" eaLnBrk="0" hangingPunct="0">
                <a:defRPr sz="1600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/>
              <a:r>
                <a:rPr lang="es-ES_tradnl" sz="2400" b="1">
                  <a:solidFill>
                    <a:srgbClr val="FF0000"/>
                  </a:solidFill>
                  <a:latin typeface="Times New Roman" pitchFamily="18" charset="0"/>
                </a:rPr>
                <a:t>3</a:t>
              </a:r>
            </a:p>
          </p:txBody>
        </p:sp>
      </p:grpSp>
      <p:sp>
        <p:nvSpPr>
          <p:cNvPr id="41" name="Rectangle 2">
            <a:extLst>
              <a:ext uri="{FF2B5EF4-FFF2-40B4-BE49-F238E27FC236}">
                <a16:creationId xmlns:a16="http://schemas.microsoft.com/office/drawing/2014/main" id="{C0BA16FA-D5BB-48FE-9E2C-831820CB4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03648" y="334789"/>
            <a:ext cx="6192688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m Casual"/>
              </a:rPr>
              <a:t>Matrices</a:t>
            </a:r>
          </a:p>
        </p:txBody>
      </p:sp>
    </p:spTree>
    <p:extLst>
      <p:ext uri="{BB962C8B-B14F-4D97-AF65-F5344CB8AC3E}">
        <p14:creationId xmlns:p14="http://schemas.microsoft.com/office/powerpoint/2010/main" val="332599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27248" y="1115144"/>
            <a:ext cx="8077200" cy="54102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De la misma manera que en los arreglos, la numeración de renglones y de columnas inicia desde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.  </a:t>
            </a:r>
          </a:p>
          <a:p>
            <a:pPr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Si por ejemplo definimos una matriz de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s-ES_tradnl" sz="2000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renglones y </a:t>
            </a:r>
            <a:r>
              <a:rPr lang="es-ES_tradnl" sz="2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columnas, el primer elemento de la colección se encontraría en: </a:t>
            </a:r>
          </a:p>
          <a:p>
            <a:pPr lvl="1"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renglón 0</a:t>
            </a:r>
            <a:r>
              <a:rPr lang="es-ES_tradnl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lvl="1"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columna 0</a:t>
            </a:r>
            <a:r>
              <a:rPr lang="es-ES_tradnl" sz="2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Y el último elemento se encontraría en:  </a:t>
            </a:r>
          </a:p>
          <a:p>
            <a:pPr lvl="1"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renglón 5 </a:t>
            </a:r>
          </a:p>
          <a:p>
            <a:pPr lvl="1" algn="just" eaLnBrk="1" hangingPunct="1">
              <a:lnSpc>
                <a:spcPct val="150000"/>
              </a:lnSpc>
              <a:spcBef>
                <a:spcPct val="25000"/>
              </a:spcBef>
            </a:pPr>
            <a:r>
              <a:rPr lang="es-ES_tradnl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columna 5</a:t>
            </a:r>
            <a:r>
              <a:rPr lang="es-ES_tradnl" sz="20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8" name="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912" y="3450049"/>
            <a:ext cx="2592288" cy="2499503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4FB16933-B78A-40C4-87E1-FF8F00B9A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03648" y="218728"/>
            <a:ext cx="6192688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m Casual"/>
              </a:rPr>
              <a:t>Matrices</a:t>
            </a:r>
          </a:p>
        </p:txBody>
      </p:sp>
    </p:spTree>
    <p:extLst>
      <p:ext uri="{BB962C8B-B14F-4D97-AF65-F5344CB8AC3E}">
        <p14:creationId xmlns:p14="http://schemas.microsoft.com/office/powerpoint/2010/main" val="261167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19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19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219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219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219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219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2191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8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-17738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Crear una matriz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27584" y="980728"/>
            <a:ext cx="7776864" cy="3891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matriz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= </a:t>
            </a:r>
            <a:r>
              <a:rPr lang="es-ES" sz="2000" b="1" i="0" dirty="0" err="1">
                <a:solidFill>
                  <a:srgbClr val="FF0000"/>
                </a:solidFill>
                <a:effectLst/>
              </a:rPr>
              <a:t>np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r>
              <a:rPr lang="es-ES" sz="2000" b="1" i="0" dirty="0" err="1">
                <a:solidFill>
                  <a:srgbClr val="FF0000"/>
                </a:solidFill>
                <a:effectLst/>
              </a:rPr>
              <a:t>array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([[1, 2, 3, 4], [5, 6, 7, 8], [9, 10, 11, 12]])</a:t>
            </a:r>
          </a:p>
          <a:p>
            <a:pPr algn="l">
              <a:lnSpc>
                <a:spcPct val="150000"/>
              </a:lnSpc>
            </a:pP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Una </a:t>
            </a:r>
            <a:r>
              <a:rPr lang="es-ES" sz="2000" b="1" dirty="0">
                <a:solidFill>
                  <a:schemeClr val="accent5">
                    <a:lumMod val="75000"/>
                  </a:schemeClr>
                </a:solidFill>
              </a:rPr>
              <a:t>matriz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es un objeto de la clase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ndarray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”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Un objeto de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ndarray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tiene los siguientes atributos: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matriz</a:t>
            </a: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.ndim</a:t>
            </a:r>
            <a:endParaRPr lang="es-ES" sz="2000" b="1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matriz</a:t>
            </a: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shape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matriz</a:t>
            </a: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size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639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260648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Herramientas para crear matrices o arreglos multidimensionales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1115616" y="1844824"/>
            <a:ext cx="7344816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Existen varias instrucciones para crear arreglos multidimensionales en 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Numpy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np.empty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np.zeros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()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np.ones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()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Imagen 5" descr="Calendario&#10;&#10;Descripción generada automáticamente">
            <a:extLst>
              <a:ext uri="{FF2B5EF4-FFF2-40B4-BE49-F238E27FC236}">
                <a16:creationId xmlns:a16="http://schemas.microsoft.com/office/drawing/2014/main" id="{15ABA04D-6760-4C24-9786-EB0DF1F8C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3681689"/>
            <a:ext cx="200977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457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-17738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Manipulación de matrices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11560" y="1125262"/>
            <a:ext cx="7848872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Podemos acceder a elementos individuales, extraer una fila entera y extraer una columna entera por medio de </a:t>
            </a:r>
            <a:r>
              <a:rPr lang="es-ES" sz="2000" b="1" dirty="0">
                <a:solidFill>
                  <a:schemeClr val="accent5">
                    <a:lumMod val="75000"/>
                  </a:schemeClr>
                </a:solidFill>
              </a:rPr>
              <a:t>índices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así como por </a:t>
            </a:r>
            <a:r>
              <a:rPr lang="es-ES" sz="2000" b="1" dirty="0" err="1">
                <a:solidFill>
                  <a:schemeClr val="accent5">
                    <a:lumMod val="75000"/>
                  </a:schemeClr>
                </a:solidFill>
              </a:rPr>
              <a:t>slices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CA1BF14-A431-4B33-8AD0-B5C09E8A4631}"/>
              </a:ext>
            </a:extLst>
          </p:cNvPr>
          <p:cNvSpPr txBox="1"/>
          <p:nvPr/>
        </p:nvSpPr>
        <p:spPr>
          <a:xfrm>
            <a:off x="683568" y="2296479"/>
            <a:ext cx="734481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matriz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= </a:t>
            </a:r>
            <a:r>
              <a:rPr lang="es-ES" sz="2000" b="1" i="0" dirty="0" err="1">
                <a:solidFill>
                  <a:srgbClr val="FF0000"/>
                </a:solidFill>
                <a:effectLst/>
              </a:rPr>
              <a:t>np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r>
              <a:rPr lang="es-ES" sz="2000" b="1" i="0" dirty="0" err="1">
                <a:solidFill>
                  <a:srgbClr val="FF0000"/>
                </a:solidFill>
                <a:effectLst/>
              </a:rPr>
              <a:t>array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([[1, 2, 3, 4], [5, 6, 7, 8], [9, 10, 11, 12]])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Podemos acceder a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elementos individuales 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matriz[0, 3]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Podemos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extraer una fila entera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matriz[1, :]</a:t>
            </a:r>
          </a:p>
          <a:p>
            <a:pPr lvl="1"/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Podemos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extraer una columna entera</a:t>
            </a:r>
          </a:p>
          <a:p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matriz[:, 1]</a:t>
            </a:r>
          </a:p>
          <a:p>
            <a:pPr lvl="1"/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924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238336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Operaciones Aritméticas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1331640" y="1556792"/>
            <a:ext cx="6696744" cy="419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Algunas operaciones aritméticas de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Numpy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son: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Suma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Resta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Multiplicación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División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Potencia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Sumar un valor a toda la matriz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Restar un valor a toda la matriz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Elevar cada elemento de la matriz a un número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4ABBF77-B078-22FE-EFD9-378098134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2348880"/>
            <a:ext cx="4320480" cy="164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775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79512" y="548680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Resumen de operaciones aritméticas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200CB4C-120B-49E6-A093-AA107ABCA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435246"/>
              </p:ext>
            </p:extLst>
          </p:nvPr>
        </p:nvGraphicFramePr>
        <p:xfrm>
          <a:off x="755576" y="2058679"/>
          <a:ext cx="7056783" cy="2194560"/>
        </p:xfrm>
        <a:graphic>
          <a:graphicData uri="http://schemas.openxmlformats.org/drawingml/2006/table">
            <a:tbl>
              <a:tblPr/>
              <a:tblGrid>
                <a:gridCol w="2352261">
                  <a:extLst>
                    <a:ext uri="{9D8B030D-6E8A-4147-A177-3AD203B41FA5}">
                      <a16:colId xmlns:a16="http://schemas.microsoft.com/office/drawing/2014/main" val="1716184664"/>
                    </a:ext>
                  </a:extLst>
                </a:gridCol>
                <a:gridCol w="2352261">
                  <a:extLst>
                    <a:ext uri="{9D8B030D-6E8A-4147-A177-3AD203B41FA5}">
                      <a16:colId xmlns:a16="http://schemas.microsoft.com/office/drawing/2014/main" val="383890695"/>
                    </a:ext>
                  </a:extLst>
                </a:gridCol>
                <a:gridCol w="2352261">
                  <a:extLst>
                    <a:ext uri="{9D8B030D-6E8A-4147-A177-3AD203B41FA5}">
                      <a16:colId xmlns:a16="http://schemas.microsoft.com/office/drawing/2014/main" val="39575249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s-MX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Operación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Notación Compacta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Notación Funcional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790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suma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x +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 err="1">
                          <a:effectLst/>
                        </a:rPr>
                        <a:t>np.sum</a:t>
                      </a:r>
                      <a:r>
                        <a:rPr lang="es-MX" dirty="0">
                          <a:effectLst/>
                        </a:rPr>
                        <a:t>(x, 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777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resta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x -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 err="1">
                          <a:effectLst/>
                        </a:rPr>
                        <a:t>np.subtract</a:t>
                      </a:r>
                      <a:r>
                        <a:rPr lang="es-MX" dirty="0">
                          <a:effectLst/>
                        </a:rPr>
                        <a:t>(x, 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384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multiplicación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x *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 err="1">
                          <a:effectLst/>
                        </a:rPr>
                        <a:t>np.multiply</a:t>
                      </a:r>
                      <a:r>
                        <a:rPr lang="es-MX" dirty="0">
                          <a:effectLst/>
                        </a:rPr>
                        <a:t>(x, 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886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división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x /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 err="1">
                          <a:effectLst/>
                        </a:rPr>
                        <a:t>np.divide</a:t>
                      </a:r>
                      <a:r>
                        <a:rPr lang="es-MX" dirty="0">
                          <a:effectLst/>
                        </a:rPr>
                        <a:t>(x, 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947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potencia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>
                          <a:effectLst/>
                        </a:rPr>
                        <a:t>x ** 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dirty="0" err="1">
                          <a:effectLst/>
                        </a:rPr>
                        <a:t>np.power</a:t>
                      </a:r>
                      <a:r>
                        <a:rPr lang="es-MX" dirty="0">
                          <a:effectLst/>
                        </a:rPr>
                        <a:t>(x, 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024408"/>
                  </a:ext>
                </a:extLst>
              </a:tr>
            </a:tbl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E27C9DA3-683F-7F7F-DB53-0E5161A94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4694288"/>
            <a:ext cx="4320480" cy="164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547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209048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Agregar elementos y concatenar matrices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5AA9D-354E-4C31-88A9-A48B5A9BA280}"/>
              </a:ext>
            </a:extLst>
          </p:cNvPr>
          <p:cNvSpPr txBox="1"/>
          <p:nvPr/>
        </p:nvSpPr>
        <p:spPr>
          <a:xfrm>
            <a:off x="398618" y="1792425"/>
            <a:ext cx="8208912" cy="2290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Para </a:t>
            </a:r>
            <a:r>
              <a:rPr lang="es-MX" b="1" i="0" dirty="0">
                <a:solidFill>
                  <a:schemeClr val="accent5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agregar </a:t>
            </a: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elementos a una matriz podemos usar la función </a:t>
            </a:r>
            <a:r>
              <a:rPr lang="es-MX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np.append</a:t>
            </a:r>
            <a:r>
              <a:rPr lang="es-MX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()</a:t>
            </a: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</a:t>
            </a:r>
          </a:p>
          <a:p>
            <a:pPr lvl="1" algn="just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np.append</a:t>
            </a: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(matriz, vals, axis = </a:t>
            </a:r>
            <a:r>
              <a:rPr lang="es-ES" b="1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None</a:t>
            </a: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)</a:t>
            </a:r>
          </a:p>
          <a:p>
            <a:pPr marL="742950" lvl="1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matriz 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 La matriz base</a:t>
            </a:r>
          </a:p>
          <a:p>
            <a:pPr marL="742950" lvl="1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vals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: La matriz de valores a juntar</a:t>
            </a:r>
          </a:p>
          <a:p>
            <a:pPr marL="742950" lvl="1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axis </a:t>
            </a:r>
            <a:r>
              <a:rPr lang="es-ES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Dirección por la que se junta</a:t>
            </a: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4F534B4-0C40-4CDD-A702-6E608E6E4982}"/>
              </a:ext>
            </a:extLst>
          </p:cNvPr>
          <p:cNvSpPr txBox="1"/>
          <p:nvPr/>
        </p:nvSpPr>
        <p:spPr>
          <a:xfrm>
            <a:off x="395536" y="4348845"/>
            <a:ext cx="8208912" cy="1816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Para </a:t>
            </a:r>
            <a:r>
              <a:rPr lang="es-MX" b="1" i="0" dirty="0">
                <a:solidFill>
                  <a:schemeClr val="accent5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concatenar </a:t>
            </a: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matrices podemos usar la función </a:t>
            </a:r>
            <a:r>
              <a:rPr lang="es-MX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np.concatenate</a:t>
            </a:r>
            <a:r>
              <a:rPr lang="es-MX" b="1" i="0" dirty="0">
                <a:solidFill>
                  <a:schemeClr val="accent6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()</a:t>
            </a:r>
            <a:r>
              <a:rPr lang="es-MX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</a:t>
            </a:r>
          </a:p>
          <a:p>
            <a:pPr lvl="1" algn="just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np.concatenate</a:t>
            </a: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(</a:t>
            </a:r>
            <a:r>
              <a:rPr lang="es-ES" b="1" dirty="0" err="1">
                <a:solidFill>
                  <a:srgbClr val="212121"/>
                </a:solidFill>
                <a:latin typeface="Roboto" panose="02000000000000000000" pitchFamily="2" charset="0"/>
              </a:rPr>
              <a:t>iter</a:t>
            </a:r>
            <a:r>
              <a:rPr lang="es-ES" b="1" dirty="0">
                <a:solidFill>
                  <a:srgbClr val="212121"/>
                </a:solidFill>
                <a:latin typeface="Roboto" panose="02000000000000000000" pitchFamily="2" charset="0"/>
              </a:rPr>
              <a:t>, a</a:t>
            </a: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xis = </a:t>
            </a:r>
            <a:r>
              <a:rPr lang="es-ES" b="1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None</a:t>
            </a: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)</a:t>
            </a:r>
          </a:p>
          <a:p>
            <a:pPr marL="742950" lvl="1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iter</a:t>
            </a: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 Lista de arreglos a concatenar.</a:t>
            </a:r>
          </a:p>
          <a:p>
            <a:pPr marL="742950" lvl="1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axis </a:t>
            </a:r>
            <a:r>
              <a:rPr lang="es-ES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:</a:t>
            </a:r>
            <a:r>
              <a:rPr lang="es-E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Dirección de concatenación.</a:t>
            </a: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pic>
        <p:nvPicPr>
          <p:cNvPr id="3" name="Picture 2" descr="A diagram of a graph&#10;&#10;Description automatically generated">
            <a:extLst>
              <a:ext uri="{FF2B5EF4-FFF2-40B4-BE49-F238E27FC236}">
                <a16:creationId xmlns:a16="http://schemas.microsoft.com/office/drawing/2014/main" id="{2258203B-2AD3-458D-156C-C46636977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2215490"/>
            <a:ext cx="3825230" cy="200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80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404664"/>
            <a:ext cx="857929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Números aleatorios enteros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DBA087-8F34-4F75-A5F0-B97397BAF7AE}"/>
              </a:ext>
            </a:extLst>
          </p:cNvPr>
          <p:cNvSpPr txBox="1"/>
          <p:nvPr/>
        </p:nvSpPr>
        <p:spPr>
          <a:xfrm>
            <a:off x="1187624" y="4170031"/>
            <a:ext cx="6840759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s-ES" sz="2000" b="1" i="0" dirty="0" err="1">
                <a:solidFill>
                  <a:srgbClr val="066DA1"/>
                </a:solidFill>
                <a:effectLst/>
              </a:rPr>
              <a:t>import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numpy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066DA1"/>
                </a:solidFill>
                <a:effectLst/>
              </a:rPr>
              <a:t>as</a:t>
            </a:r>
            <a:r>
              <a:rPr lang="es-ES" sz="2000" b="0" i="0" dirty="0">
                <a:solidFill>
                  <a:srgbClr val="000000"/>
                </a:solidFill>
                <a:effectLst/>
              </a:rPr>
              <a:t>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</a:t>
            </a:r>
            <a:endParaRPr lang="es-ES" sz="2000" b="0" i="0" dirty="0">
              <a:solidFill>
                <a:srgbClr val="AAAAAA"/>
              </a:solidFill>
              <a:effectLst/>
            </a:endParaRPr>
          </a:p>
          <a:p>
            <a:pPr algn="l" rtl="0">
              <a:lnSpc>
                <a:spcPct val="150000"/>
              </a:lnSpc>
            </a:pPr>
            <a:r>
              <a:rPr lang="es-ES" sz="2000" dirty="0">
                <a:solidFill>
                  <a:srgbClr val="000000"/>
                </a:solidFill>
              </a:rPr>
              <a:t>matriz = </a:t>
            </a:r>
            <a:r>
              <a:rPr lang="es-ES" sz="2000" b="0" i="0" dirty="0" err="1">
                <a:solidFill>
                  <a:srgbClr val="000000"/>
                </a:solidFill>
                <a:effectLst/>
              </a:rPr>
              <a:t>np.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random.randint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(-10, 20, </a:t>
            </a:r>
            <a:r>
              <a:rPr lang="es-ES" sz="2000" b="0" i="0" dirty="0" err="1">
                <a:solidFill>
                  <a:srgbClr val="444444"/>
                </a:solidFill>
                <a:effectLst/>
              </a:rPr>
              <a:t>size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 =(4, 5), </a:t>
            </a:r>
            <a:r>
              <a:rPr lang="es-ES" sz="2000" b="0" i="0" dirty="0" err="1">
                <a:solidFill>
                  <a:srgbClr val="444444"/>
                </a:solidFill>
                <a:effectLst/>
              </a:rPr>
              <a:t>dtype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=“</a:t>
            </a:r>
            <a:r>
              <a:rPr lang="es-ES" sz="2000" b="0" i="0" dirty="0" err="1">
                <a:solidFill>
                  <a:srgbClr val="444444"/>
                </a:solidFill>
                <a:effectLst/>
              </a:rPr>
              <a:t>int</a:t>
            </a:r>
            <a:r>
              <a:rPr lang="es-ES" sz="2000" b="0" i="0" dirty="0">
                <a:solidFill>
                  <a:srgbClr val="444444"/>
                </a:solidFill>
                <a:effectLst/>
              </a:rPr>
              <a:t>”)</a:t>
            </a:r>
          </a:p>
          <a:p>
            <a:pPr algn="l" rtl="0">
              <a:lnSpc>
                <a:spcPct val="150000"/>
              </a:lnSpc>
            </a:pPr>
            <a:r>
              <a:rPr lang="es-ES" sz="2000" dirty="0" err="1">
                <a:solidFill>
                  <a:srgbClr val="444444"/>
                </a:solidFill>
              </a:rPr>
              <a:t>print</a:t>
            </a:r>
            <a:r>
              <a:rPr lang="es-ES" sz="2000" dirty="0">
                <a:solidFill>
                  <a:srgbClr val="444444"/>
                </a:solidFill>
              </a:rPr>
              <a:t>(matriz)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8C6A2A-3851-43A1-80DA-5A41522B28E8}"/>
              </a:ext>
            </a:extLst>
          </p:cNvPr>
          <p:cNvSpPr txBox="1"/>
          <p:nvPr/>
        </p:nvSpPr>
        <p:spPr>
          <a:xfrm>
            <a:off x="827584" y="1913204"/>
            <a:ext cx="7740860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</a:rPr>
              <a:t>numpy.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random.randint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(li, ls, size(#renglones, #columnas),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dtype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) </a:t>
            </a:r>
            <a:r>
              <a:rPr lang="en-US" sz="2000" dirty="0">
                <a:solidFill>
                  <a:srgbClr val="000000"/>
                </a:solidFill>
              </a:rPr>
              <a:t>: La </a:t>
            </a:r>
            <a:r>
              <a:rPr lang="en-US" sz="2000" dirty="0" err="1">
                <a:solidFill>
                  <a:srgbClr val="000000"/>
                </a:solidFill>
              </a:rPr>
              <a:t>función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</a:rPr>
              <a:t>random.randint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  <a:r>
              <a:rPr lang="en-US" sz="2000" dirty="0">
                <a:solidFill>
                  <a:srgbClr val="000000"/>
                </a:solidFill>
              </a:rPr>
              <a:t> genera </a:t>
            </a:r>
            <a:r>
              <a:rPr lang="en-US" sz="2000" dirty="0" err="1">
                <a:solidFill>
                  <a:srgbClr val="000000"/>
                </a:solidFill>
              </a:rPr>
              <a:t>números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aleatorios</a:t>
            </a:r>
            <a:r>
              <a:rPr lang="en-US" sz="2000" dirty="0">
                <a:solidFill>
                  <a:srgbClr val="000000"/>
                </a:solidFill>
              </a:rPr>
              <a:t> entre el </a:t>
            </a:r>
            <a:r>
              <a:rPr lang="en-US" sz="2000" dirty="0" err="1">
                <a:solidFill>
                  <a:srgbClr val="000000"/>
                </a:solidFill>
              </a:rPr>
              <a:t>límite</a:t>
            </a:r>
            <a:r>
              <a:rPr lang="en-US" sz="2000" dirty="0">
                <a:solidFill>
                  <a:srgbClr val="000000"/>
                </a:solidFill>
              </a:rPr>
              <a:t> inferior y el </a:t>
            </a:r>
            <a:r>
              <a:rPr lang="en-US" sz="2000" dirty="0" err="1">
                <a:solidFill>
                  <a:srgbClr val="000000"/>
                </a:solidFill>
              </a:rPr>
              <a:t>límite</a:t>
            </a:r>
            <a:r>
              <a:rPr lang="en-US" sz="2000" dirty="0">
                <a:solidFill>
                  <a:srgbClr val="000000"/>
                </a:solidFill>
              </a:rPr>
              <a:t> superior, del </a:t>
            </a:r>
            <a:r>
              <a:rPr lang="en-US" sz="2000" dirty="0" err="1">
                <a:solidFill>
                  <a:srgbClr val="000000"/>
                </a:solidFill>
              </a:rPr>
              <a:t>tamaño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especificado</a:t>
            </a:r>
            <a:r>
              <a:rPr lang="en-US" sz="2000" dirty="0">
                <a:solidFill>
                  <a:srgbClr val="000000"/>
                </a:solidFill>
              </a:rPr>
              <a:t> de </a:t>
            </a:r>
            <a:r>
              <a:rPr lang="en-US" sz="2000" dirty="0" err="1">
                <a:solidFill>
                  <a:srgbClr val="000000"/>
                </a:solidFill>
              </a:rPr>
              <a:t>renglones</a:t>
            </a:r>
            <a:r>
              <a:rPr lang="en-US" sz="2000" dirty="0">
                <a:solidFill>
                  <a:srgbClr val="000000"/>
                </a:solidFill>
              </a:rPr>
              <a:t> y </a:t>
            </a:r>
            <a:r>
              <a:rPr lang="en-US" sz="2000" dirty="0" err="1">
                <a:solidFill>
                  <a:srgbClr val="000000"/>
                </a:solidFill>
              </a:rPr>
              <a:t>columnas</a:t>
            </a:r>
            <a:r>
              <a:rPr lang="en-US" sz="2000" dirty="0">
                <a:solidFill>
                  <a:srgbClr val="000000"/>
                </a:solidFill>
              </a:rPr>
              <a:t> y del </a:t>
            </a:r>
            <a:r>
              <a:rPr lang="en-US" sz="2000" dirty="0" err="1">
                <a:solidFill>
                  <a:srgbClr val="000000"/>
                </a:solidFill>
              </a:rPr>
              <a:t>tipo</a:t>
            </a:r>
            <a:r>
              <a:rPr lang="en-US" sz="2000" dirty="0">
                <a:solidFill>
                  <a:srgbClr val="000000"/>
                </a:solidFill>
              </a:rPr>
              <a:t> de </a:t>
            </a:r>
            <a:r>
              <a:rPr lang="en-US" sz="2000" dirty="0" err="1">
                <a:solidFill>
                  <a:srgbClr val="000000"/>
                </a:solidFill>
              </a:rPr>
              <a:t>dato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 err="1">
                <a:solidFill>
                  <a:srgbClr val="000000"/>
                </a:solidFill>
              </a:rPr>
              <a:t>especificado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20024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760040" y="269776"/>
            <a:ext cx="7772400" cy="1143000"/>
          </a:xfrm>
        </p:spPr>
        <p:txBody>
          <a:bodyPr/>
          <a:lstStyle/>
          <a:p>
            <a:pPr eaLnBrk="1" hangingPunct="1"/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om Casual"/>
              </a:rPr>
              <a:t>Definición de una matriz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0040" y="1581594"/>
            <a:ext cx="7844408" cy="2664296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2000" dirty="0">
                <a:latin typeface="Arial" pitchFamily="34" charset="0"/>
                <a:cs typeface="Arial" pitchFamily="34" charset="0"/>
              </a:rPr>
              <a:t>La definición de variables de tipo matriz es similar a los arreglos, la forma general de declarar una variable matriz es la siguiente: 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_tradnl" sz="2000" dirty="0"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MX" sz="2000" b="1" dirty="0" err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s-MX" sz="2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s-MX" sz="2000" b="1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s-MX" sz="2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</a:t>
            </a:r>
            <a:endParaRPr lang="es-MX" sz="2000" b="1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matriz = </a:t>
            </a:r>
            <a:r>
              <a:rPr lang="es-MX" sz="20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np.array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([[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 [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6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 [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7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8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 </a:t>
            </a:r>
            <a:r>
              <a:rPr lang="es-MX" sz="2000" b="1" dirty="0">
                <a:solidFill>
                  <a:srgbClr val="09885A"/>
                </a:solidFill>
                <a:effectLst/>
                <a:latin typeface="Courier New" panose="02070309020205020404" pitchFamily="49" charset="0"/>
              </a:rPr>
              <a:t>9</a:t>
            </a:r>
            <a:r>
              <a:rPr lang="es-MX" sz="20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]])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buNone/>
            </a:pPr>
            <a:endParaRPr lang="es-ES_tradnl" sz="2000" dirty="0"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_tradnl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1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4245890"/>
            <a:ext cx="1440160" cy="137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7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6" name="Text Box 4"/>
          <p:cNvSpPr txBox="1">
            <a:spLocks noChangeArrowheads="1"/>
          </p:cNvSpPr>
          <p:nvPr/>
        </p:nvSpPr>
        <p:spPr bwMode="auto">
          <a:xfrm>
            <a:off x="1255168" y="1599138"/>
            <a:ext cx="6768752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Escriba el código de la función </a:t>
            </a:r>
            <a:r>
              <a:rPr lang="es-ES_tradnl" sz="2400" b="1" dirty="0" err="1">
                <a:solidFill>
                  <a:srgbClr val="FF0000"/>
                </a:solidFill>
              </a:rPr>
              <a:t>imprime_matriz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, que recibe una matriz de enteros de enteros y despliega en pantalla el contenido de la matriz.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11560" y="379070"/>
            <a:ext cx="7772400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139" y="3595465"/>
            <a:ext cx="3700809" cy="2452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573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3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347864" y="260648"/>
            <a:ext cx="2243262" cy="647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0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441CD57-7C90-40BE-86D4-C3A2CAE7A374}"/>
              </a:ext>
            </a:extLst>
          </p:cNvPr>
          <p:cNvSpPr txBox="1">
            <a:spLocks noChangeArrowheads="1"/>
          </p:cNvSpPr>
          <p:nvPr/>
        </p:nvSpPr>
        <p:spPr>
          <a:xfrm>
            <a:off x="287524" y="908720"/>
            <a:ext cx="7884876" cy="50405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500"/>
              </a:lnSpc>
              <a:spcBef>
                <a:spcPts val="0"/>
              </a:spcBef>
              <a:buNone/>
            </a:pPr>
            <a:r>
              <a:rPr lang="es-MX" sz="2400" b="1" dirty="0" err="1">
                <a:solidFill>
                  <a:srgbClr val="AF00DB"/>
                </a:solidFill>
                <a:latin typeface="Courier New" panose="02070309020205020404" pitchFamily="49" charset="0"/>
              </a:rPr>
              <a:t>import</a:t>
            </a:r>
            <a:r>
              <a:rPr lang="es-MX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 </a:t>
            </a:r>
            <a:r>
              <a:rPr lang="es-MX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numpy</a:t>
            </a:r>
            <a:r>
              <a:rPr lang="es-MX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 </a:t>
            </a:r>
            <a:r>
              <a:rPr lang="es-MX" sz="2400" b="1" dirty="0">
                <a:solidFill>
                  <a:srgbClr val="AF00DB"/>
                </a:solidFill>
                <a:latin typeface="Courier New" panose="02070309020205020404" pitchFamily="49" charset="0"/>
              </a:rPr>
              <a:t>as</a:t>
            </a:r>
            <a:r>
              <a:rPr lang="es-MX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 </a:t>
            </a:r>
            <a:r>
              <a:rPr lang="es-MX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np</a:t>
            </a:r>
            <a:endParaRPr lang="es-MX" sz="2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3500"/>
              </a:lnSpc>
              <a:spcBef>
                <a:spcPts val="0"/>
              </a:spcBef>
              <a:buFontTx/>
              <a:buNone/>
            </a:pPr>
            <a:endParaRPr lang="es-ES_tradnl" sz="2400" b="1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ts val="3500"/>
              </a:lnSpc>
              <a:spcBef>
                <a:spcPts val="0"/>
              </a:spcBef>
              <a:buFontTx/>
              <a:buNone/>
            </a:pPr>
            <a:r>
              <a:rPr lang="es-ES_tradnl" sz="2400" b="1" dirty="0" err="1">
                <a:latin typeface="Arial" pitchFamily="34" charset="0"/>
                <a:cs typeface="Arial" pitchFamily="34" charset="0"/>
              </a:rPr>
              <a:t>def</a:t>
            </a:r>
            <a:r>
              <a:rPr lang="es-ES_tradnl" sz="2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imprime_matriz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(m):</a:t>
            </a:r>
          </a:p>
          <a:p>
            <a:pPr>
              <a:lnSpc>
                <a:spcPts val="3500"/>
              </a:lnSpc>
              <a:spcBef>
                <a:spcPts val="0"/>
              </a:spcBef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   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in 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range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0, </a:t>
            </a:r>
            <a:r>
              <a:rPr lang="es-ES_tradnl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m.shape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[0]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):</a:t>
            </a:r>
          </a:p>
          <a:p>
            <a:pPr>
              <a:lnSpc>
                <a:spcPts val="3500"/>
              </a:lnSpc>
              <a:spcBef>
                <a:spcPts val="0"/>
              </a:spcBef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in 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range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0, </a:t>
            </a:r>
            <a:r>
              <a:rPr lang="es-ES_tradnl" sz="24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m.shape</a:t>
            </a:r>
            <a:r>
              <a:rPr lang="es-ES_tradnl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[1]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):</a:t>
            </a:r>
          </a:p>
          <a:p>
            <a:pPr>
              <a:lnSpc>
                <a:spcPts val="3500"/>
              </a:lnSpc>
              <a:spcBef>
                <a:spcPts val="0"/>
              </a:spcBef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		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(M[ r, c ], 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end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 '   ' )</a:t>
            </a:r>
          </a:p>
          <a:p>
            <a:pPr>
              <a:lnSpc>
                <a:spcPts val="3500"/>
              </a:lnSpc>
              <a:spcBef>
                <a:spcPts val="0"/>
              </a:spcBef>
              <a:buFontTx/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es-ES_tradnl" sz="24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()</a:t>
            </a:r>
          </a:p>
          <a:p>
            <a:pPr>
              <a:lnSpc>
                <a:spcPts val="3500"/>
              </a:lnSpc>
              <a:spcBef>
                <a:spcPts val="0"/>
              </a:spcBef>
              <a:buFontTx/>
              <a:buNone/>
            </a:pPr>
            <a:endParaRPr lang="es-ES_tradnl" sz="2400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ts val="35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s-ES_tradnl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def</a:t>
            </a: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4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_tradnl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():</a:t>
            </a:r>
            <a:r>
              <a:rPr lang="es-ES_tradnl" sz="24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	</a:t>
            </a:r>
          </a:p>
          <a:p>
            <a:pPr algn="just">
              <a:lnSpc>
                <a:spcPts val="35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s-ES_tradnl" sz="24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    matriz = </a:t>
            </a:r>
            <a:r>
              <a:rPr lang="es-ES_tradnl" sz="2400" b="1" dirty="0" err="1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np.array</a:t>
            </a:r>
            <a:r>
              <a:rPr lang="es-ES_tradnl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( [1, 2, 3 ],[4, 5, 6],[7, 8, 9] )</a:t>
            </a:r>
          </a:p>
          <a:p>
            <a:pPr algn="just">
              <a:lnSpc>
                <a:spcPts val="35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s-ES_tradnl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s-ES_tradnl" sz="2400" b="1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imprimeMatriz</a:t>
            </a:r>
            <a:r>
              <a:rPr lang="es-ES_tradnl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400" b="1" dirty="0">
                <a:solidFill>
                  <a:srgbClr val="00B050"/>
                </a:solidFill>
                <a:latin typeface="Arial" pitchFamily="34" charset="0"/>
                <a:cs typeface="Arial" pitchFamily="34" charset="0"/>
              </a:rPr>
              <a:t>matriz</a:t>
            </a:r>
            <a:r>
              <a:rPr lang="es-ES_tradnl" sz="24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algn="just">
              <a:lnSpc>
                <a:spcPts val="3500"/>
              </a:lnSpc>
              <a:spcBef>
                <a:spcPct val="0"/>
              </a:spcBef>
              <a:buFont typeface="Arial" pitchFamily="34" charset="0"/>
              <a:buNone/>
            </a:pPr>
            <a:endParaRPr lang="es-ES_tradnl" sz="2400" b="1" dirty="0">
              <a:solidFill>
                <a:srgbClr val="000099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ts val="3500"/>
              </a:lnSpc>
              <a:spcBef>
                <a:spcPct val="0"/>
              </a:spcBef>
              <a:buFont typeface="Arial" pitchFamily="34" charset="0"/>
              <a:buNone/>
            </a:pPr>
            <a:r>
              <a:rPr lang="es-ES_tradnl" sz="24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main</a:t>
            </a:r>
            <a:r>
              <a:rPr lang="es-ES_tradnl" sz="24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()</a:t>
            </a:r>
            <a:endParaRPr lang="es-ES_tradnl" sz="24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2 Imagen">
            <a:extLst>
              <a:ext uri="{FF2B5EF4-FFF2-40B4-BE49-F238E27FC236}">
                <a16:creationId xmlns:a16="http://schemas.microsoft.com/office/drawing/2014/main" id="{CFD7B6F3-9E66-4D61-90D7-7B4E81815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2132856"/>
            <a:ext cx="1889762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23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3" name="Text Box 3"/>
          <p:cNvSpPr txBox="1">
            <a:spLocks noChangeArrowheads="1"/>
          </p:cNvSpPr>
          <p:nvPr/>
        </p:nvSpPr>
        <p:spPr bwMode="auto">
          <a:xfrm>
            <a:off x="323528" y="1401447"/>
            <a:ext cx="7772400" cy="1845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ts val="3500"/>
              </a:lnSpc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s-ES_tradnl" sz="2800" dirty="0"/>
              <a:t>   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Escriba el código de la función </a:t>
            </a:r>
            <a:r>
              <a:rPr lang="es-ES_tradnl" sz="2400" b="1" dirty="0" err="1">
                <a:solidFill>
                  <a:srgbClr val="FF3300"/>
                </a:solidFill>
              </a:rPr>
              <a:t>llena_matriz</a:t>
            </a:r>
            <a:r>
              <a:rPr lang="es-ES_tradnl" sz="2400" dirty="0"/>
              <a:t>,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que recibe una matriz de enteros y le asigna a cada localidad un número consecutivo correspondiente del </a:t>
            </a:r>
            <a:r>
              <a:rPr lang="es-ES_tradnl" sz="2400" b="1" dirty="0">
                <a:solidFill>
                  <a:srgbClr val="0070C0"/>
                </a:solidFill>
              </a:rPr>
              <a:t>1</a:t>
            </a:r>
            <a:r>
              <a:rPr lang="es-ES_tradnl" sz="2400" dirty="0">
                <a:solidFill>
                  <a:schemeClr val="accent2"/>
                </a:solidFill>
              </a:rPr>
              <a:t> </a:t>
            </a:r>
            <a:r>
              <a:rPr lang="es-ES_tradnl" sz="2400" dirty="0">
                <a:solidFill>
                  <a:schemeClr val="bg2">
                    <a:lumMod val="25000"/>
                  </a:schemeClr>
                </a:solidFill>
              </a:rPr>
              <a:t>al </a:t>
            </a:r>
            <a:r>
              <a:rPr lang="es-ES_tradnl" sz="2400" b="1" dirty="0">
                <a:solidFill>
                  <a:srgbClr val="0070C0"/>
                </a:solidFill>
              </a:rPr>
              <a:t>9</a:t>
            </a:r>
            <a:r>
              <a:rPr lang="es-ES_tradnl" sz="2400" dirty="0"/>
              <a:t> 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6445076" y="4008239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2400" b="1">
                <a:solidFill>
                  <a:srgbClr val="FF0000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6984826" y="4005064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2400" b="1">
                <a:solidFill>
                  <a:srgbClr val="FF0000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7473776" y="4005064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2400" b="1">
                <a:solidFill>
                  <a:srgbClr val="FF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6330776" y="4484489"/>
            <a:ext cx="533400" cy="533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endParaRPr lang="es-MX" sz="2400">
              <a:latin typeface="Times New Roman" pitchFamily="18" charset="0"/>
            </a:endParaRPr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6864176" y="4484489"/>
            <a:ext cx="533400" cy="533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endParaRPr lang="es-ES" sz="2400">
              <a:latin typeface="Times New Roman" pitchFamily="18" charset="0"/>
            </a:endParaRPr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7397576" y="4484489"/>
            <a:ext cx="533400" cy="533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2538" name="Rectangle 10"/>
          <p:cNvSpPr>
            <a:spLocks noChangeArrowheads="1"/>
          </p:cNvSpPr>
          <p:nvPr/>
        </p:nvSpPr>
        <p:spPr bwMode="auto">
          <a:xfrm>
            <a:off x="6330776" y="5017889"/>
            <a:ext cx="533400" cy="533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2539" name="Rectangle 11"/>
          <p:cNvSpPr>
            <a:spLocks noChangeArrowheads="1"/>
          </p:cNvSpPr>
          <p:nvPr/>
        </p:nvSpPr>
        <p:spPr bwMode="auto">
          <a:xfrm>
            <a:off x="7397576" y="5017889"/>
            <a:ext cx="533400" cy="533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2540" name="Rectangle 12"/>
          <p:cNvSpPr>
            <a:spLocks noChangeArrowheads="1"/>
          </p:cNvSpPr>
          <p:nvPr/>
        </p:nvSpPr>
        <p:spPr bwMode="auto">
          <a:xfrm>
            <a:off x="6330776" y="5551289"/>
            <a:ext cx="533400" cy="533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2541" name="Rectangle 13"/>
          <p:cNvSpPr>
            <a:spLocks noChangeArrowheads="1"/>
          </p:cNvSpPr>
          <p:nvPr/>
        </p:nvSpPr>
        <p:spPr bwMode="auto">
          <a:xfrm>
            <a:off x="6864176" y="5551289"/>
            <a:ext cx="533400" cy="533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5975176" y="4484489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2400" b="1">
                <a:solidFill>
                  <a:srgbClr val="FF0000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22543" name="Text Box 15"/>
          <p:cNvSpPr txBox="1">
            <a:spLocks noChangeArrowheads="1"/>
          </p:cNvSpPr>
          <p:nvPr/>
        </p:nvSpPr>
        <p:spPr bwMode="auto">
          <a:xfrm>
            <a:off x="5975176" y="5055989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2400" b="1">
                <a:solidFill>
                  <a:srgbClr val="FF0000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22544" name="Text Box 16"/>
          <p:cNvSpPr txBox="1">
            <a:spLocks noChangeArrowheads="1"/>
          </p:cNvSpPr>
          <p:nvPr/>
        </p:nvSpPr>
        <p:spPr bwMode="auto">
          <a:xfrm>
            <a:off x="5975176" y="5589389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s-ES_tradnl" sz="2400" b="1">
                <a:solidFill>
                  <a:srgbClr val="FF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35537" name="Rectangle 17"/>
          <p:cNvSpPr>
            <a:spLocks noChangeArrowheads="1"/>
          </p:cNvSpPr>
          <p:nvPr/>
        </p:nvSpPr>
        <p:spPr bwMode="auto">
          <a:xfrm>
            <a:off x="6330776" y="4484489"/>
            <a:ext cx="533400" cy="533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es-ES_tradnl" sz="2800" b="1" dirty="0">
                <a:solidFill>
                  <a:srgbClr val="000099"/>
                </a:solidFill>
                <a:latin typeface="Times New Roman" pitchFamily="18" charset="0"/>
              </a:rPr>
              <a:t>1</a:t>
            </a:r>
            <a:endParaRPr lang="es-ES_tradnl" sz="2400" dirty="0">
              <a:latin typeface="Times New Roman" pitchFamily="18" charset="0"/>
            </a:endParaRPr>
          </a:p>
        </p:txBody>
      </p:sp>
      <p:sp>
        <p:nvSpPr>
          <p:cNvPr id="235538" name="Rectangle 18"/>
          <p:cNvSpPr>
            <a:spLocks noChangeArrowheads="1"/>
          </p:cNvSpPr>
          <p:nvPr/>
        </p:nvSpPr>
        <p:spPr bwMode="auto">
          <a:xfrm>
            <a:off x="6864176" y="5017889"/>
            <a:ext cx="533400" cy="533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es-ES_tradnl" sz="2800" b="1" dirty="0">
                <a:solidFill>
                  <a:srgbClr val="000099"/>
                </a:solidFill>
                <a:latin typeface="Times New Roman" pitchFamily="18" charset="0"/>
              </a:rPr>
              <a:t>5</a:t>
            </a:r>
          </a:p>
        </p:txBody>
      </p:sp>
      <p:sp>
        <p:nvSpPr>
          <p:cNvPr id="235539" name="Rectangle 19"/>
          <p:cNvSpPr>
            <a:spLocks noChangeArrowheads="1"/>
          </p:cNvSpPr>
          <p:nvPr/>
        </p:nvSpPr>
        <p:spPr bwMode="auto">
          <a:xfrm>
            <a:off x="7397576" y="5551289"/>
            <a:ext cx="533400" cy="533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es-ES_tradnl" sz="2800" b="1">
                <a:solidFill>
                  <a:srgbClr val="000099"/>
                </a:solidFill>
                <a:latin typeface="Times New Roman" pitchFamily="18" charset="0"/>
              </a:rPr>
              <a:t>9</a:t>
            </a:r>
          </a:p>
        </p:txBody>
      </p:sp>
      <p:sp>
        <p:nvSpPr>
          <p:cNvPr id="235540" name="Rectangle 20"/>
          <p:cNvSpPr>
            <a:spLocks noChangeArrowheads="1"/>
          </p:cNvSpPr>
          <p:nvPr/>
        </p:nvSpPr>
        <p:spPr bwMode="auto">
          <a:xfrm>
            <a:off x="7397576" y="5017889"/>
            <a:ext cx="533400" cy="533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es-ES_tradnl" sz="2800" b="1">
                <a:solidFill>
                  <a:srgbClr val="000099"/>
                </a:solidFill>
                <a:latin typeface="Times New Roman" pitchFamily="18" charset="0"/>
              </a:rPr>
              <a:t>6</a:t>
            </a:r>
            <a:endParaRPr lang="es-ES_tradnl" sz="2400">
              <a:latin typeface="Times New Roman" pitchFamily="18" charset="0"/>
            </a:endParaRPr>
          </a:p>
        </p:txBody>
      </p:sp>
      <p:sp>
        <p:nvSpPr>
          <p:cNvPr id="235541" name="Rectangle 21"/>
          <p:cNvSpPr>
            <a:spLocks noChangeArrowheads="1"/>
          </p:cNvSpPr>
          <p:nvPr/>
        </p:nvSpPr>
        <p:spPr bwMode="auto">
          <a:xfrm>
            <a:off x="6864176" y="5551289"/>
            <a:ext cx="533400" cy="533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es-ES_tradnl" sz="2800" b="1">
                <a:solidFill>
                  <a:srgbClr val="000099"/>
                </a:solidFill>
                <a:latin typeface="Times New Roman" pitchFamily="18" charset="0"/>
              </a:rPr>
              <a:t>8</a:t>
            </a:r>
            <a:endParaRPr lang="es-ES_tradnl" sz="2400">
              <a:latin typeface="Times New Roman" pitchFamily="18" charset="0"/>
            </a:endParaRPr>
          </a:p>
        </p:txBody>
      </p:sp>
      <p:sp>
        <p:nvSpPr>
          <p:cNvPr id="235542" name="Rectangle 22"/>
          <p:cNvSpPr>
            <a:spLocks noChangeArrowheads="1"/>
          </p:cNvSpPr>
          <p:nvPr/>
        </p:nvSpPr>
        <p:spPr bwMode="auto">
          <a:xfrm>
            <a:off x="6356176" y="5017889"/>
            <a:ext cx="533400" cy="533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es-ES_tradnl" sz="2800" b="1">
                <a:solidFill>
                  <a:srgbClr val="000099"/>
                </a:solidFill>
                <a:latin typeface="Times New Roman" pitchFamily="18" charset="0"/>
              </a:rPr>
              <a:t>4</a:t>
            </a:r>
          </a:p>
        </p:txBody>
      </p:sp>
      <p:sp>
        <p:nvSpPr>
          <p:cNvPr id="235543" name="Rectangle 23"/>
          <p:cNvSpPr>
            <a:spLocks noChangeArrowheads="1"/>
          </p:cNvSpPr>
          <p:nvPr/>
        </p:nvSpPr>
        <p:spPr bwMode="auto">
          <a:xfrm>
            <a:off x="6356176" y="5551289"/>
            <a:ext cx="533400" cy="533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es-ES_tradnl" sz="2800" b="1">
                <a:solidFill>
                  <a:srgbClr val="000099"/>
                </a:solidFill>
                <a:latin typeface="Times New Roman" pitchFamily="18" charset="0"/>
              </a:rPr>
              <a:t>7</a:t>
            </a:r>
          </a:p>
        </p:txBody>
      </p:sp>
      <p:sp>
        <p:nvSpPr>
          <p:cNvPr id="235544" name="Rectangle 24"/>
          <p:cNvSpPr>
            <a:spLocks noChangeArrowheads="1"/>
          </p:cNvSpPr>
          <p:nvPr/>
        </p:nvSpPr>
        <p:spPr bwMode="auto">
          <a:xfrm>
            <a:off x="6846083" y="4484489"/>
            <a:ext cx="533400" cy="533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es-ES_tradnl" sz="2800" b="1">
                <a:solidFill>
                  <a:srgbClr val="000099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235545" name="Rectangle 25"/>
          <p:cNvSpPr>
            <a:spLocks noChangeArrowheads="1"/>
          </p:cNvSpPr>
          <p:nvPr/>
        </p:nvSpPr>
        <p:spPr bwMode="auto">
          <a:xfrm>
            <a:off x="7392803" y="4484489"/>
            <a:ext cx="533400" cy="5334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/>
            <a:r>
              <a:rPr lang="es-ES_tradnl" sz="2800" b="1" dirty="0">
                <a:solidFill>
                  <a:srgbClr val="000099"/>
                </a:solidFill>
                <a:latin typeface="Times New Roman" pitchFamily="18" charset="0"/>
              </a:rPr>
              <a:t>3</a:t>
            </a: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711" y="3668560"/>
            <a:ext cx="3240360" cy="2698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2">
            <a:extLst>
              <a:ext uri="{FF2B5EF4-FFF2-40B4-BE49-F238E27FC236}">
                <a16:creationId xmlns:a16="http://schemas.microsoft.com/office/drawing/2014/main" id="{FAC83C92-A3B5-443D-A810-9EFF49C3C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60648"/>
            <a:ext cx="7772400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</p:spTree>
    <p:extLst>
      <p:ext uri="{BB962C8B-B14F-4D97-AF65-F5344CB8AC3E}">
        <p14:creationId xmlns:p14="http://schemas.microsoft.com/office/powerpoint/2010/main" val="72034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5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5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5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5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5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5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5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5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5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5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3" grpId="0" autoUpdateAnimBg="0"/>
      <p:bldP spid="235537" grpId="0" animBg="1" autoUpdateAnimBg="0"/>
      <p:bldP spid="235538" grpId="0" animBg="1" autoUpdateAnimBg="0"/>
      <p:bldP spid="235539" grpId="0" animBg="1" autoUpdateAnimBg="0"/>
      <p:bldP spid="235540" grpId="0" animBg="1" autoUpdateAnimBg="0"/>
      <p:bldP spid="235541" grpId="0" animBg="1" autoUpdateAnimBg="0"/>
      <p:bldP spid="235542" grpId="0" animBg="1" autoUpdateAnimBg="0"/>
      <p:bldP spid="235543" grpId="0" animBg="1" autoUpdateAnimBg="0"/>
      <p:bldP spid="235544" grpId="0" animBg="1" autoUpdateAnimBg="0"/>
      <p:bldP spid="235545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275856" y="332656"/>
            <a:ext cx="2009775" cy="57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0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Solución</a:t>
            </a:r>
          </a:p>
        </p:txBody>
      </p:sp>
      <p:pic>
        <p:nvPicPr>
          <p:cNvPr id="9" name="2 Imagen">
            <a:extLst>
              <a:ext uri="{FF2B5EF4-FFF2-40B4-BE49-F238E27FC236}">
                <a16:creationId xmlns:a16="http://schemas.microsoft.com/office/drawing/2014/main" id="{C06038E6-FD7D-4CAA-A192-31DED8149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4" y="4509179"/>
            <a:ext cx="2009775" cy="1914525"/>
          </a:xfrm>
          <a:prstGeom prst="rect">
            <a:avLst/>
          </a:prstGeom>
        </p:spPr>
      </p:pic>
      <p:pic>
        <p:nvPicPr>
          <p:cNvPr id="10" name="1 Imagen">
            <a:extLst>
              <a:ext uri="{FF2B5EF4-FFF2-40B4-BE49-F238E27FC236}">
                <a16:creationId xmlns:a16="http://schemas.microsoft.com/office/drawing/2014/main" id="{DA728E73-99F8-4976-B396-99F5BD7382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437" y="256284"/>
            <a:ext cx="1728192" cy="16038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D03391B-C6AF-EF7E-7D67-A331AF6810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3030" y="1988840"/>
            <a:ext cx="6717939" cy="19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083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4" name="Text Box 4"/>
          <p:cNvSpPr txBox="1">
            <a:spLocks noChangeArrowheads="1"/>
          </p:cNvSpPr>
          <p:nvPr/>
        </p:nvSpPr>
        <p:spPr bwMode="auto">
          <a:xfrm>
            <a:off x="877403" y="1556792"/>
            <a:ext cx="7340352" cy="1131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_tradnl" sz="2400" b="1" dirty="0">
                <a:solidFill>
                  <a:schemeClr val="accent6">
                    <a:lumMod val="75000"/>
                  </a:schemeClr>
                </a:solidFill>
              </a:rPr>
              <a:t>Integrar todas las funciones </a:t>
            </a:r>
            <a:r>
              <a:rPr lang="es-ES_tradnl" sz="2400" dirty="0"/>
              <a:t>en un solo programa para verificar su funcionamiento</a:t>
            </a:r>
            <a:endParaRPr lang="es-ES" sz="2400" b="1" dirty="0">
              <a:solidFill>
                <a:srgbClr val="0000FF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877403" y="156170"/>
            <a:ext cx="7340352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3" name="Imagen 2" descr="Imagen que contiene pequeño, juguete, tabla&#10;&#10;Descripción generada automáticamente">
            <a:extLst>
              <a:ext uri="{FF2B5EF4-FFF2-40B4-BE49-F238E27FC236}">
                <a16:creationId xmlns:a16="http://schemas.microsoft.com/office/drawing/2014/main" id="{316F16D2-23BD-4523-AB74-D7DEBB52F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3068960"/>
            <a:ext cx="3227437" cy="292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40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5"/>
          <p:cNvSpPr>
            <a:spLocks noChangeArrowheads="1"/>
          </p:cNvSpPr>
          <p:nvPr/>
        </p:nvSpPr>
        <p:spPr bwMode="auto">
          <a:xfrm>
            <a:off x="0" y="5734050"/>
            <a:ext cx="3203575" cy="1123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453976" y="44624"/>
            <a:ext cx="5765205" cy="920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9" name="1 Imagen">
            <a:extLst>
              <a:ext uri="{FF2B5EF4-FFF2-40B4-BE49-F238E27FC236}">
                <a16:creationId xmlns:a16="http://schemas.microsoft.com/office/drawing/2014/main" id="{1704A893-7FBF-4B15-9DA5-934B39E28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4859317"/>
            <a:ext cx="1728192" cy="160386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55FB17D-BF88-C516-94F3-4A9D39794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1582062"/>
            <a:ext cx="4068742" cy="406874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694B1A2-D5A4-4257-8D47-78A012431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656" y="1605155"/>
            <a:ext cx="1152525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59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3625</TotalTime>
  <Words>917</Words>
  <Application>Microsoft Office PowerPoint</Application>
  <PresentationFormat>Presentación en pantalla (4:3)</PresentationFormat>
  <Paragraphs>161</Paragraphs>
  <Slides>19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8" baseType="lpstr">
      <vt:lpstr>Arial</vt:lpstr>
      <vt:lpstr>Calibri</vt:lpstr>
      <vt:lpstr>Courier New</vt:lpstr>
      <vt:lpstr>Dom Casual</vt:lpstr>
      <vt:lpstr>inherit</vt:lpstr>
      <vt:lpstr>Roboto</vt:lpstr>
      <vt:lpstr>Times New Roman</vt:lpstr>
      <vt:lpstr>Wingdings</vt:lpstr>
      <vt:lpstr>Tema de Office</vt:lpstr>
      <vt:lpstr>TI 3008 C Analítica de datos y herramientas de inteligencia artificial</vt:lpstr>
      <vt:lpstr>Matrices</vt:lpstr>
      <vt:lpstr>Matrices</vt:lpstr>
      <vt:lpstr>Matrices</vt:lpstr>
      <vt:lpstr>Crear una matriz</vt:lpstr>
      <vt:lpstr>Herramientas para crear matrices o arreglos multidimensionales</vt:lpstr>
      <vt:lpstr>Manipulación de matrices</vt:lpstr>
      <vt:lpstr>Operaciones Aritméticas</vt:lpstr>
      <vt:lpstr>Resumen de operaciones aritméticas</vt:lpstr>
      <vt:lpstr>Agregar elementos y concatenar matrices</vt:lpstr>
      <vt:lpstr>Números aleatorios enteros</vt:lpstr>
      <vt:lpstr>Definición de una matriz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profesor</dc:creator>
  <cp:lastModifiedBy>Lizethe Pérez Fuertes</cp:lastModifiedBy>
  <cp:revision>50</cp:revision>
  <dcterms:created xsi:type="dcterms:W3CDTF">2013-07-08T21:43:56Z</dcterms:created>
  <dcterms:modified xsi:type="dcterms:W3CDTF">2026-08-11T16:39:52Z</dcterms:modified>
</cp:coreProperties>
</file>